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5"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DFFB9E-364C-4D72-A4ED-FADFC3BC58AE}" type="datetimeFigureOut">
              <a:rPr lang="en-IN" smtClean="0"/>
              <a:t>28-03-2020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CAF4D-6EEA-410D-A680-5C22A25A95C5}" type="slidenum">
              <a:rPr lang="en-IN" smtClean="0"/>
              <a:t>‹#›</a:t>
            </a:fld>
            <a:endParaRPr lang="en-IN"/>
          </a:p>
        </p:txBody>
      </p:sp>
    </p:spTree>
    <p:extLst>
      <p:ext uri="{BB962C8B-B14F-4D97-AF65-F5344CB8AC3E}">
        <p14:creationId xmlns:p14="http://schemas.microsoft.com/office/powerpoint/2010/main" val="286950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3/28/2020</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3/28/2020</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3/28/2020</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linkedin.com/in/ravishankar-ramakrishnan-155848126/" TargetMode="External"/><Relationship Id="rId2" Type="http://schemas.openxmlformats.org/officeDocument/2006/relationships/hyperlink" Target="mailto:mailtoravi7895@gmail.com" TargetMode="External"/><Relationship Id="rId1" Type="http://schemas.openxmlformats.org/officeDocument/2006/relationships/slideLayout" Target="../slideLayouts/slideLayout1.xml"/><Relationship Id="rId5" Type="http://schemas.openxmlformats.org/officeDocument/2006/relationships/hyperlink" Target="https://myportfolioravi.wordpress.com/2018/05/07/my-resume/" TargetMode="External"/><Relationship Id="rId4" Type="http://schemas.openxmlformats.org/officeDocument/2006/relationships/hyperlink" Target="https://github.com/ravishankarramakrishn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IN" spc="-1" dirty="0">
                <a:latin typeface="Arial"/>
              </a:rPr>
              <a:t>Direct Marketing campaigns of a Portuguese banking institution</a:t>
            </a:r>
          </a:p>
        </p:txBody>
      </p:sp>
      <p:sp>
        <p:nvSpPr>
          <p:cNvPr id="3" name="Subtitle 2"/>
          <p:cNvSpPr>
            <a:spLocks noGrp="1"/>
          </p:cNvSpPr>
          <p:nvPr>
            <p:ph type="subTitle" idx="1"/>
          </p:nvPr>
        </p:nvSpPr>
        <p:spPr/>
        <p:txBody>
          <a:bodyPr/>
          <a:lstStyle/>
          <a:p>
            <a:r>
              <a:rPr lang="en-US" dirty="0" smtClean="0"/>
              <a:t>By:</a:t>
            </a:r>
          </a:p>
          <a:p>
            <a:r>
              <a:rPr lang="en-US" dirty="0" err="1" smtClean="0"/>
              <a:t>Ravishankar</a:t>
            </a:r>
            <a:r>
              <a:rPr lang="en-US" dirty="0" smtClean="0"/>
              <a:t> </a:t>
            </a:r>
            <a:r>
              <a:rPr lang="en-US" dirty="0" err="1" smtClean="0"/>
              <a:t>ramakrishnan</a:t>
            </a:r>
            <a:endParaRPr lang="en-IN" dirty="0"/>
          </a:p>
        </p:txBody>
      </p:sp>
      <p:sp>
        <p:nvSpPr>
          <p:cNvPr id="4" name="Date Placeholder 3"/>
          <p:cNvSpPr>
            <a:spLocks noGrp="1"/>
          </p:cNvSpPr>
          <p:nvPr>
            <p:ph type="dt" sz="half" idx="10"/>
          </p:nvPr>
        </p:nvSpPr>
        <p:spPr>
          <a:xfrm>
            <a:off x="10616184" y="5998464"/>
            <a:ext cx="990599" cy="304799"/>
          </a:xfrm>
        </p:spPr>
        <p:txBody>
          <a:bodyPr/>
          <a:lstStyle/>
          <a:p>
            <a:fld id="{259E45A2-88BE-4DDE-8F0D-D548975292F6}" type="datetime1">
              <a:rPr lang="en-US" smtClean="0"/>
              <a:t>3/28/2020</a:t>
            </a:fld>
            <a:endParaRPr lang="en-US" dirty="0"/>
          </a:p>
        </p:txBody>
      </p:sp>
    </p:spTree>
    <p:extLst>
      <p:ext uri="{BB962C8B-B14F-4D97-AF65-F5344CB8AC3E}">
        <p14:creationId xmlns:p14="http://schemas.microsoft.com/office/powerpoint/2010/main" val="18016462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Scope</a:t>
            </a:r>
            <a:endParaRPr lang="en-IN" dirty="0"/>
          </a:p>
        </p:txBody>
      </p:sp>
      <p:sp>
        <p:nvSpPr>
          <p:cNvPr id="3" name="Content Placeholder 2"/>
          <p:cNvSpPr>
            <a:spLocks noGrp="1"/>
          </p:cNvSpPr>
          <p:nvPr>
            <p:ph idx="1"/>
          </p:nvPr>
        </p:nvSpPr>
        <p:spPr/>
        <p:txBody>
          <a:bodyPr/>
          <a:lstStyle/>
          <a:p>
            <a:r>
              <a:rPr lang="en-US" dirty="0"/>
              <a:t>The data is related with direct marketing campaigns of a Portuguese banking institution. The marketing campaigns were based on phone calls. Often, more than one contact to the same client was required, in order to access if the product (bank term deposit) would be ('yes') or not ('no') subscribed</a:t>
            </a:r>
            <a:r>
              <a:rPr lang="en-US" dirty="0" smtClean="0"/>
              <a:t>.</a:t>
            </a:r>
          </a:p>
          <a:p>
            <a:r>
              <a:rPr lang="en-US" dirty="0"/>
              <a:t>The classification goal is to predict if the client will subscribe (yes/no) a term deposit (variable y).</a:t>
            </a:r>
          </a:p>
          <a:p>
            <a:r>
              <a:rPr lang="en-US" dirty="0" smtClean="0"/>
              <a:t>Let us work on the Solution</a:t>
            </a:r>
            <a:r>
              <a:rPr lang="en-US" dirty="0"/>
              <a:t/>
            </a:r>
            <a:br>
              <a:rPr lang="en-US" dirty="0"/>
            </a:br>
            <a:endParaRPr lang="en-IN" dirty="0"/>
          </a:p>
        </p:txBody>
      </p:sp>
    </p:spTree>
    <p:extLst>
      <p:ext uri="{BB962C8B-B14F-4D97-AF65-F5344CB8AC3E}">
        <p14:creationId xmlns:p14="http://schemas.microsoft.com/office/powerpoint/2010/main" val="24855999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Attribute Information</a:t>
            </a:r>
            <a:r>
              <a:rPr lang="en-IN" b="1" dirty="0" smtClean="0"/>
              <a:t>:</a:t>
            </a:r>
            <a:endParaRPr lang="en-IN" dirty="0"/>
          </a:p>
        </p:txBody>
      </p:sp>
      <p:sp>
        <p:nvSpPr>
          <p:cNvPr id="3" name="Content Placeholder 2"/>
          <p:cNvSpPr>
            <a:spLocks noGrp="1"/>
          </p:cNvSpPr>
          <p:nvPr>
            <p:ph idx="1"/>
          </p:nvPr>
        </p:nvSpPr>
        <p:spPr>
          <a:xfrm>
            <a:off x="1154954" y="2603499"/>
            <a:ext cx="8825659" cy="3810363"/>
          </a:xfrm>
        </p:spPr>
        <p:txBody>
          <a:bodyPr>
            <a:normAutofit fontScale="77500" lnSpcReduction="20000"/>
          </a:bodyPr>
          <a:lstStyle/>
          <a:p>
            <a:pPr marL="0" indent="0">
              <a:buNone/>
            </a:pPr>
            <a:r>
              <a:rPr lang="en-US" dirty="0"/>
              <a:t>1 - age (numeric)</a:t>
            </a:r>
            <a:br>
              <a:rPr lang="en-US" dirty="0"/>
            </a:br>
            <a:r>
              <a:rPr lang="en-US" dirty="0"/>
              <a:t>2 - job : type of job (categorical: 'admin.','blue-collar','entrepreneur','housemaid','management','retired','self-employed','services','student','technician','unemployed','unknown')</a:t>
            </a:r>
            <a:br>
              <a:rPr lang="en-US" dirty="0"/>
            </a:br>
            <a:r>
              <a:rPr lang="en-US" dirty="0"/>
              <a:t>3 - marital : marital status (categorical: '</a:t>
            </a:r>
            <a:r>
              <a:rPr lang="en-US" dirty="0" err="1"/>
              <a:t>divorced','married','single','unknown</a:t>
            </a:r>
            <a:r>
              <a:rPr lang="en-US" dirty="0"/>
              <a:t>'; note: 'divorced' means divorced or widowed)</a:t>
            </a:r>
            <a:br>
              <a:rPr lang="en-US" dirty="0"/>
            </a:br>
            <a:r>
              <a:rPr lang="en-US" dirty="0"/>
              <a:t>4 - education (categorical: 'basic.4y','basic.6y','basic.9y','high.school','illiterate','professional.course','university.degree','unknown')</a:t>
            </a:r>
            <a:br>
              <a:rPr lang="en-US" dirty="0"/>
            </a:br>
            <a:r>
              <a:rPr lang="en-US" dirty="0"/>
              <a:t>5 - default: has credit in default? (categorical: '</a:t>
            </a:r>
            <a:r>
              <a:rPr lang="en-US" dirty="0" err="1"/>
              <a:t>no','yes','unknown</a:t>
            </a:r>
            <a:r>
              <a:rPr lang="en-US" dirty="0"/>
              <a:t>')</a:t>
            </a:r>
            <a:br>
              <a:rPr lang="en-US" dirty="0"/>
            </a:br>
            <a:r>
              <a:rPr lang="en-US" dirty="0"/>
              <a:t>6 - housing: has housing loan? (categorical: '</a:t>
            </a:r>
            <a:r>
              <a:rPr lang="en-US" dirty="0" err="1"/>
              <a:t>no','yes','unknown</a:t>
            </a:r>
            <a:r>
              <a:rPr lang="en-US" dirty="0"/>
              <a:t>')</a:t>
            </a:r>
            <a:br>
              <a:rPr lang="en-US" dirty="0"/>
            </a:br>
            <a:r>
              <a:rPr lang="en-US" dirty="0"/>
              <a:t>7 - loan: has personal loan? (categorical: '</a:t>
            </a:r>
            <a:r>
              <a:rPr lang="en-US" dirty="0" err="1"/>
              <a:t>no','yes','unknown</a:t>
            </a:r>
            <a:r>
              <a:rPr lang="en-US" dirty="0"/>
              <a:t>')</a:t>
            </a:r>
            <a:br>
              <a:rPr lang="en-US" dirty="0"/>
            </a:br>
            <a:r>
              <a:rPr lang="en-US" dirty="0"/>
              <a:t># related with the last contact of the current campaign:</a:t>
            </a:r>
            <a:br>
              <a:rPr lang="en-US" dirty="0"/>
            </a:br>
            <a:r>
              <a:rPr lang="en-US" dirty="0"/>
              <a:t>8 - contact: contact communication type (categorical: '</a:t>
            </a:r>
            <a:r>
              <a:rPr lang="en-US" dirty="0" err="1"/>
              <a:t>cellular','telephone</a:t>
            </a:r>
            <a:r>
              <a:rPr lang="en-US" dirty="0"/>
              <a:t>')</a:t>
            </a:r>
            <a:br>
              <a:rPr lang="en-US" dirty="0"/>
            </a:br>
            <a:r>
              <a:rPr lang="en-US" dirty="0"/>
              <a:t>9 - month: last contact month of year (categorical: '</a:t>
            </a:r>
            <a:r>
              <a:rPr lang="en-US" dirty="0" err="1"/>
              <a:t>jan</a:t>
            </a:r>
            <a:r>
              <a:rPr lang="en-US" dirty="0"/>
              <a:t>', '</a:t>
            </a:r>
            <a:r>
              <a:rPr lang="en-US" dirty="0" err="1"/>
              <a:t>feb</a:t>
            </a:r>
            <a:r>
              <a:rPr lang="en-US" dirty="0"/>
              <a:t>', 'mar', ..., '</a:t>
            </a:r>
            <a:r>
              <a:rPr lang="en-US" dirty="0" err="1"/>
              <a:t>nov</a:t>
            </a:r>
            <a:r>
              <a:rPr lang="en-US" dirty="0"/>
              <a:t>', '</a:t>
            </a:r>
            <a:r>
              <a:rPr lang="en-US" dirty="0" err="1"/>
              <a:t>dec</a:t>
            </a:r>
            <a:r>
              <a:rPr lang="en-US" dirty="0"/>
              <a:t>')</a:t>
            </a:r>
            <a:br>
              <a:rPr lang="en-US" dirty="0"/>
            </a:br>
            <a:r>
              <a:rPr lang="en-US" dirty="0"/>
              <a:t>10 - </a:t>
            </a:r>
            <a:r>
              <a:rPr lang="en-US" dirty="0" err="1"/>
              <a:t>day_of_week</a:t>
            </a:r>
            <a:r>
              <a:rPr lang="en-US" dirty="0"/>
              <a:t>: last contact day of the week (categorical: 'mon','</a:t>
            </a:r>
            <a:r>
              <a:rPr lang="en-US" dirty="0" err="1"/>
              <a:t>tue</a:t>
            </a:r>
            <a:r>
              <a:rPr lang="en-US" dirty="0"/>
              <a:t>','wed','</a:t>
            </a:r>
            <a:r>
              <a:rPr lang="en-US" dirty="0" err="1"/>
              <a:t>thu</a:t>
            </a:r>
            <a:r>
              <a:rPr lang="en-US" dirty="0"/>
              <a:t>','</a:t>
            </a:r>
            <a:r>
              <a:rPr lang="en-US" dirty="0" err="1"/>
              <a:t>fri</a:t>
            </a:r>
            <a:r>
              <a:rPr lang="en-US" dirty="0"/>
              <a:t>')</a:t>
            </a:r>
            <a:br>
              <a:rPr lang="en-US" dirty="0"/>
            </a:br>
            <a:r>
              <a:rPr lang="en-US" dirty="0"/>
              <a:t>11 - duration: last contact duration, in seconds (numeric). Important note: this attribute highly affects the output target (e.g., if duration=0 then y='no'). Yet, the duration is not known before a call is performed. Also, after the end of the call y is obviously known. Thus, this input should only be included for benchmark purposes and should be discarded if the intention is to have a realistic predictive model.</a:t>
            </a:r>
            <a:br>
              <a:rPr lang="en-US" dirty="0"/>
            </a:br>
            <a:endParaRPr lang="en-IN" dirty="0"/>
          </a:p>
        </p:txBody>
      </p:sp>
    </p:spTree>
    <p:extLst>
      <p:ext uri="{BB962C8B-B14F-4D97-AF65-F5344CB8AC3E}">
        <p14:creationId xmlns:p14="http://schemas.microsoft.com/office/powerpoint/2010/main" val="2823073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Attribute Information:</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 other attributes:</a:t>
            </a:r>
            <a:br>
              <a:rPr lang="en-US" dirty="0"/>
            </a:br>
            <a:r>
              <a:rPr lang="en-US" dirty="0"/>
              <a:t>12 - campaign: number of contacts performed during this campaign and for this client (numeric, includes last contact)</a:t>
            </a:r>
            <a:br>
              <a:rPr lang="en-US" dirty="0"/>
            </a:br>
            <a:r>
              <a:rPr lang="en-US" dirty="0"/>
              <a:t>13 - </a:t>
            </a:r>
            <a:r>
              <a:rPr lang="en-US" dirty="0" err="1"/>
              <a:t>pdays</a:t>
            </a:r>
            <a:r>
              <a:rPr lang="en-US" dirty="0"/>
              <a:t>: number of days that passed by after the client was last contacted from a previous campaign (numeric; 999 means client was not previously contacted)</a:t>
            </a:r>
            <a:br>
              <a:rPr lang="en-US" dirty="0"/>
            </a:br>
            <a:r>
              <a:rPr lang="en-US" dirty="0"/>
              <a:t>14 - previous: number of contacts performed before this campaign and for this client (numeric)</a:t>
            </a:r>
            <a:br>
              <a:rPr lang="en-US" dirty="0"/>
            </a:br>
            <a:r>
              <a:rPr lang="en-US" dirty="0"/>
              <a:t>15 - </a:t>
            </a:r>
            <a:r>
              <a:rPr lang="en-US" dirty="0" err="1"/>
              <a:t>poutcome</a:t>
            </a:r>
            <a:r>
              <a:rPr lang="en-US" dirty="0"/>
              <a:t>: outcome of the previous marketing campaign (categorical: '</a:t>
            </a:r>
            <a:r>
              <a:rPr lang="en-US" dirty="0" err="1"/>
              <a:t>failure','nonexistent','success</a:t>
            </a:r>
            <a:r>
              <a:rPr lang="en-US" dirty="0"/>
              <a:t>')</a:t>
            </a:r>
            <a:br>
              <a:rPr lang="en-US" dirty="0"/>
            </a:br>
            <a:r>
              <a:rPr lang="en-US" dirty="0"/>
              <a:t># social and economic context attributes</a:t>
            </a:r>
            <a:br>
              <a:rPr lang="en-US" dirty="0"/>
            </a:br>
            <a:r>
              <a:rPr lang="en-US" dirty="0"/>
              <a:t>16 - </a:t>
            </a:r>
            <a:r>
              <a:rPr lang="en-US" dirty="0" err="1"/>
              <a:t>emp.var.rate</a:t>
            </a:r>
            <a:r>
              <a:rPr lang="en-US" dirty="0"/>
              <a:t>: employment variation rate - quarterly indicator (numeric)</a:t>
            </a:r>
            <a:br>
              <a:rPr lang="en-US" dirty="0"/>
            </a:br>
            <a:r>
              <a:rPr lang="en-US" dirty="0"/>
              <a:t>17 - </a:t>
            </a:r>
            <a:r>
              <a:rPr lang="en-US" dirty="0" err="1"/>
              <a:t>cons.price.idx</a:t>
            </a:r>
            <a:r>
              <a:rPr lang="en-US" dirty="0"/>
              <a:t>: consumer price index - monthly indicator (numeric)</a:t>
            </a:r>
            <a:br>
              <a:rPr lang="en-US" dirty="0"/>
            </a:br>
            <a:r>
              <a:rPr lang="en-US" dirty="0"/>
              <a:t>18 - </a:t>
            </a:r>
            <a:r>
              <a:rPr lang="en-US" dirty="0" err="1"/>
              <a:t>cons.conf.idx</a:t>
            </a:r>
            <a:r>
              <a:rPr lang="en-US" dirty="0"/>
              <a:t>: consumer confidence index - monthly indicator (numeric)</a:t>
            </a:r>
            <a:br>
              <a:rPr lang="en-US" dirty="0"/>
            </a:br>
            <a:r>
              <a:rPr lang="en-US" dirty="0"/>
              <a:t>19 - euribor3m: </a:t>
            </a:r>
            <a:r>
              <a:rPr lang="en-US" dirty="0" err="1"/>
              <a:t>euribor</a:t>
            </a:r>
            <a:r>
              <a:rPr lang="en-US" dirty="0"/>
              <a:t> 3 month rate - daily indicator (numeric)</a:t>
            </a:r>
            <a:br>
              <a:rPr lang="en-US" dirty="0"/>
            </a:br>
            <a:r>
              <a:rPr lang="en-US" dirty="0"/>
              <a:t>20 - </a:t>
            </a:r>
            <a:r>
              <a:rPr lang="en-US" dirty="0" err="1"/>
              <a:t>nr.employed</a:t>
            </a:r>
            <a:r>
              <a:rPr lang="en-US" dirty="0"/>
              <a:t>: number of employees - quarterly indicator (numeric)</a:t>
            </a:r>
            <a:br>
              <a:rPr lang="en-US" dirty="0"/>
            </a:br>
            <a:r>
              <a:rPr lang="en-US" dirty="0"/>
              <a:t/>
            </a:r>
            <a:br>
              <a:rPr lang="en-US" dirty="0"/>
            </a:br>
            <a:r>
              <a:rPr lang="en-US" dirty="0"/>
              <a:t>Output variable (desired target):</a:t>
            </a:r>
            <a:br>
              <a:rPr lang="en-US" dirty="0"/>
            </a:br>
            <a:r>
              <a:rPr lang="en-US" dirty="0"/>
              <a:t>21 - y - has the client subscribed a term deposit? (binary: '</a:t>
            </a:r>
            <a:r>
              <a:rPr lang="en-US" dirty="0" err="1"/>
              <a:t>yes','no</a:t>
            </a:r>
            <a:r>
              <a:rPr lang="en-US" dirty="0" smtClean="0"/>
              <a:t>')</a:t>
            </a:r>
            <a:endParaRPr lang="en-US" dirty="0"/>
          </a:p>
        </p:txBody>
      </p:sp>
    </p:spTree>
    <p:extLst>
      <p:ext uri="{BB962C8B-B14F-4D97-AF65-F5344CB8AC3E}">
        <p14:creationId xmlns:p14="http://schemas.microsoft.com/office/powerpoint/2010/main" val="40915707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Python Notebooks</a:t>
            </a:r>
            <a:endParaRPr lang="en-IN" dirty="0"/>
          </a:p>
        </p:txBody>
      </p:sp>
      <p:sp>
        <p:nvSpPr>
          <p:cNvPr id="3" name="Content Placeholder 2"/>
          <p:cNvSpPr>
            <a:spLocks noGrp="1"/>
          </p:cNvSpPr>
          <p:nvPr>
            <p:ph idx="1"/>
          </p:nvPr>
        </p:nvSpPr>
        <p:spPr/>
        <p:txBody>
          <a:bodyPr/>
          <a:lstStyle/>
          <a:p>
            <a:r>
              <a:rPr lang="en-US" dirty="0" smtClean="0"/>
              <a:t>Extensive Python Notebook with All Algorithms, Working and Data Points, which can be used as a Template for Further Projects. Algorithms and ML Strategies Used were K Fold Cross Validation, Grid Search CV, SVC, K Neighbors Classifier, Decision Tree Classifier, Logistic Regression, Random Forest, Perceptron, Stochastic Gradient Descent Classifier, Linear Support Vector Classifier, Gaussian Naïve Bayes</a:t>
            </a:r>
          </a:p>
          <a:p>
            <a:r>
              <a:rPr lang="en-US" dirty="0" smtClean="0"/>
              <a:t>Python Notebook with just a Subset of Data for Processing and Making Predictions using Neural Networks, Logistic Regression and SVM</a:t>
            </a:r>
            <a:endParaRPr lang="en-IN" dirty="0"/>
          </a:p>
        </p:txBody>
      </p:sp>
    </p:spTree>
    <p:extLst>
      <p:ext uri="{BB962C8B-B14F-4D97-AF65-F5344CB8AC3E}">
        <p14:creationId xmlns:p14="http://schemas.microsoft.com/office/powerpoint/2010/main" val="2593752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of Classification</a:t>
            </a:r>
            <a:endParaRPr lang="en-IN" dirty="0"/>
          </a:p>
        </p:txBody>
      </p:sp>
      <p:sp>
        <p:nvSpPr>
          <p:cNvPr id="3" name="Content Placeholder 2"/>
          <p:cNvSpPr>
            <a:spLocks noGrp="1"/>
          </p:cNvSpPr>
          <p:nvPr>
            <p:ph idx="1"/>
          </p:nvPr>
        </p:nvSpPr>
        <p:spPr>
          <a:xfrm>
            <a:off x="1285583" y="3269705"/>
            <a:ext cx="8825659" cy="1537426"/>
          </a:xfrm>
        </p:spPr>
        <p:txBody>
          <a:bodyPr>
            <a:normAutofit/>
          </a:bodyPr>
          <a:lstStyle/>
          <a:p>
            <a:pPr marL="0" indent="0">
              <a:buNone/>
            </a:pPr>
            <a:r>
              <a:rPr lang="en-IN" sz="2400" spc="-1" dirty="0" smtClean="0">
                <a:latin typeface="Arial"/>
              </a:rPr>
              <a:t>The Goal </a:t>
            </a:r>
            <a:r>
              <a:rPr lang="en-IN" sz="2400" spc="-1" dirty="0">
                <a:latin typeface="Arial"/>
              </a:rPr>
              <a:t>of </a:t>
            </a:r>
            <a:r>
              <a:rPr lang="en-IN" sz="2400" spc="-1" dirty="0" smtClean="0">
                <a:latin typeface="Arial"/>
              </a:rPr>
              <a:t>Performing this Classification </a:t>
            </a:r>
            <a:r>
              <a:rPr lang="en-IN" sz="2400" spc="-1" dirty="0">
                <a:latin typeface="Arial"/>
              </a:rPr>
              <a:t>is to predict whether </a:t>
            </a:r>
            <a:r>
              <a:rPr lang="en-IN" sz="2400" spc="-1" dirty="0" smtClean="0">
                <a:latin typeface="Arial"/>
              </a:rPr>
              <a:t>a Client </a:t>
            </a:r>
            <a:r>
              <a:rPr lang="en-IN" sz="2400" spc="-1" dirty="0">
                <a:latin typeface="Arial"/>
              </a:rPr>
              <a:t>will subscribe </a:t>
            </a:r>
            <a:r>
              <a:rPr lang="en-IN" sz="2400" spc="-1" dirty="0" smtClean="0">
                <a:latin typeface="Arial"/>
              </a:rPr>
              <a:t>to term </a:t>
            </a:r>
            <a:r>
              <a:rPr lang="en-IN" sz="2400" spc="-1" dirty="0">
                <a:latin typeface="Arial"/>
              </a:rPr>
              <a:t>deposit or </a:t>
            </a:r>
            <a:r>
              <a:rPr lang="en-IN" sz="2400" spc="-1" dirty="0" smtClean="0">
                <a:latin typeface="Arial"/>
              </a:rPr>
              <a:t>not, based on Attributes of the Client</a:t>
            </a:r>
            <a:endParaRPr lang="en-IN" sz="2400" spc="-1" dirty="0">
              <a:latin typeface="Arial"/>
            </a:endParaRPr>
          </a:p>
        </p:txBody>
      </p:sp>
    </p:spTree>
    <p:extLst>
      <p:ext uri="{BB962C8B-B14F-4D97-AF65-F5344CB8AC3E}">
        <p14:creationId xmlns:p14="http://schemas.microsoft.com/office/powerpoint/2010/main" val="16072769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a:t>
            </a:r>
            <a:endParaRPr lang="en-IN" dirty="0"/>
          </a:p>
        </p:txBody>
      </p:sp>
      <p:pic>
        <p:nvPicPr>
          <p:cNvPr id="4" name="Content Placeholder 3"/>
          <p:cNvPicPr>
            <a:picLocks noGrp="1" noChangeAspect="1"/>
          </p:cNvPicPr>
          <p:nvPr>
            <p:ph idx="1"/>
          </p:nvPr>
        </p:nvPicPr>
        <p:blipFill>
          <a:blip r:embed="rId2"/>
          <a:stretch>
            <a:fillRect/>
          </a:stretch>
        </p:blipFill>
        <p:spPr>
          <a:xfrm>
            <a:off x="284556" y="3788230"/>
            <a:ext cx="11446398" cy="2142308"/>
          </a:xfrm>
          <a:prstGeom prst="rect">
            <a:avLst/>
          </a:prstGeom>
        </p:spPr>
      </p:pic>
      <p:sp>
        <p:nvSpPr>
          <p:cNvPr id="5" name="TextBox 4"/>
          <p:cNvSpPr txBox="1"/>
          <p:nvPr/>
        </p:nvSpPr>
        <p:spPr>
          <a:xfrm>
            <a:off x="382657" y="2821577"/>
            <a:ext cx="11250196" cy="646331"/>
          </a:xfrm>
          <a:prstGeom prst="rect">
            <a:avLst/>
          </a:prstGeom>
          <a:noFill/>
        </p:spPr>
        <p:txBody>
          <a:bodyPr wrap="none" rtlCol="0">
            <a:spAutoFit/>
          </a:bodyPr>
          <a:lstStyle/>
          <a:p>
            <a:r>
              <a:rPr lang="en-US" dirty="0" smtClean="0"/>
              <a:t>The Dataset Consisted of 41,188 rows (Observation) and 21 columns (Attributes). The Sample of the </a:t>
            </a:r>
          </a:p>
          <a:p>
            <a:r>
              <a:rPr lang="en-US" dirty="0" smtClean="0"/>
              <a:t>Dataset is Shown below:</a:t>
            </a:r>
            <a:endParaRPr lang="en-IN" dirty="0"/>
          </a:p>
        </p:txBody>
      </p:sp>
    </p:spTree>
    <p:extLst>
      <p:ext uri="{BB962C8B-B14F-4D97-AF65-F5344CB8AC3E}">
        <p14:creationId xmlns:p14="http://schemas.microsoft.com/office/powerpoint/2010/main" val="715391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54954" y="851263"/>
            <a:ext cx="2793158" cy="807720"/>
          </a:xfrm>
        </p:spPr>
        <p:txBody>
          <a:bodyPr/>
          <a:lstStyle/>
          <a:p>
            <a:r>
              <a:rPr lang="en-US" dirty="0" smtClean="0"/>
              <a:t>Data Types</a:t>
            </a:r>
            <a:endParaRPr lang="en-IN" dirty="0"/>
          </a:p>
        </p:txBody>
      </p:sp>
      <p:sp>
        <p:nvSpPr>
          <p:cNvPr id="3" name="Content Placeholder 2"/>
          <p:cNvSpPr>
            <a:spLocks noGrp="1"/>
          </p:cNvSpPr>
          <p:nvPr>
            <p:ph idx="1"/>
          </p:nvPr>
        </p:nvSpPr>
        <p:spPr/>
        <p:txBody>
          <a:bodyPr/>
          <a:lstStyle/>
          <a:p>
            <a:r>
              <a:rPr lang="en-US" dirty="0" smtClean="0"/>
              <a:t>By the Image Seen on the Left, The Age, Previous, </a:t>
            </a:r>
            <a:r>
              <a:rPr lang="en-US" dirty="0" err="1" smtClean="0"/>
              <a:t>Pdays</a:t>
            </a:r>
            <a:r>
              <a:rPr lang="en-US" dirty="0" smtClean="0"/>
              <a:t>, Campaign and Duration are Integers </a:t>
            </a:r>
            <a:r>
              <a:rPr lang="en-US" dirty="0"/>
              <a:t>(Numerical</a:t>
            </a:r>
            <a:r>
              <a:rPr lang="en-US" dirty="0" smtClean="0"/>
              <a:t>)., </a:t>
            </a:r>
            <a:r>
              <a:rPr lang="en-US" dirty="0" err="1" smtClean="0"/>
              <a:t>nr.employed</a:t>
            </a:r>
            <a:r>
              <a:rPr lang="en-US" dirty="0" smtClean="0"/>
              <a:t>, </a:t>
            </a:r>
            <a:r>
              <a:rPr lang="en-US" dirty="0" err="1" smtClean="0"/>
              <a:t>emp.var.rate</a:t>
            </a:r>
            <a:r>
              <a:rPr lang="en-US" dirty="0" smtClean="0"/>
              <a:t>, </a:t>
            </a:r>
            <a:r>
              <a:rPr lang="en-US" dirty="0" err="1" smtClean="0"/>
              <a:t>cons.price.idx</a:t>
            </a:r>
            <a:r>
              <a:rPr lang="en-US" dirty="0" smtClean="0"/>
              <a:t>, </a:t>
            </a:r>
            <a:r>
              <a:rPr lang="en-US" dirty="0" err="1" smtClean="0"/>
              <a:t>cons.conf.idx</a:t>
            </a:r>
            <a:r>
              <a:rPr lang="en-US" dirty="0" smtClean="0"/>
              <a:t>, euribor3m are Float Variables (Numerical)., and the Remaining are having Object as data type (Categorical)</a:t>
            </a:r>
            <a:endParaRPr lang="en-IN" dirty="0"/>
          </a:p>
        </p:txBody>
      </p:sp>
      <p:sp>
        <p:nvSpPr>
          <p:cNvPr id="6" name="Text Placeholder 5"/>
          <p:cNvSpPr>
            <a:spLocks noGrp="1"/>
          </p:cNvSpPr>
          <p:nvPr>
            <p:ph type="body" sz="half" idx="2"/>
          </p:nvPr>
        </p:nvSpPr>
        <p:spPr/>
        <p:txBody>
          <a:bodyPr/>
          <a:lstStyle/>
          <a:p>
            <a:endParaRPr lang="en-IN"/>
          </a:p>
        </p:txBody>
      </p:sp>
      <p:pic>
        <p:nvPicPr>
          <p:cNvPr id="4" name="Picture 3"/>
          <p:cNvPicPr>
            <a:picLocks noChangeAspect="1"/>
          </p:cNvPicPr>
          <p:nvPr/>
        </p:nvPicPr>
        <p:blipFill>
          <a:blip r:embed="rId2"/>
          <a:stretch>
            <a:fillRect/>
          </a:stretch>
        </p:blipFill>
        <p:spPr>
          <a:xfrm>
            <a:off x="770709" y="1792570"/>
            <a:ext cx="3383279" cy="4344652"/>
          </a:xfrm>
          <a:prstGeom prst="rect">
            <a:avLst/>
          </a:prstGeom>
        </p:spPr>
      </p:pic>
    </p:spTree>
    <p:extLst>
      <p:ext uri="{BB962C8B-B14F-4D97-AF65-F5344CB8AC3E}">
        <p14:creationId xmlns:p14="http://schemas.microsoft.com/office/powerpoint/2010/main" val="18405782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Missing Values Check:</a:t>
            </a:r>
          </a:p>
          <a:p>
            <a:pPr>
              <a:buFont typeface="Wingdings" panose="05000000000000000000" pitchFamily="2" charset="2"/>
              <a:buChar char="Ø"/>
            </a:pPr>
            <a:r>
              <a:rPr lang="en-US" dirty="0" smtClean="0"/>
              <a:t>We have Identified that there are No Missing Values present in all the Columns in the Dataset.</a:t>
            </a:r>
          </a:p>
          <a:p>
            <a:pPr>
              <a:buFont typeface="Wingdings" panose="05000000000000000000" pitchFamily="2" charset="2"/>
              <a:buChar char="Ø"/>
            </a:pPr>
            <a:r>
              <a:rPr lang="en-US" dirty="0" smtClean="0"/>
              <a:t>With this, we go with an Assumption that we have full data and Start the Data Preprocessing Process</a:t>
            </a:r>
          </a:p>
          <a:p>
            <a:pPr marL="0" indent="0">
              <a:buNone/>
            </a:pPr>
            <a:endParaRPr lang="en-IN" dirty="0"/>
          </a:p>
        </p:txBody>
      </p:sp>
      <p:pic>
        <p:nvPicPr>
          <p:cNvPr id="5" name="Picture 4"/>
          <p:cNvPicPr>
            <a:picLocks noChangeAspect="1"/>
          </p:cNvPicPr>
          <p:nvPr/>
        </p:nvPicPr>
        <p:blipFill>
          <a:blip r:embed="rId2"/>
          <a:stretch>
            <a:fillRect/>
          </a:stretch>
        </p:blipFill>
        <p:spPr>
          <a:xfrm>
            <a:off x="1154954" y="489344"/>
            <a:ext cx="2842280" cy="5825732"/>
          </a:xfrm>
          <a:prstGeom prst="rect">
            <a:avLst/>
          </a:prstGeom>
        </p:spPr>
      </p:pic>
    </p:spTree>
    <p:extLst>
      <p:ext uri="{BB962C8B-B14F-4D97-AF65-F5344CB8AC3E}">
        <p14:creationId xmlns:p14="http://schemas.microsoft.com/office/powerpoint/2010/main" val="26395461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Descriptive Statistics</a:t>
            </a:r>
            <a:endParaRPr lang="en-IN" dirty="0"/>
          </a:p>
        </p:txBody>
      </p:sp>
      <p:sp>
        <p:nvSpPr>
          <p:cNvPr id="6" name="Content Placeholder 5"/>
          <p:cNvSpPr>
            <a:spLocks noGrp="1"/>
          </p:cNvSpPr>
          <p:nvPr>
            <p:ph idx="1"/>
          </p:nvPr>
        </p:nvSpPr>
        <p:spPr>
          <a:xfrm>
            <a:off x="1154954" y="2603499"/>
            <a:ext cx="8825659" cy="3940991"/>
          </a:xfrm>
        </p:spPr>
        <p:txBody>
          <a:bodyPr>
            <a:normAutofit/>
          </a:bodyPr>
          <a:lstStyle/>
          <a:p>
            <a:r>
              <a:rPr lang="en-US" dirty="0" smtClean="0"/>
              <a:t>We Now Look for Descriptive Statistics to Identify the Distribution, Statistical Operations of the Dataset</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From just seeing the Descriptive Statistics, we can Identify that Outliers are present. </a:t>
            </a:r>
            <a:r>
              <a:rPr lang="en-US" dirty="0" err="1" smtClean="0"/>
              <a:t>Eg</a:t>
            </a:r>
            <a:r>
              <a:rPr lang="en-US" dirty="0" smtClean="0"/>
              <a:t>: Age, Duration, </a:t>
            </a:r>
            <a:r>
              <a:rPr lang="en-US" dirty="0" err="1" smtClean="0"/>
              <a:t>cons.conf.idx</a:t>
            </a:r>
            <a:endParaRPr lang="en-IN" dirty="0"/>
          </a:p>
        </p:txBody>
      </p:sp>
      <p:pic>
        <p:nvPicPr>
          <p:cNvPr id="8" name="Picture 7"/>
          <p:cNvPicPr>
            <a:picLocks noChangeAspect="1"/>
          </p:cNvPicPr>
          <p:nvPr/>
        </p:nvPicPr>
        <p:blipFill>
          <a:blip r:embed="rId2"/>
          <a:stretch>
            <a:fillRect/>
          </a:stretch>
        </p:blipFill>
        <p:spPr>
          <a:xfrm>
            <a:off x="1620092" y="3491729"/>
            <a:ext cx="8296275" cy="1990725"/>
          </a:xfrm>
          <a:prstGeom prst="rect">
            <a:avLst/>
          </a:prstGeom>
        </p:spPr>
      </p:pic>
    </p:spTree>
    <p:extLst>
      <p:ext uri="{BB962C8B-B14F-4D97-AF65-F5344CB8AC3E}">
        <p14:creationId xmlns:p14="http://schemas.microsoft.com/office/powerpoint/2010/main" val="34543966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Outlier Detection</a:t>
            </a:r>
            <a:endParaRPr lang="en-IN" dirty="0"/>
          </a:p>
        </p:txBody>
      </p:sp>
      <p:sp>
        <p:nvSpPr>
          <p:cNvPr id="3" name="Content Placeholder 2"/>
          <p:cNvSpPr>
            <a:spLocks noGrp="1"/>
          </p:cNvSpPr>
          <p:nvPr>
            <p:ph idx="1"/>
          </p:nvPr>
        </p:nvSpPr>
        <p:spPr/>
        <p:txBody>
          <a:bodyPr>
            <a:normAutofit lnSpcReduction="10000"/>
          </a:bodyPr>
          <a:lstStyle/>
          <a:p>
            <a:r>
              <a:rPr lang="en-US" dirty="0"/>
              <a:t>In </a:t>
            </a:r>
            <a:r>
              <a:rPr lang="en-US" b="1" dirty="0"/>
              <a:t>statistics</a:t>
            </a:r>
            <a:r>
              <a:rPr lang="en-US" dirty="0"/>
              <a:t>, an </a:t>
            </a:r>
            <a:r>
              <a:rPr lang="en-US" b="1" dirty="0"/>
              <a:t>outlier</a:t>
            </a:r>
            <a:r>
              <a:rPr lang="en-US" dirty="0"/>
              <a:t> is a data point that differs significantly from other observations. An </a:t>
            </a:r>
            <a:r>
              <a:rPr lang="en-US" b="1" dirty="0"/>
              <a:t>outlier</a:t>
            </a:r>
            <a:r>
              <a:rPr lang="en-US" dirty="0"/>
              <a:t> may be due to variability in the measurement or it may indicate experimental error; the latter are sometimes excluded from the data set. An </a:t>
            </a:r>
            <a:r>
              <a:rPr lang="en-US" b="1" dirty="0"/>
              <a:t>outlier</a:t>
            </a:r>
            <a:r>
              <a:rPr lang="en-US" dirty="0"/>
              <a:t> can cause serious problems in </a:t>
            </a:r>
            <a:r>
              <a:rPr lang="en-US" b="1" dirty="0"/>
              <a:t>statistical</a:t>
            </a:r>
            <a:r>
              <a:rPr lang="en-US" dirty="0"/>
              <a:t> analyses.</a:t>
            </a:r>
          </a:p>
          <a:p>
            <a:r>
              <a:rPr lang="en-US" dirty="0" smtClean="0"/>
              <a:t>In Outlier Handling, Mean is Prone to Outliers, So we primarily use Median to Identify Outliers.</a:t>
            </a:r>
          </a:p>
          <a:p>
            <a:r>
              <a:rPr lang="en-US" dirty="0" smtClean="0"/>
              <a:t>Outliers can also be Identified by Inter Quartile Range (IQR)</a:t>
            </a:r>
          </a:p>
          <a:p>
            <a:r>
              <a:rPr lang="en-US" b="1" dirty="0"/>
              <a:t>Outliers</a:t>
            </a:r>
            <a:r>
              <a:rPr lang="en-US" dirty="0"/>
              <a:t> here are defined as observations that fall below Q1 − 1.5 </a:t>
            </a:r>
            <a:r>
              <a:rPr lang="en-US" b="1" dirty="0"/>
              <a:t>IQR</a:t>
            </a:r>
            <a:r>
              <a:rPr lang="en-US" dirty="0"/>
              <a:t> or above Q3 + 1.5 </a:t>
            </a:r>
            <a:r>
              <a:rPr lang="en-US" b="1" dirty="0"/>
              <a:t>IQR</a:t>
            </a:r>
            <a:r>
              <a:rPr lang="en-US" dirty="0" smtClean="0"/>
              <a:t>.</a:t>
            </a:r>
          </a:p>
          <a:p>
            <a:r>
              <a:rPr lang="en-US" b="1" dirty="0"/>
              <a:t>Q1</a:t>
            </a:r>
            <a:r>
              <a:rPr lang="en-US" dirty="0"/>
              <a:t> is the median (the middle) of the lower half of the data, and </a:t>
            </a:r>
            <a:r>
              <a:rPr lang="en-US" b="1" dirty="0"/>
              <a:t>Q3</a:t>
            </a:r>
            <a:r>
              <a:rPr lang="en-US" dirty="0"/>
              <a:t> is the median (the middle) of the upper half of the data.</a:t>
            </a:r>
            <a:endParaRPr lang="en-IN" dirty="0"/>
          </a:p>
        </p:txBody>
      </p:sp>
    </p:spTree>
    <p:extLst>
      <p:ext uri="{BB962C8B-B14F-4D97-AF65-F5344CB8AC3E}">
        <p14:creationId xmlns:p14="http://schemas.microsoft.com/office/powerpoint/2010/main" val="19525894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Outlier Detection</a:t>
            </a:r>
            <a:endParaRPr lang="en-IN" dirty="0"/>
          </a:p>
        </p:txBody>
      </p:sp>
      <p:sp>
        <p:nvSpPr>
          <p:cNvPr id="7" name="Text Placeholder 6"/>
          <p:cNvSpPr>
            <a:spLocks noGrp="1"/>
          </p:cNvSpPr>
          <p:nvPr>
            <p:ph type="body" sz="half" idx="2"/>
          </p:nvPr>
        </p:nvSpPr>
        <p:spPr>
          <a:xfrm>
            <a:off x="1154954" y="3657599"/>
            <a:ext cx="3859212" cy="1972491"/>
          </a:xfrm>
        </p:spPr>
        <p:txBody>
          <a:bodyPr>
            <a:normAutofit lnSpcReduction="10000"/>
          </a:bodyPr>
          <a:lstStyle/>
          <a:p>
            <a:r>
              <a:rPr lang="en-US" dirty="0" smtClean="0"/>
              <a:t>In the Right is the Boxplot, of “Age, duration and cons.conf.id”</a:t>
            </a:r>
          </a:p>
          <a:p>
            <a:r>
              <a:rPr lang="en-US" dirty="0" smtClean="0"/>
              <a:t>The Lines in Box plot depicts</a:t>
            </a:r>
          </a:p>
          <a:p>
            <a:r>
              <a:rPr lang="en-US" dirty="0" smtClean="0"/>
              <a:t>Min, Q1, median, Q3, Max.</a:t>
            </a:r>
          </a:p>
          <a:p>
            <a:endParaRPr lang="en-US" dirty="0"/>
          </a:p>
          <a:p>
            <a:r>
              <a:rPr lang="en-US" dirty="0" smtClean="0"/>
              <a:t>The Bubbles outside the Line is the Outlier Data Points</a:t>
            </a:r>
            <a:endParaRPr lang="en-IN" dirty="0"/>
          </a:p>
        </p:txBody>
      </p:sp>
      <p:pic>
        <p:nvPicPr>
          <p:cNvPr id="9" name="Picture 8"/>
          <p:cNvPicPr>
            <a:picLocks noChangeAspect="1"/>
          </p:cNvPicPr>
          <p:nvPr/>
        </p:nvPicPr>
        <p:blipFill>
          <a:blip r:embed="rId2"/>
          <a:stretch>
            <a:fillRect/>
          </a:stretch>
        </p:blipFill>
        <p:spPr>
          <a:xfrm>
            <a:off x="6434410" y="124922"/>
            <a:ext cx="3989750" cy="6733078"/>
          </a:xfrm>
          <a:prstGeom prst="rect">
            <a:avLst/>
          </a:prstGeom>
        </p:spPr>
      </p:pic>
    </p:spTree>
    <p:extLst>
      <p:ext uri="{BB962C8B-B14F-4D97-AF65-F5344CB8AC3E}">
        <p14:creationId xmlns:p14="http://schemas.microsoft.com/office/powerpoint/2010/main" val="12413116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49086" y="1804594"/>
            <a:ext cx="4945553" cy="3648923"/>
          </a:xfrm>
          <a:prstGeom prst="rect">
            <a:avLst/>
          </a:prstGeom>
        </p:spPr>
      </p:pic>
      <p:sp>
        <p:nvSpPr>
          <p:cNvPr id="6" name="Text Placeholder 5"/>
          <p:cNvSpPr>
            <a:spLocks noGrp="1"/>
          </p:cNvSpPr>
          <p:nvPr>
            <p:ph type="body" idx="1"/>
          </p:nvPr>
        </p:nvSpPr>
        <p:spPr>
          <a:xfrm>
            <a:off x="6882496" y="1345232"/>
            <a:ext cx="3757545" cy="2283824"/>
          </a:xfrm>
        </p:spPr>
        <p:txBody>
          <a:bodyPr/>
          <a:lstStyle/>
          <a:p>
            <a:r>
              <a:rPr lang="en-US" dirty="0" smtClean="0"/>
              <a:t>The Data distribution of the output is the must to identify whether the model can perform better or not.</a:t>
            </a:r>
            <a:endParaRPr lang="en-IN" dirty="0"/>
          </a:p>
        </p:txBody>
      </p:sp>
      <p:sp>
        <p:nvSpPr>
          <p:cNvPr id="8" name="TextBox 7"/>
          <p:cNvSpPr txBox="1"/>
          <p:nvPr/>
        </p:nvSpPr>
        <p:spPr>
          <a:xfrm>
            <a:off x="7040880" y="4088674"/>
            <a:ext cx="5205271" cy="2308324"/>
          </a:xfrm>
          <a:prstGeom prst="rect">
            <a:avLst/>
          </a:prstGeom>
          <a:noFill/>
        </p:spPr>
        <p:txBody>
          <a:bodyPr wrap="none" rtlCol="0">
            <a:spAutoFit/>
          </a:bodyPr>
          <a:lstStyle/>
          <a:p>
            <a:r>
              <a:rPr lang="en-US" dirty="0" smtClean="0"/>
              <a:t>We can see with Our Target Variable (y) </a:t>
            </a:r>
          </a:p>
          <a:p>
            <a:r>
              <a:rPr lang="en-US" dirty="0" smtClean="0"/>
              <a:t>Distribution that It has Class Imbalance &amp;</a:t>
            </a:r>
          </a:p>
          <a:p>
            <a:r>
              <a:rPr lang="en-US" dirty="0" smtClean="0"/>
              <a:t>is an Imbalanced Dataset.</a:t>
            </a:r>
          </a:p>
          <a:p>
            <a:endParaRPr lang="en-US" dirty="0"/>
          </a:p>
          <a:p>
            <a:r>
              <a:rPr lang="en-US" dirty="0" smtClean="0"/>
              <a:t>We can perform Operations (Data </a:t>
            </a:r>
          </a:p>
          <a:p>
            <a:r>
              <a:rPr lang="en-US" dirty="0" smtClean="0"/>
              <a:t>Preprocessing) – Resampling such as SMOTE, </a:t>
            </a:r>
          </a:p>
          <a:p>
            <a:r>
              <a:rPr lang="en-US" dirty="0" smtClean="0"/>
              <a:t>Synthetic Sample Generation, Under and </a:t>
            </a:r>
          </a:p>
          <a:p>
            <a:r>
              <a:rPr lang="en-US" dirty="0" smtClean="0"/>
              <a:t>Over Sampling, Class Re weightage etc.</a:t>
            </a:r>
            <a:endParaRPr lang="en-IN" dirty="0"/>
          </a:p>
        </p:txBody>
      </p:sp>
    </p:spTree>
    <p:extLst>
      <p:ext uri="{BB962C8B-B14F-4D97-AF65-F5344CB8AC3E}">
        <p14:creationId xmlns:p14="http://schemas.microsoft.com/office/powerpoint/2010/main" val="23235217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43308" y="1097280"/>
            <a:ext cx="3757545" cy="4545873"/>
          </a:xfrm>
        </p:spPr>
        <p:txBody>
          <a:bodyPr>
            <a:normAutofit/>
          </a:bodyPr>
          <a:lstStyle/>
          <a:p>
            <a:r>
              <a:rPr lang="en-US" dirty="0" smtClean="0"/>
              <a:t>With </a:t>
            </a:r>
            <a:r>
              <a:rPr lang="en-US" dirty="0" err="1" smtClean="0"/>
              <a:t>cdf</a:t>
            </a:r>
            <a:r>
              <a:rPr lang="en-US" dirty="0" smtClean="0"/>
              <a:t> and pdf, we can identify the distribution of age. </a:t>
            </a:r>
          </a:p>
          <a:p>
            <a:r>
              <a:rPr lang="en-US" dirty="0" err="1" smtClean="0"/>
              <a:t>Eg</a:t>
            </a:r>
            <a:r>
              <a:rPr lang="en-US" dirty="0" smtClean="0"/>
              <a:t>: </a:t>
            </a:r>
          </a:p>
          <a:p>
            <a:r>
              <a:rPr lang="en-US" dirty="0" smtClean="0"/>
              <a:t>&gt; with </a:t>
            </a:r>
            <a:r>
              <a:rPr lang="en-US" dirty="0" err="1" smtClean="0"/>
              <a:t>cdf</a:t>
            </a:r>
            <a:r>
              <a:rPr lang="en-US" dirty="0" smtClean="0"/>
              <a:t>, we can find 50% of population has age group below 40yrs.</a:t>
            </a:r>
          </a:p>
          <a:p>
            <a:r>
              <a:rPr lang="en-US" dirty="0" smtClean="0"/>
              <a:t>&gt; With pdf we see ages 25 – 48 is consisting of a larger population</a:t>
            </a:r>
            <a:endParaRPr lang="en-IN" dirty="0"/>
          </a:p>
        </p:txBody>
      </p:sp>
      <p:pic>
        <p:nvPicPr>
          <p:cNvPr id="5" name="Picture 4"/>
          <p:cNvPicPr>
            <a:picLocks noChangeAspect="1"/>
          </p:cNvPicPr>
          <p:nvPr/>
        </p:nvPicPr>
        <p:blipFill>
          <a:blip r:embed="rId2"/>
          <a:stretch>
            <a:fillRect/>
          </a:stretch>
        </p:blipFill>
        <p:spPr>
          <a:xfrm>
            <a:off x="1271451" y="555580"/>
            <a:ext cx="3927566" cy="2711359"/>
          </a:xfrm>
          <a:prstGeom prst="rect">
            <a:avLst/>
          </a:prstGeom>
        </p:spPr>
      </p:pic>
      <p:pic>
        <p:nvPicPr>
          <p:cNvPr id="6" name="Picture 5"/>
          <p:cNvPicPr>
            <a:picLocks noChangeAspect="1"/>
          </p:cNvPicPr>
          <p:nvPr/>
        </p:nvPicPr>
        <p:blipFill>
          <a:blip r:embed="rId3"/>
          <a:stretch>
            <a:fillRect/>
          </a:stretch>
        </p:blipFill>
        <p:spPr>
          <a:xfrm>
            <a:off x="1271451" y="3640167"/>
            <a:ext cx="3927566" cy="2625378"/>
          </a:xfrm>
          <a:prstGeom prst="rect">
            <a:avLst/>
          </a:prstGeom>
        </p:spPr>
      </p:pic>
    </p:spTree>
    <p:extLst>
      <p:ext uri="{BB962C8B-B14F-4D97-AF65-F5344CB8AC3E}">
        <p14:creationId xmlns:p14="http://schemas.microsoft.com/office/powerpoint/2010/main" val="22744614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436497" y="320525"/>
            <a:ext cx="11476829" cy="706964"/>
          </a:xfrm>
        </p:spPr>
        <p:txBody>
          <a:bodyPr/>
          <a:lstStyle/>
          <a:p>
            <a:r>
              <a:rPr lang="en-US" dirty="0" smtClean="0"/>
              <a:t>Pearson’s Correlation Coefficient of the Dataset</a:t>
            </a:r>
            <a:endParaRPr lang="en-IN" dirty="0"/>
          </a:p>
        </p:txBody>
      </p:sp>
      <p:sp>
        <p:nvSpPr>
          <p:cNvPr id="10" name="AutoShape 8" descr="data:image/png;base64,iVBORw0KGgoAAAANSUhEUgAABjEAAAOOCAYAAABBXTBiAAAABHNCSVQICAgIfAhkiAAAAAlwSFlz%0AAAALEgAACxIB0t1+/AAAADh0RVh0U29mdHdhcmUAbWF0cGxvdGxpYiB2ZXJzaW9uMy4yLjEsIGh0%0AdHA6Ly9tYXRwbG90bGliLm9yZy+j8jraAAAgAElEQVR4nOzdd1gUV9/G8e/s0gRFpaNii9hiwYKI%0AoKARVIyaRGOLvSs27F1jTSxoYiwxJm/K8yS2FDUaFZNYsfdeYuz0IkVFyr5/7IosYAd2ffh9rosr%0AkT27nHv3zJyzc2bOKBqNBiGEEEIIIYQQQgghhBBCCGOjMnQFhBBCCCGEEEIIIYQQQgghciOTGEII%0AIYQQQgghhBBCCCGEMEoyiSGEEEIIIYQQQgghhBBCCKMkkxhCCCGEEEIIIYQQQgghhDBKMokhhBBC%0ACCGEEEIIIYQQQgijJJMYQgghhBBCCCGEEEIIIYQwSjKJIYQQQgghhBBCCCGEEEKI51IU5RtFUSIV%0ARTn7lMcVRVE+VxTlqqIopxVFqfu6f1MmMYQQQgghhBBCCCGEEEII8SK+BVo+4/FWgKvuZwCw4nX/%0AoExiCCGEEEIIIYQQQgghhBDiuTQazR4g9hlF2gHfa7QOAiUURXF+nb8pkxhCCCGEEEIIIYQQQggh%0AhMgLpYFbWf59W/e7V2byWtUROaRGX9MYug6G0rHuCENXwaBSSDd0FQwqMT3F0FUwmOjURENXwaDK%0AmtsaugoGlU6GoatgULaqIoaugsEU9jNBItPvG7oKwoAeatIMXQWDcjQpaugqGExxxdTQVRAGVBpz%0AQ1fBoEw0iqGrIIQwgNtK4T3eAbD6+gbZ+eUhYz92bGb/1kC0S0A9tkqj0awyVH0ek0kMIYQQQggh%0AhBBCCCGEEKKQ001YvO6kxR3AJcu/y+h+98oK+0mEQgghhBBCCCGEEEIIIYTIG5uAHopWQ+CeRqMJ%0Ae50XlCsxhBBCCCGEEEIIIYQQQoj8lvHmL0evKMpPgC9gpyjKbWA6YAqg0WhWAluBAOAqcB/o/bp/%0AUyYxhBBCCCGEEEIIIYQQQgjxXBqNpstzHtcAgXn5N2U5KSGEEEIIIYQQQgghhBBCGCWZxBBCCCGE%0AEEIIIYQQQgghhFGS5aSEEEIIIYQQQgghhBBCiPymyTB0Dd5IciWGEEIIIYQQQgghhBBCCCGMkkxi%0ACCGEEEIIIYQQQgghhBDCKMlyUkIIIYQQQgghhBBCCCFEfsuQ5aRehVyJIYQQQgghhBBCCCGEEEII%0AoySTGEIIIYQQQgghhBBCCCGEMEqynJQQQgghhBBCCCGEEEIIkc80GllO6lXIlRhCCCGEEEIIIYQQ%0AQgghhDBKciXG/4gpc4PZs/8wNiVL8Nt/Vhq6Onmijk9d+s7oj0qtYueaEH5ZvkHvcRMzE0YsHsVb%0ANd8iMS6RhYHzibodiWttVwZ/MlRbSFFYu/hHDm0/CECbvu1o3sUfNBpuXLzO0jGfkZqSWtDRXkg9%0An3oMnDEQlVrF9jXbWb98vd7jJmYmjFk8hko1K5EYl8i8wHlE3o6kTuM69JrQC1NTU1JTU/lmzjec%0ACj2FuYU5E1dMxLmcMxkZGRzaeYhvP/nWMOFewIiZgTRs5kHKgxTmBs3n8tkrOcpUrunKpMXjMLcw%0A5+Bfh/hs2jIAhkwZQCM/T9IepXHnxl3mjZpPUkIy9RvXY9CkfpiYmpCWmsby2V9yfP/Jgo72QibN%0AGU2T5o14+OAhk4bN5PyZSznKVK9VlXmfT8O8iDl7doYyd/IiAKrWcGXG/AmYWZiTnpbOzPGfcubE%0AeSpUKsfcz6dRvWYVlsxbwf8t/29Bx3oh9X3rMWjGINRqFX/8tI112dq+qZkpY5eMxrWmKwlxCcwd%0AMo+I25EUK1GMqV9OpnLtyoSsD2HZ1BU5XnvGN9NxLuvEwOaDCyrOU7n71mfIjEGo1Gr++OkP1ixf%0Ap/e4qZkp45eMzcw5e8hcIm5HANAlsBMtO7ckIz2dZdNXcHT3sWe+Zh0vNwZM7oeiUvEw+QHzRy/i%0A7vW7OJR2YMzCUZSwLU5ifCLzhs8nOjy6YN+IZ6jtU4de0/uhUqv4a00IG1f8ove4iZkJgcEjqajr%0ABz4bupCo25EAlK1ajv7zBlOkqCWaDA2T2o4x2v39Y7V96tBDl/fvNSFsyiXvkOCRVKj5Fkm6vNFZ%0A8vadNxjLopZkZGiYki3vmNWTcCjryDj/EQWa6UUEzhyCRzN3Uh6kMD9oIVfOXs1RxrWmK+MWj8Hc%0AwoxDfx1h2bTlANrtfvlkHF0cibgVwczBs0m6l8Q77zej85COoCg8SLrPkolLuXbhGqbmpiz5eRGm%0AZqao1Wr2bN3Ld4t+KOjIevIjv8tbLowLHk2lGpX4Zv63rP9SO4YyxvxZjZw5FM9mHjx88JA5T+n7%0Aq9R0ZfLi8ZhbmHPgr0MsmfYFAIFTBuLl50nqo1Tu3Ahj7qhPSUpIRm2iZuLCMVSu4YraRM22DTv4%0A4YufCjraM9XxqUuf6f1QqdXsXLODX1f8rPe4iZkJI4KDqFizEolxCSwauiBzXwdgV8qOz3YuY92S%0An9i46rfM36tUKub/HkxseAxz+8wqsDwvq4aPG12n9UGlVrFn7Z9sXfGr3uMmZib0Dx5OuRoVSYpP%0AZMXQYGJuR6E2UdP708GUe7siKhM1ob/sYsty7XMX7FvBw6QHZGRkaMdCbccbItoLKez5s3L1qUXA%0AtB6o1CqOrf2bPSs26z1evkFVAqZ1x7FqWdYNW8q5Pw4DUMGzOgFTu2WWs3urFOuGfcGFHUcLtP6v%0Aq5JPLVpO745KreL4ml3sy5a/XIOqtJzeDceqZdkw7AvObz2c+ZjfxC64NnNDUSlc23uWP2Z8X9DV%0Afy2FOTtI/sKY/20fN7pM641KrWLv2j/5Y8Vveo+bmJnQN3iYbt+fxJeP9/2mJvSYO4ByNd9Co9Gw%0A5uP/49LBcwA0aOtFwJAPQAPxkbGsHvk5SXGJhognRL6QKzH+R7wX4MfK4NmGrkaeUalUDJg9iFk9%0AZzD8nUC82zahjKuLXpnmnfxJvpfEkCYD2bx6Iz0m9gLgxqWbjHk3iFGtRjCrx3QGzwtEpVZh42hD%0A695tGNs6iBF+Q1Gp1Xi3aWKAdM+nUqkYMnsI03pOY9A7g/Bp64NLtvwtOrUg6V4S/Zr049fVv9Jn%0AYh8A7sXe4+M+HzPEfwjBQcGMXjI68zm/rPqFgc0GMqzVMKrXr0593/oFmutFNWzWgDIVytDFuwfz%0Axwczel7uB91GzxvJ/HHBdPHuQZkKZfBo2gCAI3uO0bNZX3r59efWtdt0G9oV0L4343tNoVfz/swZ%0A+SlTPptYYJleRpN3GlGuogstPdozffQ8ps3P/Yvn9PnjmTZ6Li092lOuoguNm3kCMGbaMJYtXM0H%0Azbqx9NMvGTNtGAD34hOYM2kh3xjp5AVo237g7ECm9JhK/2YDadrOl7KuZfXKtOjsT1J8Er0b9+WX%0A1b/Rd5K27T9KecR3C3/gq9mrc31tr5aNeJj8IN8zvAiVSsWw2YFM6jGFvs3607Rd0xw5W3VuQWJ8%0AEj0b9+bn1b/Qf1JfAMq6lsW3rS/93hnAxO6TGT5nKCqV6pmvOWLuMOYN/5RBLYfw18a/+Wh4FwAG%0ATulPyM87GeA/mB+W/Je+E3oX7BvxDIpKRZ9ZA5nXcyajmg/Dq21jSruW0SvTrJMfyfeSGOEzmK1f%0Ab6LrhB4AqNQqhi4JYvWklYzxG87HnaaQlppuiBgvTFGp6D1rIJ/2nMmY5sNolEveprq8QbnkDVwS%0AxNeTVjLWbzizsuV1b9mQh/cfFmieF9WgmTtlKpSmh3dvgscvYcS84bmWGzlvGMHjFtPDuzdlKpSm%0AQVN3QDuhd3z/CXo27s3x/SfoEtgJgLCb4QR1GEP/5gP5z2c/Mmr+SABSU1IZ3XEcA/wHM6DFYNx9%0A3alWt2rBhM1FfuVPjE/ki2nLMycvHjO2/Fl5NvOgTIXSdPLuzvzxwYyZNzLXcmPmBfHpuEV08u5O%0AmQqlaZil7+/erA89/fpz69otuuv6/mbv+mBqZkqP5v3o03IQ7bq1wamMY4Hleh6VSkX/WQOZ3fNj%0ARjQPpHGuY14/ku4lEegzkM1fb6LHhJ56j/ee2pcTu47neO3Wfdpw++qtfK3/61JUKrrP7M/iXnOY%0A7DcSj7belKqkv+9r3PEdku8lMcF3KDu+/p2OE7oD4B7giYmZKVNbjuLjd8fi29Uf2zL2mc/7tMt0%0ApgeMMeoD+IU9f1aKSqHNzN5832s+n/uNpWbbRthXKq1XJv5uND+PWcnpjaF6v//3wHmWBUxiWcAk%0Avukyh9QHj7i653RBVv+1KSqFgFm9+G/P+SxrPo4abT2xd9XPf+9uNL+N/pIz2fK71HPFpX5lVrSY%0AwHK/8ZSqXZHyDasVYO1fT2HODpK/MOZXVCo+mtmPJb3mMNUviAZtvXHOtu/37vgOyfeSmeQ7jJCv%0Af6fDBO1EbZPOzQGY0XI0wd1m0nFyDxRFQaVW0XlaHxZ2mcGMVqO5feEGzXq2KvBs4gVlZBj3j5GS%0ASYz/EfXdalLcupihq5FnXN1cCbseRsTNCNJS09i3eQ8N/D30yjTw9+DvDX8CELp1P7W8agPw6GEK%0AGenajc7U3AyNRpP5HLWJCjMLM1RqFeZFzImNiC2gRC+nsltl7l6/S/jNcNJS09izeQ+e/p56ZRr6%0AN2Tnhp0A7Nu6j9q6/NfOXcvMdePyDcwtzDExMyHlYQqnD2gH82mpafxz9h9snW0LMNWL827hxbYN%0AOwA4f/wCRYsXxdbBRq+MrYMNVsUsOX/8AgDbNuygcUsvQHsgI13XBs4dP4+9sx0AV85dJSYiBoB/%0AL13H3MIMUzPTAsn0Mpq1asLGdVsBOHXsLNbFi2HvoP9Z2TvYUrSYFaeOnQVg47qtvBPgA4BGA0WL%0AWQFQ1Lookboz62Oj4zh78gJpaWkFFeWlVcnW9ndt2o2nf0O9Mp7+noTo2v7eLXtx83IDIOVBCueO%0AnONRyqMcr2thacEH/T/gx8/X5H+IF1DFrQp3r98lLDPnLryybeON/D3ZsSEEgD1b9lJHl9PL35Nd%0Am3aR+iiV8FsR3L1+lypuVZ75mhqNBsuilgBYFbMiRrePKOdajpP7TwFwMvQUjbLVwZAqubkScT2M%0AyFsRpKemEbp5H+5++v1Afb8G7P75bwAObg2lhlctAGo1qcPNi9e5ceE6AEnxiWiMeDAG2rzhWfIe%0A2LyP+tny1vNrwB5d3kO55L2ZS15zSwsC+rXl16X6V/oYCy//Rpnt/MLxixS1tsIm2/7exsEGy6JW%0AXDh+EYAdG0LwatEI0G0n67XP37H+ye/PHztP0r0k7f8fv5DZDwCZEzomJiaYmKjJMkwocPmVPz4m%0AnkunLpOWlnPyzpjyZ+XdohHbdO/FueMXKPaMvv9cZt8fktn3H95zNEvffwEHZ+3BXI0GLCyLoNaN%0A/VJTU0lOul9QsZ6r0uMx763HY969NMi27bv7efD3z38BcGDrfmrqxnygHQ9H3Irg1uWbes+xdbKl%0AXrP67FwTkv8hXkNFt0pE3ggnSrfvO7x5H3X83fXK1PVvwP6fdwFwdOsBqjWqCYAGMC9igUqtwtTC%0AjLRHaTxMNI6TFV5UYc+fVRm3SsTciCDuViTpqemc2XyAav719MrE344m4uKtZ64l/naAB1d2nSL1%0AYc7xoDEr7fYWsdcjiLsVRXpqOmc3H6SK31PyZ+jvuDUaDSbmpqhNTTAxM0VtoiYp+l5BVv+1FObs%0AIPkLY/4Kun1/9K1I3b5/P27Z9v1u/u6E6vb9x7YeoKpu3+/sWoYLodpjAIkxCdxPuE/5Wm+hKAqK%0AAmaW5gBYFLMk3kiPdwnxqgrdJIaiKL8pinJMUZRziqIM0P2ur6IolxVFOawoyleKonyh+729oig/%0AK4pyRPfjZdjaFx42TrZE332ypElMWAy2jvoHcW2zlMlIz+B+YjLFSloD4OpWmc92LmPJjqWsnLSc%0AjPQMYiNi2bjqV1Yd/IZvjn5PckIyp/aeKLhQL8E2W/7osOhc80fdjQIe57+PtS7/Y14BXlw9e5W0%0AR/oHra2srWjQvAGndAcvjY29kx2RumwAUWFR2DnZ6ZWxc7IjKixrmWjss5UBaN25FYf+PpLj976t%0Am3D57BVSHxnf8jKOTg6E343I/Hf43UgcnB30yjg4OxAR9mQpiYi7kTg6acvMmxLMmOnD+evEZsbN%0AGM7iOcsKpuJ5wNbJLrNdg7bt2znpt307J1uismz7ybm0/ex6ju3Bz1/9QsoD4zgb3c7JNlsbj8Y2%0AW/vN+l5ocyZjXdIa2xzbh/Y9etZrLhq3hLnfz+anw/+h+QfvsGbZWgCuXbiGdytt1+bd0gurYlZY%0AlzCOCXEbJxtiwvT7gZJONjnL6PUD9ylWshilKpRCo4FJ30/nky2LaDvw/QKt+6so+Rp5nXV5J3w/%0AnblbFtEmS96Oo7uy5auNpDwwzoM5dln6MnjSnnOUCct9v1DSriSxkdovaLGRsZS0K5njb7Tq3JLD%0AWfoBlUrFl9tX8POpdRzbe5yLJy7maaaXURD5szOm/Flp+/4n/VpkWFSOft3eyY7IMP3xwdP6/gN/%0Aa5ea+HvLbh7ef8DGExv45fBP/LRyHYnxxrO0gq2TbbZtPxobp5xjvpgcY95iWFha8P7g9qxbknOC%0Avs/0fnw/91ujn8At6WhDbJYxb2xYLCWzjXlLZCmTkZ7Bg8T7FC1ZjKNbD5Dy4CFLDq9mUeiXbPtq%0AE8m6yUuNRsOYH6YxffN8fLr4FVygl1TY82dl7ViSe3djMv+dEBaLtaPNM56Ru1ptPDm9KfT5BY2M%0AtZMNCWHZ8js9f58OcPv4Va4fOM+YI8sYfWQZV/ecJvrq3fyqap4rzNlB8hfG/CUdbYjLsu+PC4uh%0AZLb9XdYyWff9ty9cx625Oyq1CrsyDpSrWZGSzrakp6Xznylf8fG2YBYe/opSlcqwd+1fBZpLiPxW%0A6CYxgD4ajaYeUB8YrihKaWAq0BDwArJeU/8ZsFij0bgD7YFc1yhRFGWAoihHFUU5uvp741pjt7C6%0AcvIyI5oHMq7NKNoHfoipuSlWxa1o4OfBIK9+9HXviYWlBT7v+xq6qvmmbOWy9JnYh6UTl+r9XqVW%0AMX7peDb93ybCb4YbqHYFo/vwrqSnpbPjl516vy9fuRyDJvVnwfjFBqpZ/urcqz2fTFtMszpt+GTq%0AEmYvmWLoKhlUxeoVcS7nTOi2N+8LbV5p3+99JvWYQpcG3di+bgeDpg0A4MvZq6jVsCYr/1hGrYY1%0AiQqLIt3ID3i9CJWJiqru1Vg6Iphp7Sfi3tIj86qF/0UqExVV3KuxbEQwM9pPpH5LD972qkW56hVw%0ALOfE0e2HDF3FAqPJdlmBW6PatOrckq/mPBnCZWRkMLDFYDq5d6WqWxXKVylfwLXMP9nz5+Z/OT9A%0Aj+Ef6fX91d2qkpGeQbu6H9Kh4Ud0GdiRUmWdDVzLvNEpqAubV2/MsVxcvWb1uRdzj2tn/zFQzQpG%0AhdqVyEjPIMijP2MbD6ZFvzbYu2iXCpvbYQoz3h1LcK/ZNOvRksoNqhu4tnmvsOfPTVH7EjhWceHK%0AG7aU1OuyKeeIXaVSBDccRrDHUCo0epuy7lUMXa0CUZizg+QvjPn3rfuLuPAYpmz+lE7Te/PPsUtk%0AZGSgNlHj260FM1uPZUyD/ty+eIOAIcZ/Ilehpckw7h8jVRhv7D1cUZTHW7IL0B3YrdFoYgEURVkP%0AVNY93hyorijK4+daK4pSVKPRJGV9QY1GswpYBZAafc1ILsp/s8WGx2BX6smZdbbOtpnLAD0WoysT%0AEx6DSq3CspgViXEJemVuX73Nw+QHlK1SLvOmlwmx2jIHt4VSpV41dv+6K9/zvKyYbPntnO1yzW9f%0Ayj5LfksSdPltnWyZumoqi4IWEX5Df6Ji+CfDuXP9Dhu/3pj/QV7C+z3b0eajAAAunryEQ6kna/ra%0AO9vnuNlwdHg09s5Zy9gRlaVMq44taNTck5Edx+g9z97Zjrlfz2TOiE+4eyMsP6K8kq59OtCh23sA%0AnD1xHqdST9brdirlQGSWqy4AIsMiccxydYZjKQciwrVl3uvUOvMm39s27WTW4kn5Xf08ExMejX2W%0Az97O2Y7ocP22Hx0eg30pO6LDo1GpVVhlafu5qV6vGpVrufJd6LeoTdSUsC3O/HWfMq6j4daIjg6P%0AydbG7YjJ1sYfvxdPclqREJdATHh0juc+fo9ye83iNsV5q3pFLp7U3hx+1+bdzPthjvZvRMTy8QDt%0AzV4tLC1oHOBNckJy/oR+SbHhsdg66/cDceGxOcuUsiM2y34wMS6R2LAYLhw6R6LuRnYn/j5OhRoV%0AObvfeA9qxL1m3otZ8p7U5X2Y/JCKtSrx+b5VqExUFLctztQ1s5nV2bATm+16tiGgq3Z/f+nUJb1t%0A3v5p27xz7vuFuOg4bBxsiI2MxcbBhviY+MxyFatVYPT8ICZ2n0xCLmfeJyckczL0FO6+9bl+6Xpe%0ARnymgsr/PIbKn9UHPdvR9qPWAFw4eQmHUk/6NQdne71+HSAqPDpzmSjQjg+ylgno2AKv5g0ZnqXv%0A93v/HQ7uOkJ6WjrxMfGcPnKWqrUrc/emcYwBYsJjsm372m08R5kcY95EXN0q49mqET0m9sLK2ooM%0AjYZHKanYONri3rwBdX3rYWpuhmUxS0YsGcVnI4MLOt5zxUXEYpNlzGvjbENctjFvvK5MXHgsKrWK%0AIsUsSYpLpGG7xpzZfZL0tHQSYxK4euwi5Wu9RdStiMwlNBJjEji+/RAVa1fi8uHzBZrtRRT2/Fkl%0ARMRRvNSTq1CsnW1IeMmlUGq+25Dz24+SkctSesYuITwWa+ds+cPjXui5VVvW5/aJqzy6nwLA1b9P%0A4VLXlZtHLuVLXfNaYc4Okr8w5o+LiKVkln1/SWdb4rLt7x6Xyb7vB1g769vMchN+nkPEtTBcqpcH%0AIOqmdkWHI1tCCRgskxjif0uhuhJDURRftBMTnhqNpjZwAnjWNfQqoKFGo3HT/ZTOPoEh8seVU1dw%0ArlAKBxdHTExN8G7ThCMhh/XKHAk5RNMO7wDQKMCLM6Hag1MOLo6o1NqmbV/antKVyhB5K5KoO1FU%0ArlsVMwvtGoG1vGob7c0OL5+6TKkKpXDU5W/SpgkHQw7qlTkUcojmHbQ3dfIO8Oa0Lr+VtRUff/sx%0A//fJ/3H+qP6XlR5jemBVzIpVM1YVTJCX8Ot3G+njP5A+/gPZu30/LTv4A1C9bjWSEpKJidTv1GMi%0AY0lOvE/1utobd7Xs4M++7fsBaODrTtfBnZjYawopD1Myn1PU2or5389l5dyvOHP0XAElezE/frOB%0AD5p144Nm3fjzj92066g9wFW7Xg0SE5KIitT/QhsVGUNSYjK169UAoF3HAP76Yw8AkeFRuDeqC0DD%0Axu7cuGac7Tw3l05dpnT5J23ft61PjrZ/MOQgfrq237h14+cui/b7D1voWr8bPRv1YvQHo7nz7x2D%0ATmCA9sBl6fKlccrM6UtotpyhIQfx76BdAqJJ68aZ964IDTmIb1tfTM1McXJxpHT50lw6eempr5l4%0ALxGrYlaUrqC9QV7dxnW5qdv3WZe05vFEfZehndm2dkdBvQXP9c+pKzhVcMbexQG1qQmN2nhzNFs/%0AcHTnYXzaNwWgYUAjzoWeAeDU7hOUrVou8x5I1T3e5vYV494Osuf1bOPNsWx5j+08TBNdXo8seU/v%0APoFLlrzVPN7mzpVb7PzPNoY06MNw7wHM6DCJsH/vGnwCA2Djd5sZ2GIwA1sMZv+20Mx2Xq1uVZIT%0AkzOXR3osNjKW+0nJmTeg9u/gx/4d2iurQkMO4v+h9vn+H/oRuuMAoJ3Qm/HVNOaNmM/tf+9kvlZx%0Am+JYWWvvGWRmYUa9xnW5VcBjgYLI/zTGkD+rX77bSC//AfTyH8Ce7ftoqXsv3n5O3/92Zt/vx77t%0A2vfCQ9f3j8/W90fciaSeVx0ALIpY8HbdatwwovHf1Rxj3sYcCdG/eurIzsM0bd8MAM8sY94pH05k%0AkHd/Bnn35/dvNvPLsvX88d0W/jv/e/o37MMg7/4ED1vAmdDTRjmBAfDvqas4lHfGrox239egjTcn%0AQo7qlTkRcgSv9r4A1A/wzFwLPPZuNNUaacdBZkXMqVinMmH/3MGsiDkWVhaZv6/RuDa3s90zxFgU%0A9vxZ3Tn1D7blnShZxh61qZqabTy5GHLspV6jVltPTm9+M6+8vXvqGrYVnCjhos1fo01DLr1g/nt3%0AYijvUQ2VWoXKRE25hlWJunrn+U80EoU5O0j+wpj/+qmrOOrt+704FaK/BPapkKM00u376wV4clG3%0A7zezMMOsiPaYVnXvWmSkpRN29TZx4bE4u5ahqI217rHahF29XXChhCgAyotcdv6/QlGUdkA/jUbT%0ARlGUqsBJoC8wB6gDJAJ/Amc0Gs1QRVF+BE5oNJoFuue7aTSak8/6G4a6EmPs9E84cuI08fEJ2NqU%0AYEjf7rRv06JA69Cx7og8fb26TevRd3p/VGoVf67dyYYv1tFl1EdcPXOFIyGHMTU3ZeSSUVR4uyJJ%0A8UksGjqfiJsR+HzQlA+GdCA9NY2MDA3rPlvD4R3ag4OdR3XF693GZKSnc+3cNZaN+zzH/SJeVQp5%0Ae8ZP/ab1GTh9ICq1ih1rd7D2i7V0G9WNK2eucCjkEKbmpoxZMoa33n6LxPhEPh36KeE3w+k8rDMd%0AAztyJ8tBmyndpmBiasIPh3/g5pWbmfeB+P2739m+Znue1DcxPeX5hV5C0JzhePi68/DBQ+aNWsCl%0A05cB+GbHl/TxHwhAlVqVmbR4HOYW5hz8+zBLpmiXzvpp3/eYmptmnp1/7vgFFk1YQo8RH9FtaBe9%0AA1qjuox/qTNXcxOdmvdra0/9ZCzezTx5eP8hk0bM4twp7U1Mf/nrP3zQrBsAb9euxrzPp2FexJy9%0Af4Yye+JCAOp61GbS7FGoTbQ3dJ85fj7nT1/EzsGW9Tu+pWgxKzIyNNxPvs+73p1JTnq9M+/Lmuft%0ADeLdm7ozaMYAVGo1O9bu4Kela+gxujuXT1/moK7tj1sylko1tG1/buAnmUujfRf6LVbFLDExNSEp%0AIZlJH03m5pUnX9wdyzgw82jDy64AACAASURBVNuPGdh8cJ7VN51Xu9yyQVN3hswYhEqtYtvaHfy4%0A9Cd6ju7B5dOXORByEFNzUyYsGUelGpVIjE9kTuBcwnQ5uw7rQstO/qSnpbN8xkqO7Dr61NcE8GrZ%0AiF6je5CRoSHpXiILxwQTdjOcxgHe9J3QBzQaTh86w9Ipy176PjG2qiKvlP9FuDWtR89pfVCp1exa%0At5Nfv9jAh6O6cO30VY7tPIKpuSlDF4+k/NsVSYpP5LOhi4i8pT37yPt9H94b0h40Gk78fZz/zvsu%0Az+uX12eCuDWtR48seX/7YgMdRnXh3yx5h2TJuzRb3nZD2qPRaDj593F+zJbXrowD476ZzDj/vOur%0AI9Pz5ubIw2cPxd23Pg8fprBg1EIun74CwJfbVzCwhXZbrVzLlXHBYzG3MOPwriMsnaK91491iWJM%0AXTkFh9IORNyOYNbgOSTGJzJ6QRCNW3kTcUd7hVp6WjpDWg+lYrUKjFs8FrVahaKo2P37bn5Y8t88%0AyfGq8iN/SfuSrNj6BZZFLdFkaHhw/wF9mvbHycUxz/I/1OTN+CmrUXOG09C3AQ8fPGTuqPlc1PX9%0A3+5YRS9/7TJ4VWtVZvLi8Zl9f/CUzwFYu++HbH3/eRZMWEIRSwsmLR5PBddyoMDWtdv5ceXa166r%0Ao0nR136Nx+o2rUefaf20Y951O/n5i/V0HtWVf05f5chO7Zh3xOLHY95EgocuIOJWhN5rdBrZRXvv%0Aj1W/6f3+7YY1aDfgfeb2mZVn9S2umObZawHU8q1Ll2m9UalV7F33F78v+5n3gjpz/cxVTu48iom5%0AKQOCh1P27Qokxyexcthiom5FYG5pQd8FgZRydQEF9q3/m22rNmLv4sjQVeMAUKvVHNy4l9+X/Zyn%0Adc5Lb1r+0pjn2WtlV9nXjYBp3VGpVRxbt4vdyzbyTlAH7py5xsWdxyldqyJdvwyiSHEr0lJSSYy6%0Ax1J/bdYSZewYsGEGCzyHvdDSeq/KRKM8v9Arcm1am5bTuqOoVZxYt5u9X2yk6aj23D39L5d2HqdU%0ArYp0XhWERXFL0lJSSYq6x3K/8Sgqhdaze1POoypo4OruU2yfZdi+7WUV5uwg+d+E/LeVvD3eUdO3%0ADp10+/796/5iy7JfaBfUietn/uGUbt/fL3g4Zd8uT3J8El8OW0z0rUhsy9gT9N0UNBoNceGxfDt+%0AObF3tFel+nzkT/PeAaSnphNzJ4pvxnxBcnzenIe9+vqG/Nv5FUKPbp0y6oPxZi61jfLzLmyTGObA%0Ab0B54BJQApiBdvmosUAs2iszbms0msmKotgBy4BqaJfe2qPRaAY9628U5uWk8noS402T15MYb5q8%0AnsR4k+THJMabJK8nMd40rzqJ8b8iPycxjF2hupw1F3k1iSHeTPkxifEmyctJjDdNXk9iiDdLfk5i%0AvAnycxJDCGG88noS400jkxh569GN40Z97NisXF2j/LwL1T0xNBpNCtAq++8VRTmq0WhWKYpiAvyK%0AdqIDjUYTDXQq2FoKIYQQQgghhBBCCCGEEALkJMLHZiiKchI4C/yLbhJDCCGEEEIIIYQQQgghhBCG%0AU6iuxHgajUYzxtB1EEIIIYQQQgghhBBCCPE/TFO4l6R+VXIlhhBCCCGEEEIIIYQQQgghjJJMYggh%0AhBBCCCGEEEIIIYQQwijJclJCCCGEEEIIIYQQQgghRH7LkOWkXoVciSGEEEIIIYQQQgghhBBCCKMk%0AkxhCCCGEEEIIIYQQQgghhDBKspyUEEIIIYQQQgghhBBCCJHPNBpZTupVyJUYQgghhBBCCCGEEEII%0AIYQwSjKJIYQQQgghhBBCCCGEEEIIoyTLSQkhhBBCCCGEEEIIIYQQ+S1DlpN6FXIlhhBCCCGEEEII%0AIYQQQgghjJJMYgghhBBCCCGEEEIIIYQQwijJclJ5rGPdEYaugsGsO/6ZoatgUP5uAw1dBYNqYupo%0A6CoYzH5FMXQVDEqDxtBVMCiNpnDnT8hIMXQVDMpOVcTQVRAGolYK97lAak3h7vsKs0RNqqGrIAzo%0ATiHf9JVCPu4XorCSvk/kKY0sJ/UqCve3LyGEEEKIVyQTGEIIIYQQQgghRP6TSQwhhBBCCCGEEEII%0AIYQQQhglmcQQQgghhBBCCCGEEEIIIYRRkntiCCGEEEIIIYQQQgghhBD5LSPd0DV4I8mVGEIIIYQQ%0AQgghhBBCCCGEMEoyiSGEEEIIIYQQQgghhBBCCKMky0kJIYQQQgghhBBCCCGEEPlNk2HoGryR5EoM%0AIYQQQgghhBBCCCGEEEIYJZnEEEIIIYQQQgghhBBCCCGEUZLlpIQQQgghhBBCCCGEEEKI/JYhy0m9%0ACrkSQwghhBBCCCGEEEIIIYQQRkkmMYQQQgghhBBCCCGEEEIIYZRkOSkhhBBCCCGEEEIIIYQQIr9p%0AZDmpVyFXYgghhBBCCCGEEEIIIYQQwijJlRhGrI5PXfrO6I9KrWLnmhB+Wb5B73ETMxNGLB7FWzXf%0AIjEukYWB84m6HYlrbVcGfzJUW0hRWLv4Rw5tPwhAm77taN7FHzQably8ztIxn5GaklrQ0fLUlLnB%0A7Nl/GJuSJfjtPysNXZ3XNmzmEDyaNeDhgxQ+DVrAlbNXc5SpXNOV8YvHYm5hxqG/DrN02nIAipUo%0AxrTlk3FycSL8VjgfD55N0r0krIpZMunzCTiWdkCtVrP2yw1sW7cdgE//M5fqdapx5shZJvWaWqBZ%0AX5SrTy1aT+uBSq3i6Nq/2bNis97j5RtUpfW07jhWLcvaYUs598fhzMeKl7Ll/U/6U7yULWg0fNd7%0APvG3ows6wksbNjOQhrp28EnQ/Ke2gwmLx2FuYcbBvw6zdNoyAHxaN6HXqB6Ucy3L4HeHcun0ZQCq%0AulVhzKdB2icrCt8Gf8++bfsLLNOz1Petx+AZg1GpVWz7aRtrl6/Te9zUzJSxS8bgWtOVxLgE5gyZ%0AR8TtCAA6B3aiRecWZKRnsHz6Co7tPgbA96Hf8SD5PhnpGaSnpzO09XAAJi2fiEvFMgBYWRclOSGJ%0AwS0DCzBt7gJnDsGjmTspD1KYH7Qw18/ctaYr4xaP0W37R1iWZdufunwyji6ORNyKYKZu23+sSu3K%0ALN34GbMD57Jny14A+k/qi0czDwD+89l/2bV5dwGkfLZ6vvUYNGNQZjtYv3y93uOmZqaMXjIa15qu%0AJMQlMG/IPCJvR1KsRDEmfzmZyrUrE7I+hBVTVwBQxKoIC35ekPl8O2c7/v7lb778+MsCzfWiavrU%0Aofv0PqjUKnat2cnvK37Ve9zEzISBwSOoULMiSXGJfDF0EdG3o2j0XhMCBrTLLOdSrRxTW4/h5vnr%0AqE1N6DmzH1Ub1kCTkcH6hT9y9I+DBR3tmfKj7bu85cK44NFUqlGJb+Z/y/ovn4yhrKytGLNgFOWr%0AlEej0bBw9CLOH79QYHmzyo993wf93qdl55aAhn8vXmfh6EWZY71e43rSpHVjMtIz+P2HLfz2fxsL%0ANO/zDJ8ZSMNmHqQ8SGFe0Hwun72So0zlmq5MWjwOMwtzDv51iM91fZ/vu03oPaon5VzLMrB1YGbf%0AB1CxWkXGfBqEVVFLNBkZDGg9hEdGNP6t41OXPtP7oVKr2blmB7+u+FnvcRMzE0YEB1GxZiUS4xJY%0ANHQBUbcjMx+3K2XHZzuXsW7JT2xc9Rum5qbMXjcPUzNTVCZqDmzdz9rFPxV0rBfm5lOX3rr8f67Z%0AwW+55B+my58Ul0CwLr99GQeW/LmMu//cAeDKiUusmqzd/3cZ2w2fD5piVbwo3at3KvBML+NV8z9m%0AV8qOxTuXsX7JT2xa9RsAAb3b0LyLP4qisPOnHWz5ZlOBZnoZNXzc6DpN2/ftWfsnW3Pp+/oHD6dc%0AjYokxSeyYmgwMbejUJuo6f3pYMq9XRGViZrQX3axZbn2uf5936VJp+ZoNBpuX7rJ12O/IM2Itvmn%0A0b4XvVHUKvau/ZOtK37Te9zEzIR+wcMoV6MiyfFJT94LUxN6zh1A+ZpvodFo+PHj/+PSwXMGSvFq%0ACmP2/Mj8wZguNPrAB8viVgx5u7shYr2wwp7fzacOvadrj/f9uSbkGft+7fG+xXp93xeZfd/lE5f5%0AStf3zVgzm5IONjx6mALArO4zSIi5V7DBhMhHhf5KDEVRQp/xmK+iKL8XZH0eU6lUDJg9iFk9ZzD8%0AnUC82zahjKuLXpnmnfxJvpfEkCYD2bx6Iz0m9gLgxqWbjHk3iFGtRjCrx3QGzwtEpVZh42hD695t%0AGNs6iBF+Q1Gp1Xi3aWKAdHnrvQA/VgbPNnQ18oRHswaUrlCabt69WDR+CUHzhudabuS84Swct5hu%0A3r0oXaE0DZq6A9A1sBPH95+ge+NeHN9/gq6BnQF4r2c7bly5ST//QYz8cAyDpw3AxFQ7h7l2xXrm%0Ajvi0YAK+AkWl0GZmb77rNZ/P/MZSq20j7CuV1isTfzeaDWNWcnpjzs25Q/Bg9q76nc+aj2VFu6kk%0ARycUVNVfmUezBpSpUJqPvHuyaPxiguaNyLVc0LwRLBwXzEfePSmTpR38e+k60/rP4PShM3rl/714%0AnYEBQ+jXYhDjuk1k9CcjUasN3w2oVCqGzg5kco8p9G82AN92vpR1LatXpmXnFiTFJ9G7cR9+Wf0r%0AfSf1AaCsa1l82vow4J2BTO4+mWFzAlGpnmQa23E8g1sGZk5gAMwdMo/BLQMZ3DKQfX/sY98fhp/I%0AadDMnTIVStPDuzfB45cw4qnb/jCCxy2mh3dvvc+8i27b79m4N8f3n6BL4JMDNiqViv6T+nF0z7HM%0A33k0a4BrDVcGtBjE0DbD+XBgByyLWuZvyOdQqVQEzg5kao+pDGw2MNd24N/Zn6T4JPo27stvq3+j%0Aj64dPEp5xA8Lf2D17NV65R8kP2Boy6GZP5G3I9lvJBN32SkqFT1n9WdBz9mMbz4Cz7aNKeVaRq+M%0AT6fmJN9LYoxPINu+3kynCT0ACP1tD1MCRjMlYDQrgz4j6lYkN89fB6Dd0PYkxNxjXNOhTGg+gotG%0A9sU+v9p+YnwiX0xbrjd58djQj4dwZNcRevv2ZYD/IG5cvZl/AZ8hP/Z9tk62vNe7HUPfHcaA5oNQ%0AqVT4tvUFwL+jH/bO9vT17U+/ZgPYtWlXASd+tobNGlCmQhm6evdgwfhgRj2l7xs9byTzxwXT1bsH%0AZSqUwaNpA0Dbx03pP51TB0/rlVerVUz9fCKLJiymZ7O+DP9wNGmp6fme50WpVCr6zxrI7J4fM6J5%0AII1zHfP7kXQviUCfgWz+ehM9JvTUe7z31L6c2HU889+pKalM7zKFUa1GMLrVCOr41KVynSoFkudl%0AqVQq+s0ayJyeHxPUPPfvPO908iP5XhLDfAby+9eb6JYlf8SNcMYGjGRswMjMCQyAozuPMKHdmALL%0A8apeNz9Az6l9OZnl83epXJbmXfyZ0HY0o1sOp9479XEq51wgeV6WolLRfWZ/Fveaw2S/kXi09aZU%0AJf2+r3HHd0i+l8QE36Hs+Pp3Ok7QHph0D/DExMyUqS1H8fG7Y/Ht6o9tGXtKONrQvFcAH7cZx9QW%0AQahUKjzaeBsi3ktRVCq6zezH4l5zmOIX9Iz3IpmJvsPY8fXvfDihGwA+nZsDMK3laBZ2m0mnyT1Q%0AFKXAM7yqwpg9vzKf/PMos9pNKNgwr6Cw51epVPTN3PcPxatt4xz7/ma6vn+Yz6Ac+/7wG+GMDQhi%0AbEBQ5gTGY5+NCM58TCYwjFhGhnH/GCnDH70yMI1G08jQdciNq5srYdfDiLgZQVpqGvs276GBv4de%0AmQb+Hvy94U8AQrfup5ZXbQAePUwhI13b6EzNzdBoNJnPUZuoMLMwQ6VWYV7EnNiI2AJKlH/qu9Wk%0AuHUxQ1cjT3j5e7Jjw04ALhy/gJV1UWwcbPTK2DjYYFXUkgu6s0Z3bNiJdwttM27k34jt60MA2L4+%0ABC/d7zUaDZZWRQDtmcmJ8Ymkp2m/wB/ff4L7yffzP9wrKuNWidgbEcTdiiQ9NZ3Tmw9Qzb+eXpn4%0A29FEXLyFJtu6gvaVSqNSq/ln31kAHt1PIfXhowKr+6vy8m/E9g3az/H88QsUfUY7eHz28PYNIXi3%0A8ALg5tWb3Lp2O8frpjxMIV23bzAzNyPLrsGgqrhV4e71MMJvhpOWmsbuTbtp5O+pV8bT35MQ3bax%0AZ8te6ni5AdDI35Pdm3aT+iiV8FsR3L0eRhW3Fz9Q4/NuE/7euCvPsrwqL/9G7NB95heOX6SotVWu%0An7llUSsuHL8IwI4NT7bxRv6e7NBt+zuybPsA7/Vux96te4mPjs/8XbnK5Th96AwZ6Rk8fPCQfy/+%0Ai7tv/XzN+DyV3Spz9/pdvXbQ0L+hXhlPf0926trB3i17cdO1g5QHKZw7co5HKU/fvktXKE0JuxKc%0APXQ2/0K8hrfcKhFxPYyoWxGkp6ZxcPM+6vk10CtT18+dfT//DcDhrQd426tmjtfxbNuYg5v3Zf67%0AScd32LzsF0DbFyTFJeZjipeXX20/PiaeS6cuk5amf7DaqpglNT1qsvWnbQCkpaaRnJCcfwGfIb/2%0AfWoTNeZ6Y70YAN7t/i7//ey/mePCeCP7YuvdwovtG3YAur6veFFss7UFWwcbLItl7ft20Liltu+7%0AcfUmt/7J2fe5+9TnnwvX+Of8NQAS4hLIMKIvZ5Uej/lvPR7z76WBn/6Y393Pg79//guAA1v3U1M3%0A5gft94GIWxHcuqw/Gffw/kNA2x5MTE30vg8Yk0puroRfDyNSl3//5r2455J/11PyP82VE5eIj4zL%0AlzrnpdfN7+7vQWS2z79MJReunLzMo4ePyEjP4Pyhc3i01N+3GIuKbpWIvBGe2fcd3ryPOv7uemXq%0A+jdg/8+7ADi69QDVGmn7Pg1gXsQClVqFqYUZaY/SeJj4AAC1Wp35ndesiBnxb8B33ifvRSTpqWkc%0A2rwft2zvRR1/d0JzeS9KuZbhQqh2fJMYk8D9hPuUr/VWgdb/dRTG7PmV+dqJK9yLisfYFfb82n1/%0AuN6+v362cb+7nwe7dfv+g1v3U8OrliGqKoRRKfSTGIqiJClaCxRFOasoyhlFUbJec2ytKMoWRVEu%0AKYqyUlGUAnnPbJxsib77ZMmbmLAYbB1t9crYZimTkZ7B/cRkipW0BsDVrTKf7VzGkh1LWTlpORnp%0AGcRGxLJx1a+sOvgN3xz9nuSEZE7tPVEQccQLsnOyI/Luk8vDo8OisXOyy1EmKuxJ24gKi8osY2NX%0AkthI7SA9NjIWG7uSAPz67UbKupZlw7E1fLNzFV9MW260X2azs3Ysyb27MZn/TgiLpbijzTOe8YRd%0ARWceJiTTdeVIArfMpeXErigq4z8zx97Jjqi7UZn/jgqLwj5bO7DPpR1kL5ObanWq8n9/rub/dn5F%0A8MQlmZMahmTnZJstbzS2TrZPLZORnkFyYjLWJa2xzfZc7Taje65Gw7z/zmXZlqUEdG2V4+/W9KhB%0AXHQcd6/fzYdULye398Aut/cgLPesJbNt+yV1276dky3erbzY9L3+RYX/nL+Gu299zC3MsS5pTW3P%0A2jiUss+XbC/KLlu7j86lHeTs9+5jrev3nsenrQ97Nu/JuwrnsZJOtsSGPdnXxYbFUNIp28F8J1ti%0AdPvDx/mLltSfxPdo48XBjdpJDEtr7dU17cd0YdaWhQxbPgZru+L5GeOl5VfbfxonFyfuxcYzLngM%0AK7ctZ/SCICyKWORVnJeSH/u+mPAY1n+5gf8c/IE1x37kfmIyx/Zoz9AuVc4ZnzY+fLHlc+Z8P4tS%0A5UsVQMoXpx0D6fd9uY+BsreXZ/d9LhXLoEHDwv9+wuptK+ky2LiWFrJ1siUmLOuYPxqbXPZ9MTnG%0A/MWwsLTg/cHtWbdkTY7XValULNq6hP87/gOn9p7kysnLOcoYAxsnW6Kfk98m1+882n2fg4sjC7Yu%0A4eO1c6nmXr3gKp5HXie/haUF7w1uz/psn//Nyzeo5l6doiWKYWZhRp2m9bAt9fwxoiGUdLQhNst3%0A3tiwWEpm+85bIkuZjPQMHuj6vqNbD5Dy4CFLDq9mUeiXbPtqE8n3koiPiGXbV5tYGLqSJYdX8yDx%0APuf2nirQXK+iRLb3Ii4shpLZvvM87b24deE6bs3dUalV2JVxoHzNitg467+PxqwwZi+MmbMq7Plt%0AsvX9sWExOcaANk42z+z75m9dzMdr51A1W98XuHAYC7Yupv3wjvmcQoiCV+gnMXQ+ANyA2kBzYIGi%0AKI+vuW0ADAOqA2/pyhq9KycvM6J5IOPajKJ94IeYmptiVdyKBn4eDPLqR1/3nlhYWuDzvq+hqyry%0A0eOJCnff+lw99w8d6nWmX4tBDJ891OBLxxQElVpFefeq/DHnR1a0nULJsg7U7eBj6GoZ1IUTF+n9%0ATj8Gtg7ko6FdMDM3NXSV8k1Q+9EEBgxlco8ptOnZhpoeNfQe923naxRXYeSHx9v+kBmD+Wru6hyT%0Alsf2HOPQX4f5fOMSpiybxPnjF4xiQis/+bT1Ydf/6Of92Fturjx6kMJt3Rm5KrUa21J2XDl2iamt%0Ax3Dl+CW6TO75nFd5sz1vgl5tosa1hiubfvidQS2H8PD+QzoHGtdB7ddRtHhRGvl70qNRL7rU/wgL%0ASwveeb8ZoL2/xqOURwxtPZytP25j9KJRBq5twVCr1dRyr8GsoXMJfG8EjVt5U9e7jqGrlSc6BXVh%0A8+qNmVddZJWRkcHogJH0b9iHSm6ulK1cNpdXeLPFRcYyyLMvYwNG8t2srxnx+WiKFC1i6GoVmI5B%0AXfg9l8//ztXb/LbyF6b+52OmfP8x18/9m3mV/v+SCrUrkZGeQZBHf8Y2HkyLfm2wd3HE0tqKOn7u%0AjGs8hCCP/phbWuD53pu/hPKz7F33F3HhMUzb/Cldpvfm6rFLRnXFWX4qjNkLY+asCnv+uMhYBnv2%0AY1xAEN/N+kav7/t8RDCjW4xg6oeTqOZenSYfNDVwbYXIW3Jjby1v4CeNRpMORCiKshtwBxKAwxqN%0A5hqAoig/6crqLbCsKMoAYACAW8malC9a7rUrFBseg12WM2ZsnW2JiYjRKxOjKxMTHoNKrcKymBWJ%0Acfrr/d++epuHyQ8oW6Vc5k0vE2K1ZQ5uC6VKvWrs/nXXa9dXvLr3eralddcAAC6euoRDKQdAu2a5%0AnbMd0eH6N6GODo/G3vlJ27B3ts8sExsdh42DjfYqDAcb4mK0l1K26tiCH5dpz9K6e/0uYbfCKVvJ%0AhYsnL+V3vNeWEBGnvSm3jrWzDfde8JLwhPBYwi7cIO6W9uqWCzuO4lKnEsfWPeeJBvBez7a8m9kO%0ALmOf5ax4e2d7orK1g6hc2kH2Ms9y8+pNHiQ/oEKVCno3PzWE6PCYbHm1+7XcykSHR6NSq7AqZkVC%0AXAIx2Z6r3Wa0z338GvEx9wjdFkoVtyqc0S0lpFKr8G7pRWDAsPyO91TterYhQPeZXzp1Kcd7EJ3b%0Ae+Cce9a4bNt+vG7br1yrMlOWTQKguE1xGjRrQHpaOvu3h/Lj0p/4can2Rq+TvpjA7X9zLsNSkKLD%0Ao3N8ltnbweN+73E7sCxmSULc8+9zU6FaBVQmKq6eyXnDaGMRFx6jdxaZjbMtceH6+7rY8BhsS9kS%0Al9nvW+otD9WwjTcHNj1ZSiopLpGU+w8zb+R9eEsoPp3eyeckz1cQbf9posKiiQqL4uIJ7dJUe7bs%0ANdgkRn7s++p41yH8VgT3YrVLRe37Yz/V61fjz1//Ijosmv26ewDt37afMUYwifF+z3a8+5Gu7zt5%0ASe+KsKzjm8e0Y6Ds7eXZfV9kWDSnDp3hnm5fcfCvQ1Su4crxfcZxNXJMeAy2zlnH/HbE5rLvs80x%0A5k/E1a0ynq0a0WNiL6ysrcjQaHiUksof323JfO79hGTOhp6hjm9dbl42zP1fniU2PAa75+R//L0o%0ANlt+gKRH2v9eO/sPETfCKVWhNP8Y8b4+u9fJ7+pWmYatGtE92+e/7bst/LU2hL/Wapfa6zq2OzEv%0AMUYsSHERsdhk+c5r42xDXLbvvPG6MnHhsajUKoro+r6G7RpzZvdJ0tPSSYxJ4Oqxi5Svpb3Rb9St%0ASBJ133mPbTtIpXpVOPCb8V6NCU9yPlbS2Za4bN95nvZeAKyZ9W1muUk/zyHiWliB1DsvFMbshTFz%0AVoU9f2y2vt/G2TbHGDA2PPYF+74wnCuU5tqZq5nLxT9MfsC+jXtwdXNlzy9/F1Aq8TK0h5/Fy5Ir%0AMZ4v+yl9OU7x02g0qzQaTX2NRlM/LyYwAK6cuoJzhVI4uDhiYmqCd5smHAk5rFfmSMghmnbQHoxo%0AFODFmVDtjQwdXBxR6W7Wa1/antKVyhB5K5KoO1FUrlsVMwtzAGp51eb21Vt5Ul/x6n77bhP9Wwyi%0Af4tB7N+2H/8O2htVVatbjeTE5MxlMh6LjYwlOek+1epWA8C/Q3P27zgAQGjIAVp86AdAiw/9CN2h%0AvdF1xJ3IzLMOS9qVwOUtF+7eeDM6+jun/sG2vBMly9ijNlVTq40nF0OOPf+JwO1T/2BhbYmljfay%0Ay4qN3ibyyp38rO4r++27TfRrMYh+LQaxb9t+WnTQfo7Vn9MOquvaQYsOfuzfkfPG5lk5uThl3sjb%0AsbQDZd9yIfxWeD6keTmXTl2idPlSOOn2dz5tfTgQclCvzIGQg/jpto0mrRtzcv+pzN/7tPXB1MwU%0AJxdHSpcvxaWTl7AoYk4R3X1gLIqYU7dJXa5fup75enUb1+HWP7eee/ArP238bjMDWwxmYIvB7N8W%0Air/uM69Wt+pTP/P7SclUq1sVAP8sn3loyEH8ddu+/4d+hOr2Cd0a9eAjT+3Pni17+XzyUvZvD0Wl%0AUmFdQrddVKtAxaoVObr7xbar/HL51GVKlS+FY5Z2cDBbOzgYcpDmunbQuHVjTu1/seUhfNv5snvj%0A7jyvc166duoqThWcsXdxQG1qQsM23hwPOaJX5sTOI3i3155R1SDAk/OhZzIfUxSFBu824mCWSQzt%0Ac45SzfNtAN72qsXdMsGkOgAAIABJREFUK4adrIKCaftPExcVR9TdKMpU1N48so53HW5cMcyB3fzY%0A90XdiaRqnaqY68Z6dbzcuHlFO9bbvz2U2o20a+nXaliL2/8avj/89buN9PUfSF//gezdvp8WHfwB%0AXd+XkExMtrYQExnL/cSsfZ8/+7bvf+bfOLz7CBWrVsDcwhy1WoVbw1pcv3IjfwK9gqs5xvyNORJy%0ASK/MkZ2Hadpee0WNZ5Yx/5QPJzLIuz+DvPvz+zeb+WXZev74bgvWNtZYWlsB2ntg1W7sxu2rht/2%0Ac5M9v1cu+Y/uPIxvlvxndfmtbaxRqbTjGgcXR5wqlCLipuHHNS/jdfJP/XAiQ7z7M8S7P1u+2cyv%0Ay9azTTeBZW2rXTrQrpQdHi092bvROA/g/3vqKg7lnbEro+37GrTx5kTIUb0yJ0KO4NXe9//Zu++w%0AKI7/gePv3aMoWAEVezRqYhINFsQONiyJJvnGRI3G3igWEHvvHbGXGKOJv8SSZo0K9hK7sUVjiy1S%0ABEQBSyj7++POk2bnuCN8Xs/jI3c3uzefvd2Z2Z2dWQCqt6hlnAs/+lYkFWvrR9na5LalbJUKhF7+%0Ah+hbkbxZpQI2uWwAeKdOJW5Z6P6f0t8nL1EkxbZwa1mHP9K0A/4IPkrtFNvivGFb2OSywSa3vtx/%0Ap25lkhKTskXMj+XE2HNizCnl9Pj1ZX9RCpcsbCz7j6a53nc05DDuhrK/5jPqvqJlihFxPQxVpxqn%0Am9JZ6ajWyJXrf1nezQtCvA4lu8yLbyqKosQBHYFeQAvAATgKuAFvA7+hn0rqmuHvJZqm/fS09X1S%0AqmWmbdCqDarRbXQPVJ3K9tUh/DhvDe3823Pp9EWOBB/G2taa/kH+lHm3LHExccz0nUb49XDc/9eA%0A/3m3JikhkeRkjTWzV3F4m/6kuK3/F9T5sB7JSUlcOXuF+YPmkPhvYqbkd83x2Zmynpc1cPQUjpw4%0ARUzMPRwdCuDd7Us+bdk0y/Ph6dIrU9bTb0IfXD2q8+jhI6b6z+CC4S75r7YuokfT3oD+7uohgQHY%0A5LLl8K4jzBkxD4B8BfIyetFIChcvTPjNcMZ6TSA2JhbHIo4MDhyIYxEHFOD7BasJ+Vn/UPjZPwVS%0AqlxJctvn5t6de0wPCOTI7qMZ5u1ZaluZbj79Ch4ufDDqSxSdyvE1u9g1fx2N/Frzz+krnA85TvHK%0AZWm/2I/c+e1JfJRA7O27zPEcBMCbdd+jxfAOoMCtM3/z69ClJCVkbq/3/sSI5yd6Sf0m9KGGh6th%0AP5huHC2xdOsiuhv2g7cqV2BI4EDDfnCY2Yb9oG6zOvQb70t+h/zE3Yvn0tnLDOowhCafNuYL77Yk%0AJerLhm+DvmPf1md3fLwIG+X1B/W5NnDFa0wvVJ3K1tXb+GHuKjoO+JILpy5yMPgg1rbWDA4axJvv%0AvUlsTCyTfCYTZrhQ0a5PW5q28SQpMZlFYxZxZNdRnEs5M/qrUYB+KpGd63byw9wnc0YHBA7g3PFz%0AbFq5+bXznqRlzvDlvhN8cfWozsOHj5juP4MLpy4CsHjrQno19QKgQuXyDAociG0uGw7vOsLcEfMB%0A/bE/ctEI47E/3msisTGpH+A8KDCAg9sPsWfTXqxtrVn82wIA4uPuEzRktvGhty/LRtG9asjpuDZw%0ApeeYnuh0Orat3saquav4csCXXDh1gUPBh7C2tWZg0EDjfjDFZ4pxP1h+YDl2ee2wsrYi/l48w9sP%0A57rh4vSyfcsY1WkUNzN46O/rcFIzd9qS9xtUpf2orqg6lT1rtrN+3k/8z78tf5+6zImQI1jbWtN7%0AVj9Kv1uGuJg45vsGcvtGOABv13yXNoO/ZOwnQ1Kt07F4IXrP6otdPntio+/xVcA849z6r+tWUlym%0ArMcU+37BQgVZuHkednns0JI1Htx/QNcGPbgfd5833ynLgOn+WNtYEXotjGkDZhB39+Vj0WXCY9Iy%0Au+wD+NK/Ax4t3UlKSuLSmcvMGhREwr8J2OezZ8icwRQuXogH8Q+ZM3QOV879/cp5f5ic8Nrxp+U3%0Asa++7nvwkMkp6r6vty2mm6e+nfVW5QoMnTUI21y2HNp5mKARcwGo16wO/Sb0oYCx7rtEQHv98dDk%0Af43p4NsOTdM4uOMwiyYuee28OlnZv/Y6HqvaoBpdR3XXt/nXhPDTvLW09f+Cy6cucSRE3+bvN+tx%0Amz+WQN/phBuO/cfa9G/Hw/sPWLfkV0q//QZ9AvujqiqqqrB/4z7WzlmdafnN7LvgqjSoRhdD/DvW%0AhPDzvLW0McR/1BB/31n+vGGIf5bvdCJuhOPWvBZt/duTmJCIpmmsDvyeY9v1F8E6DO1MvY/qU7CI%0AA3fCo9m+Kpg1QT9kcs4zx6vGn9Lnht9//ZJfARi/djJ5CuYlKSGJFRO+5vT+U5mW37xK5k5FWtmj%0AKu1GdUHVqexds4ON83/iY7+2XD19iT9CjmJla03PwL6UercM8TFxLOozi9s3wrG1y0W36T4UK18S%0AFNi3didblqwD4GO/NtT4sA5JiUlcP/s33wxZkGnnvAqme75eJY8qxm2xb80ONs7/mY/92nD19GXj%0AtugR2JdS775BfEwci/vM4vaNCBxLFGLAihEkaxoxYdF8M3gBUf9Y5uibp8mJsZsi5s+GdMDto3oU%0AKFKQmPA77F29nXVBFjgNAdkv/lgtc9s9VRpUo/Oobqg6lZ1rtmdY9veZ5Wes+2f5zjDWfW38v9Bf%0A79M01gT+wLHtR7DNbcu4tZPQWVmh6lRO7zvJivHLMm2qrbXX1ln+w0WzkYcnN1v0xfhc77ewyN9b%0AOjEUJRbIB0wDmqMfaTFB07TViqJ4AOOAWKAcsBPw1rSnX7HKzE6M7MZcnRiWIrM6MbIrU3ZiWDpT%0AdGJkJ5nRiZGdZVYnRnaVmZ0Y2U1md2JkN5nViZFdZUYnRnZmik6M7CQzOzGym5y954vM7sTIbkzZ%0AiSGEsFyZ3YmR3UgnRuZ6+MdGi752nMvlQ4v8vXP0lSdFURyBaE3fkzPQ8M9I07RdwH/7KWBCCCGE%0AEEIIIYQQQgghhIXKsTfSKIpSDPgdmGHuvAghhBBCCCGEEEIIIYQQIr0cOxJD07RbQAVz50MIIYQQ%0AQgghhBBCCCFEDpBJzyrJaXLsSAwhhBBCCCGEEEIIIYQQQlg26cQQQgghhBBCCCGEEEIIIYRFyrHT%0ASQkhhBBCCCGEEEIIIYQQWUaT6aRehYzEEEIIIYQQQgghhBBCCCGERZJODCGEEEIIIYQQQgghhBBC%0AWCSZTkoIIYQQQgghhBBCCCGEMLXkJHPnIFuSkRhCCCGEEEIIIYQQQgghhLBI0okhhBBCCCGEEEII%0AIYQQQgiLJJ0YQgghhBBCCCGEEEIIIYSwSPJMDCGEEEIIIYQQQgghhBDC1LRkc+cgW5KRGEIIIYQQ%0AQgghhBBCCCGEsEjSiSGEEEIIIYQQQgghhBBCCIsk00llskckmTsLZuPp0svcWTCrbX8sNncWzKpj%0ANX9zZ8FsbjyMNncWzOrN3IXNnQWzUhTF3Fkwq9yqtbmzYDbxJPJQSzR3NoQwCxs1Z59GPEhOMHcW%0AzMZK0Zk7C8KMdDn4fFfkbMlo5s6CWank7HOeB9LmF5kpWaaTehUyEkMIIYQQ4hVIB4YQQgghhBBC%0ACGF60okhhBBCCCGEEEIIIYQQQgiLlLPHgQshhBBCCCGEEEIIIYQQWUGT6aRehYzEEEIIIYQQQggh%0AhBBCCCGERZJODCGEEEIIIYQQQgghhBBCWCSZTkoIIYQQQgghhBBCCCGEMLVkmU7qVchIDCGEEEII%0AIYQQQgghhBBCWCTpxBBCCCGEEEIIIYQQQgghhEWS6aSEEEIIIYQQQgghhBBCCFOT6aReiYzEEEII%0AIYQQQgghhBBCCCGERZJODCGEEEIIIYQQQgghhBBCWCSZTkoIIYQQQgghhBBCCCGEMDFNSzJ3FrIl%0AGYkhhBBCCCGEEEIIIYQQQgiLJJ0YQgghhBBCCCGEEEIIIYSwSDKdlAWr5l6NXmN6oepUtq7aytoF%0Aa1N9bmVjRcCsAMpVKkfsnVgm+0wm4mYEVepVofOQzlhbW5OQkMCyics4eeAktrlsGbpwKEVLFyU5%0AOZlDIYdYPmW5eYJ7hj7jvHFrWIOHDx4x1W86F89cSpemQqXyDJ41ENtcNhzacZi5oxYAkLdAXkYt%0AGI5zSWfCboQx1msCcXfjsM9rx7A5QyhSvDA6nY7Vi39ky5qtAExdOYl3qlTk9JEzDOs8MktjzQwj%0AJgWyZ/9hHAoW4NeVi8ydnUzxvnsVOo7ujqpT2bkqmPULf071uZWNFd6B/SlT6U3i7sQy23cGkTcj%0AACj1dmm6TfbCLo8dyckaI1oFkPAowbhswNJhFC5VhEGe/bI0psw0atJAPBrX5cGDhwzqM5qzp86n%0ASzNgmA+ftPmAfPnzUfmNumbI5cup7lENrzFeqDqVLT9sYfWCNak+t7axZmBQAOUrlSf2zj0mek8m%0A/GY4AG192tC0bVOSk5JZMHohx3Yfo0TZEgxfMNS4vHMpZ76d+R2/fP2r8b1Pe/6PXiN70rry59y7%0Acy9rAn0KV4/qeI/pjarT8dsPv7Eqg/gHBw2kfKXy3Ltzjwnek4zxt/NpQ7O2zUhOSmL+6IUc3X0M%0AgIAZ/rg1ciMmKoYejXsZ1zViwTBKlC0BQJ589sTdi6d3M+8sivT5qrhXpevo7qg6HSGrtvHLwp9S%0AfW5lY0W/QD/KVipH7J17zPSdzm3D8Q/gVMyJ2SHzWRP0A+uWPPm9VVVl2sZAosOimNR1fJbF8zIy%0Au94H6DiwI40+bUSe/Hn4tOKn5gjruXzGeePW0JVHDx4xzW9GhvV++UrlGTQrwFDvH2F+inp/5ILh%0AFClZhPAb4Ywz1PuPvfV+Beaum80En0ns2bSXN98pS//JfQ11RDL/N+cHdm3YnWWxppXZZd9jqqoy%0Ab9McIsOiGNVlNAAzf5qBnX1uAAo4FeCvP/5iTPdxWRRpepld7hUqWojBQQMp6FQATYNN32/ml2X6%0AMqBsxbL0n9yH3Pa5CbsRzuS+U7kfdz/LY36aah7V6D2mt3E/SHvsW9tYMyBogHFbTPbWH/t5C+Rl%0A+OLhVHi/AsFrg1k4cqFxmalrpuJQ2IFHDx8BMLz9cO5G3c3SuF5FVfeq9BjTE1WnErxqGz8u+DHV%0A51Y2VvjP8udNQzk4zWcqETcjKP9+BXyn+AKgKArfz/qeg1t/N0cIL80UMfed3g/XRq7cjbqLbxOf%0ALI/pZbzvXoXOhnb/jlXBrMug3e8T2J+yld4k1tDuv30zgkIlChO4fS63Lt8C4OKJv1g6XH8uVOvD%0AOnzi+xmqTuX49qN8P+XbLI/rRWR27LnsczF27WTj8g5FHdn3y25WjPs6S+N6UTk9fhf3KnQZ3QNV%0Ap7J9VTC/ZtDm7RPoZ4x/lqHNW6hEYYK2z+PW5X8AuHDiAl8N15f/VtZWdBvXk3dqvoeWrPHDjJUc%0A+s3yy8JX3RdAf/7fY7IXufPYoSVrDEtz/m+pqrpXo6eh7N+2ahs/ZtDu9581wNjun+ozhYibEbjU%0Ac6HzkC5YWVuRmJDIsolfc+rAKf0y1lb0Hu9FpZqVSE5O5rvp33LgtwPmCE8Ik8iRnRiKohQD5mia%0A1lpRFBegmKZpm5+zjAcQoGnah1mRR1VV8Z7gzfD2w4kMjSRoQxAHgw9y4+INY5qmbZoSdzeO7vW7%0AU79lfboO7coUnyncjb7L2K5jiQ6PpnSF0oxfOZ6ONToC8POSnzn1+ymsrK2Y9MMkqntU5+iuo1kR%0A0gtxa1iD4mWK06FuZypWrYjf5L54t+ybLl3/yX2ZMWgW546fY8p3E6nRwJXDO4/whU8bju8/wQ/z%0AV9POpw1f+LRlyaSlfNzpI65dvM7wLqPI75Cfb/csI+SX7SQmJLJ64Vpsc9vSssMHZoj49X3coglf%0AfNqKYeNnmDsrmUJRVbqM78Wk9qOJCoti4vrpHAs5zD8XbxrTNGjThPi7cfi5e1GrZV2+GNKROb4z%0AUHUqPkF+zPcL4vq5q+QpkJfEhCdzDbo2q8nD+w/NEVam8WhchzfKlqJhjY9wqVaJcdOH8mnTTunS%0Abd+6h2+/Xs32Q79msBbLoqoqvhN8GPLFMCJDI5m7cQ6/Bx/k+sXrxjTN2jYlLiaOLvW64tHKnW7D%0AujLJezKlypfCvZU7PRv1wrGIA1N+mEzX+t25eeUmXs18jOv//shK9m950oArVNSJavWrGS+ImZOq%0AqvSZ4MPgL4ZyOzSS+RvnciBN/M3bNiU2Jo5O9brg0cqdHsO6McF7EqXKl8KjlQfdG/XEsYgD036Y%0AQuf63UhOTmbr2m38unw9g4MGpvq+Cd6TjH/3GtmT+HvxWRbr86iqSo/xvRjbfhRRYVFMWz+TIyGH%0AuZmi7mvcpglxd+Pwce9FnZb16DikEzN9pxs/7zKyGyd2HU+37g+6tuTmpRvY5bHLklhelqnq/UMh%0Ah9iwYgNLdy81V2jPVKOhKyXKFKdj3S5UrPo2/Sb3xTfDer8PgYNmce74eSanqPfbGer9VfNX09an%0ADe182vDVJP3FClVV6TGsO0f3PLm4/+jBI6b0n8Y/f9/CsYgDCzfP58juo2Y5DkxR9iUnJwPwSbeP%0AuZ5mfx/waYDx75GLR/D7NvNd1DBFuZeUlMSi8Uu4dOYSue1zs3DzPI7tPc71i9cZML0/iyd8xamD%0Ap2nWxpPPe7dm+QzLuKipqio+E3wYZtgPZm+czaHgQ6m2hWdbT+Ji4uhWrxvurdzpOqwrU7yn8O+j%0Af/luxneUfqs0pd8qnW7d0/pO4+Kpi1kZzmtRVZXeE7wY2X4EUaFRBG6YxaHgQ6nKQc82nsTdjadX%0A/Z7Ua1mfzkM7M81nGtf/uobfh/1JTkqmYOGCzNkyl8Mhh0hOSjZjRM9nqpi3rw1h04qN+M3yN2N0%0Az6eoKl3H92Kiod0/ef10jqZp9zc0tPv7uXtR29Dun+2rP+8JvxbG4BZ+qdaZp0BeOgzrzJAPBxAb%0AfQ/vmX15r05lzuw/laWxPY8pYn8Y/zDVe5M3zuTwFsu8gJ3T41dVlW7jezG+/Wiiw6KYvH4GR9O0%0AeRsa2rx93HtTu2U9OgzpxCxDmzfsWhgD08QP8D/fz7gbdZd+DbxRFIU8BfJkWUyv6nX2BVWn4ms4%0A/7+Wwfm/pVJVFa8JXoxoP4Ko0EhmbZjFoTTtfs82TYm/G0fP+j2o37I+nYd2YZrPVO5F32Ncinb/%0AuJXj6FRDfz3g8z5tiImMoZdHTxRFIW+BvOYKUTxPsmW3TyxVjptOSlEUK03Tbmma1trwlgvQwpx5%0AykgFlwrcunqLsOthJCYksmfDHmp51kqVpqZnTUJ+DAFg3+Z9vF/nfQCunL1CdHg0ANcuXMM2ly1W%0ANlY8eviIU7/rG2+JCYlcPnMZx6KOWRjV89XxrMU2Q0znjp/DPl8eHAo7pErjUNgB+zx2nDt+DoBt%0AP4ZQt2ltAGp71mbr2mAAtq4Npo7hfU3TjHcf5rbPTWxMLEmJ+srt+P4T3I+3nLvxXlZ1l0rkz/ff%0AqZzKuZQn7GooETfCSUpI5PcN+6jexC1VmmpNarDnp50AHNp8gPfqVAagcv0qXD9/levnrgIQFxOL%0AZqgcbO1y0aJ7K36Zm/pOz+ymcXMPflmzEYA/jp0mX/68FCrilC7dH8dOczs8Mquz90recnmLW1dD%0AjeXd7vW7qZ2mvKvlWYtgQ9mwZ9NeqtRxAaC2Zy12r99Nwr8JhN0I59bVUN5yeSvVslXquhB6LZSI%0Af57crd97dC+WTlyKppk4uBegj/8WoYb4d63fRZ008df2rMW2H/VlW8r463jWYtf6XSniv2WM//Sh%0AM8TGxD7zu90/rM/OdTtNENWrKedSntCroYTfCCcxIZF9G/ZSI83x79rEjZ0/7QDg9837qWSo+wBq%0AeLoRfiOcGxeup1rG0dmRag2rE7Iq2PRBvCJT1PsAf534izsRd7IwkpdTx7O2cd8+d/w8efLZZ1jv%0A2+Wx59xx/aizbT8+qd9re9Zim6He35ai3gf4uMtH7N28l5jIGON7N//+h3/+1t+5GRUeTUxUDAUc%0A85suwGcwVdnn5OxEjYaubPlhS4bfa5fHDpfa73PAjHepm6Lci46I5pJhFM+D+Adcv3QDJ2d9/Vii%0ATAlOHTwNwLE9J6jX3HJGKKY99nev301Nz5qp0tTyrGU89vdu2ouLYVs8evCIs0fO8u+jf7M836ZQ%0A3qWCvg64Hm4sB93SbAs3z5ps/3E7APtTlIOPHj4ydljY2NqgWUIF/wJMFfPZw2ef2wawBOVcyhOe%0Aot1/YMM+XNPU+9Wb1GC3od1/MEW7/2mKlCpC6NVQYqP1o2xP7zuFW/Naz1zGHEwRe0pFyxQjn2N+%0Azh3+M1PznVkk/vKEXQ0jwtDm3b9hL9Wb1EiVxrWJG7sNbd6Dm/e/UPwNPm/ML/P1o7k0TSP2zn+7%0AHHh8/n8tg/N/S1bBpQKhV28RnqLdn7bur+npZiz7n9Xut0nR7m/yeRPWztdf79A0zeyzDQiR2bJN%0AJ4aiKG8oinJeUZTliqJcUBTl/xRFaawoyn5FUS4qilLD8O93RVFOKIpyQFGUtwzLdlYUZb2iKDuA%0A7YZ1nVEUxQYYB7RRFOUPRVHaPG0dWc3R2ZHIW08uQEaGRuJYxDFdmtu3bgOQnJTM/dj75CuYL1Wa%0AOi3qcOnMJRL/TUz1vn0+e2o0rsHJ/SdNFMGrcXJ2IuLWkwuNkaGRxhPQlGluhz7ZNrdDbxvTODgV%0AJDpCX6BHR0Tj4FQQgF+Wr6NU+VL8eGwVy0KWMG/UgmxzcpPTFHR2ICrF7xsVGkVB5zQXtJwdiDIc%0AH4/3/bwF81K0TDE0DYZ8O5pJm2bSstcnxmU+H/AFm75ax6MH2ftEv0jRwtz658nogbBbETgXLWTG%0AHL0+pxRlGcDt0EgcnR2fmiY5KZn42HjyFcyXqhyEx2VG6mXdW7mzc90u4+tanjWJDIviyrm/TRDN%0Ay3NydiQiXfypyz1HZ6enxO+Ubtm08T9NJbf3uBN5h3+u3sqEKDKHo7NjmuM/Egfn9HVf6uM/nrwF%0A85LLLhefeH3KmqBV6dbbdXR3vp203KJPakxd71uqjI7/tPuwk7Mjt0MzPs4Lpqn3CxrqfSdnR+o2%0Ar8P6bzc+9bvfcnkLK2trbl0NzbR4Xoapyj6vMb1YOulrkpMzbufUblqLP/b/YdbplExd7hUpUYRy%0A777J+RP6jq+rF65Ru6n+Imb9D+tRqJjl1JtOKeIEw7GfQbkXmabdk/bYz4jfTD/mbZlHu37tMjfT%0AJqKP88m2iHpKORiZar94si0quFRgfsh85m6bx4JhCyx+FAbkzJhTcniNdj9AoZJFmLI5kNGrJ/C2%0A6zsAhF0NpVjZYhQqURhVp+La1A3Houlv+DE3U8SeUu2Wdfl94z4TRvB6JP7Ubd7o0Kh0Zb+Ds0Oa%0Asj/eGH/hkkWYtnkWY1dPNMZvl88egLYB7Zm6KRD/BYPI72SeGzVexuvsC8UM5//Dvh3NlE0zaZXi%0A/N+S6dtxmdPuv3zmMon/JmJv+P2/DPiSoE2zGbJwKAWcCpg4EiGyVrbpxDAoB8wE3jb8+wKoCwQA%0Aw4DzQD1N06oAo4BJKZatCrTWNM398Ruapv1rSLda0zQXTdNWP2cd2UqpCqXoOrQrc4fOTfW+qlMZ%0APHcw679ZT9j1MDPlLms87qhw9ajOpbOXaV2tLd2b9qbvBF+LnVJEvDrVSuUt14rM7xfImE+HUr2Z%0AG+/WqUzpd8pQpLQzR7ceMncWRRazsraiVpOa7Nm0FwDbXLa0823LipmWMY2IOTX8qEGqzp3sro1f%0AOzYsXZduyrhqDatzN+ouV85cNlPOss7T6v2c5HG97z3Gi68mLX3qDQsOhR0YOnsQ0wfM+E/d1ODW%0AqAYxUTFcPJ3+uSKPNfjI4z917KeVyy4XoxePZMGYRcaOmhkBgbTq2JIFm+ZhZ5+bxITs0cn3Oqb1%0AnYZ3E28GfjqQ92q8R6NPG5k7SyZ34Y8L+DT2wb+lH5/5fIa1rbW5s2RyOTHmx+5ERONTqwdDWvjz%0A7fhv6DPHn9x5chN/L56lwxfTb14AY3+cxO2bEdmuc+d5nhZ7SrVb1WP/ur1myqFpSfzReNXqzqAW%0AfqwYv4x+cwaQO09udDoVp2JO/HXsPIM/8OfC8fN0HN7F3Nk1KdVK5W3XisztF8ioT4fi2sztpUbs%0AZGelKpSi89AuzDO0+3U6HYWKFeLcsXP0/6Af54+do+uIbmbOpXgqLdmy/1mo7PZMjL81TTsNoCjK%0AWWC7pmmaoiingTeA/MAKRVHKAxqQshUXrGla9At8x7PWkSFFUXoCPQHeLfgupfKUeomQMhYVFoVT%0AsSd3jDgVdSIqPCpdmkLFChEVFoWqU7HLa2ccLubo7MjIJSOZ6TeTsGupOyr6TunLP1f/Yd3X6147%0An5nh406t+OAL/Yxe50/+ReFihYGzgD7uyLDUU+JEhkVSKMXdNIWKFjKmiY68g0NhB/0ojMIO3InS%0ATyHR/POmfD9ff3furau3CL0RRqlyJTn/x1+mDk+8pDth0anulnIs6sidsNSHbnRYNI7FnIhOse/H%0A3oklOjSK84fOGofN/rHzOGXeK8vD+IeUrVyOOfuWoFqp5HfMz8hVExjfdkSWxvaqOnT9nDZf6u8q%0AOf3HWYoVL8LjGd6dixUmLMUdytlRpKEse6xQUSeiwqIyTBMZFomqU7HPa8+9O/eM5eBj+jLjybKu%0ADapz6cwl43QyRd8oinNJZxZtXWj8rgW/zaNPy37cuW2eKXciw6IonC7+1OVeVFjkU+KPTLdsZJpt%0AlxFVp1K3WR28WvhmXiCZICosKs3xrz/O06Up5pSi7rMn9k4s5V0qUKt5bToO7Yx9PnuSNY1/HyXg%0AUMQR18Y1qOpRDWtbG+zy2tEvyJ/Z/QOzOrxnMmW9b2k+6tSSFoZ6/6+Tf6U7/tPuw5FhURQqmvFx%0AfidNvR9jqPd6QD22AAAgAElEQVQrVK7AiPnDAMjvkJ8aDWuQlJjE/q0HsMtjx6QV41k2bblxiipz%0AMEXZV6tJTWo2qYlrgxrY2Fpjl9eOwbMHMbXfNADyFczHWy5vMaaH+R7oDaYr93RWOsYsGcn2X3ew%0Ab8t+Y5obl28wpL1+fyhepjhujVJPU2FOkYY4H3PKYD94XD483hYpj/2nebyOB/EP2PnrTiq4VGD7%0AT9szP4BMpI/zybZwfEo56JSiHLTPYFvcvHSTB/EPKP1WaS6denqHniXIiTGnFP0a7X6AuH/1//99%0A5jLh18IoWqYYV05f5vj2IxzffgSARu08LbITw1SxA5Su+AaqTuVvC76BQ+JP3eZ1KOqYruyPDovG%0AKVX89univ3LmMuHXQilapjhXTl/i4f2Hxgd5/77pAA3bNMmiiF7d6+wL0aFRnEtx/n/CcP5vac/A%0ASUvfjnu9dv/wJSMITNHuv3fnHg/vPzQ+yHvfpn00aeuZRREJkTWy20iMRyn+Tk7xOhl9h8x4YKem%0Aae8BLYFcKdK/6BMbn7WODGmatkTTtOqaplXPjA4MgAsnL1CsTDGKlCyClbUV9VvW52DwwVRpDgUf%0AonHrxgDUbVGXUwf0BbV9PnvGLh/LN1O+4c+jqeeA7BjQEfu89iwZsyRT8pkZfl2xnh5Ne9OjaW/2%0Ab9mPpyGmilUrEh8bb5wm4rHoiGji4+5TsWpFADxbN2a/4eGUB4J/p+ln+oq66WdNOLBNX4CH/xNB%0A1bpVACjoVICSb5bk1jXzTB8hnu3yyYs4lylKoZKF0VlbUatlXY4FH06V5ljIYep/2gAAtxa1OXtA%0AP8/1qd0nKPl2aWxy2aDqVCq6vcs/F28QsnIL3jW60rduT8a0Hkbo37eyTQcGwMpla2jZoB0tG7Rj%0A2+ZdfPL5hwC4VKtE7L24bPPsi6f56+RfFH+jGM6G8s69lTu/pynvfg8+SBND2VD/g3r8YZgK7/fg%0Ag7i3csfaxhrnkkUo/kYx/krROZn2juOr56/yeZW2dKzdiY61O3E7NBLv5r5m68CAx/EXN8bv0cqD%0AA2niPxB8EM/W+rItZfwHgg/i0cojRfzFU8X/NNXqVeX65RvpOonN7dLJixQtU4zChm1Rt2U9jgSn%0AHkF1JOQwDT5tCECtFnU4baj7Rnw2lN51e9C7bg82LtvAz/PX8tuKTfzftG/pUbMrvev2ILDPdE4f%0AOGVxHRhgunrfEq1bsYFeTb3o1dSL/VsOGPftilXffmq9fz8unopV3wbAs3UT9hvq9wPBB/E01Pue%0AnzXhgKE90KF2R9rX0v/bs2kvc4bPZf/WA1hZWzF26Wi2/RhiHKFlLqYo+5ZN/Yb2Nb6kY+1OTPKZ%0Awh/7Txo7MADqfVCXQyGHSHiUkHWBZsBU5V7AdH+uXbzBT1/9nGpdj597oigKHfp+wcaVT59mLKtd%0AOHmBYm88OfbdW7mnO/YPBh80Hvv1Pqj33OlgVZ1qnHJCZ6XDrZEb1/66ZpoAMtHFDMrBw2nqgEPB%0Ah2jUWj+qpE6KcrBIySKoOv2pbaHihShRrgQRNyKwdDkx5pTStvtrt6zL0TTt/qMhh3E3tPtrpmj3%0A53XIh6Lq4y9csghFyxQl/Lp+ytV8hmPePp89nl82Z4cFPhPLVLGDfhTCgfWWPQohp8evb/MWpXDJ%0AwlhZW1GnZb2nxK9v89ZsUYczhmM/n0M+1FTxFyPCMMPGsZAjvFvrPQAq1amc6kHhlup19oWTu09Q%0AKsX5/ztu72aLmPXt/uKpyv5Dzyj707b7xywfw/Ipyzl39FyqZQ6HHKJSrUoAvF/HJdWDwoX4L8hu%0AIzGeJz/wj+Hvzi+4TCyQ8qnIr7KOTJeclMzCkQuZ8N0EVJ3KttXbuH7hOh38O3Dx9EUOBR9i6+qt%0ABAQFsHTPUmJjYpnqOxWAlp1aUuyNYrTr1844B+6IDiOwsraibd+2XL94nTmb5wCwccVGtq7aaq4w%0A0zm44zBuDd1YuW8Fjx4+Yqr/DONnX21dRI+mvQEIGjaXIYEB2OSy5fCuIxzaoa/kfpi3itGLRtKi%0AbXPCb4Yz1msCAN/N/j8GBw7k65AlKMCSSUuNvdizfwqkVLmS5LbPzZoj3zM9IJAju49mbeCvYeDo%0AKRw5cYqYmHs0+rgD3t2+5NOWTc2drVeWnJTM8lFfMfTb0ag6HbvWhHDz4g1a+7fj71OXOBZyhF2r%0AQ/Ce1Z9ZuxcSFxPLXN+ZAMTfi2fz0vVM3KCfHuSPncc5sePYc74xe9kVvA+PxnXZcWQdDx88ZHDf%0AMcbPNuz8gZYN9Mf84NH9aPlpM3Lb5WLfqd9Ys/JX5kxbbKZcP1tyUjLzRi5g0sqJqDqVrau3ce3C%0ANToO+JILpy5yMPggW1ZtYXDQIL7Zu4zYmFgm+UwG9A8z27NxD1/tWExSYjLzRswn2fDcg1y5bala%0ArypBQ+aYM7znSk5KZu7I+UxZOQlVp7LFEH+nAR25cOoCvwcf5LdVWxgSNIgVe78hNiaWiT76mQ6v%0AXbjG7o17+HrHEpISk5gzYp4x/mHzhvB+zcrkd8jPD4dXsmLmd2xZrS/vPdI8J8RSJCcls3TUYkZ9%0AOwZVp7J9TQg3Lt6grf8XXD51iSMhh9m+Oph+s/yZv3sxcTGxBPpON3e2M4Up6v27UXfpOqwrHh95%0AYJvblm8PfcvWVVv5v1n/Z85QUzm04zBuDWvw3b7lPHz4iOkp6v3FWxfSq6kXALOHzWVQ4EBsc9lw%0AeNcRDu/Q32G7at4qRi4aQfO2zQi/Gc54r4nP/D6Plu5UdqtEvoL5aPq5/u60aX7TufznFRNF+HSm%0AKvuexaOVB6sXrDZ1aM9linLvPdd3adK6MVfOXWHRlgUALJv6DYd3HqHBRw34qFNLAPb9tp8tq7eZ%0ALfa0jMf+ygnodDrjsf/lgC+5cOqC/thftZWBQQP5eu/XxMbEMsVninH55QeWY5fXDitrK2o3rc3w%0A9sMJvxnOhJUTsLK2QlVVTuw7wZbvM37QuyVJTkpm0chFjP1uHKpOJWR1MNcvXKe9f3sunr7I4eDD%0ABK/ehn/QABbvWUJcTBzTDOXgO67v0Nq7NYkJSWjJySwavjBbPNDUVDEHzB1IpVr6su6bQ8v5PvD/%0ACF5teRfyk5OSWTbqK4alafd/5t+OK4Z2/87VIfjO6s9sQ7t/tqHdX9HtXT73b0dSQhKalsxXwxYR%0AfzcOgM6ju1H6nTIA/DR7NaF/W87zvx4zVewAtT6sw5TO480V2guR+JP5etQShhvavDvXbOfmxRu0%0AMbR5j4YcZsfqYPrM8mPu7kXExcQyy1ffRqro9i5t/L8gKSGRZE1jybCFxBniXzllBX1m+dF5VHfu%0ARd9lQYBlnwfB6+0L8ffi2bh0PZM2zABN40Q2Of/Xl/0LGffdeFSdSrCx7O9gKPsPsW31NgYEBbBk%0Az1fExcQy1Vd/U8qHnT6kaJp2/0hDu/+byd8wICiAHqN7ci/6LkEDgswZpngWC35WoyVTsss8wIqi%0AvAFsNIyQQFGU5YbXPz7+DOgBrEA/6mIT0EHTtDcURekMVNc0zTftuhRFcQC2op82ajJw/Snr8AAC%0ANE378Fn5bFGqRfbYoCbwINm8d/WZ27Y/LPMCcVbpWM3f3Fkwm8Px182dBbN6M3dhc2fBrJLJscU+%0AAPlUW3NnwWweav/9efWf5VFyzo5fp2S3Ac2ZK6eXfdbZbkB75rFSdObOgjAjO+W/dh+kEC8mp9d7%0AKoq5s2BW8VrOvt618fqmnL0DZLIH25dYdIGSu1FPi/y9s00LRNO0q8B7KV53fspnFVIsNsLw+XJg%0AeUbpDc/JcE3zdRmtYxew61XzL4QQQgghhBBCCCGEEEKIl5NtOjGEEEIIIYQQQgghhBBCiGxLk+mk%0AXkXOHQcthBBCCCGEEEIIIYQQQgiLJp0YQgghhBBCCCGEEEIIIYSwSDKdlBBCCCGEEEIIIYQQQghh%0AaskyndSrkJEYQgghhBBCCCGEEEIIIYSwSNKJIYQQQgghhBBCCCGEEEIIiySdGEIIIYQQQgghhBBC%0ACCGEsEjyTAwhhBBCCCGEEEIIIYQQwtQ0eSbGq5CRGEIIIYQQQgghhBBCCCGEsEjSiSGEEEIIIYQQ%0AQgghhBBCCIsk00kJIYQQQgghhBBCCCGEEKaWLNNJvQoZiSGEEEIIIYQQQgghhBBCCIsknRhCCCGE%0AEEIIIYQQQgghhLBIMp2UEEIIIYQQQgghhBBCCGFqMp3UK5FOjEwWm/TI3Fkwm/rWRcydBbPqWM3f%0A3Fkwq2+PBZo7C2ZT4s0W5s6CWSm5FXNnwcw0c2fArBwUG3NnwXwUG2xy8KDWS9o9c2fBrJJz+LGv%0AaTk7fkXNuXVfEjn7xFsl5/72IGWfdQ6u93O6nL7v53Q2is7cWRAix5MaWAghhBDiFeTkDgwhhBBC%0ACCGEECKryEgMIYQQQgghhBBCCCGEEMLUtJw9qvVVyS2EQgghhBBCCCGEEEIIIYSwSNKJIYQQQggh%0AhBBCCCGEEEIIiyTTSQkhhBBCCCGEEEIIIYQQppYs00m9ChmJIYQQQgghhBBCCCGEEEIIiySdGEII%0AIYQQQgghhBBCCCGEsEgynZQQQgghhBBCCCGEEEIIYWqaTCf1KmQkhhBCCCGEEEIIIYQQQgghLJJ0%0AYgghhBBCCCGEEEIIIYQQwiJJJ4YQQgghhBBCCCGEEEIIISySPBNDCCGEEEIIIYQQQgghhDC1ZHkm%0AxquQkRhCCCGEEEIIIYQQQgghhLBI0okhhBBCCCGEEEIIIYQQQgiLJNNJWbh+43yo2dCNRw8eMclv%0AGhfOXEyXpkKl8gybNQjbXLYc3HGI2aPmA+A9oie1m9Qi8d9E/rl2i8n+04i7F0/1etXoPaw7VtZW%0AJCYksmDCYo7v/yOrQ3sp5d0r88Gojqg6laOrd7Jn4YZUn79R420+GPUlRd4uxeo+czn722HjZ/mL%0AOfLJlB7kL+YImsaKLtOIuRmZ1SG8tPfdq9BxdHdUncrOVcGsX/hzqs+tbKzwDuxPmUpvEncnltm+%0AM4i8GQFAqbdL022yF3Z57EhO1hjRKoCERwnGZQOWDqNwqSIM8uyXpTGZwohJgezZfxiHggX4deUi%0Ac2fHJCZOHU4jz/o8uP+Qvt5DOX3yz3Rpho7sz2dtP6JAgXyULV4t3ecftPJk2Xdz8PRozckTZ7Ii%0A26+sukc1eo/pjU6n8tsPW1izYG2qz61trBkYNIDylcpz7849JnlPJvxmBHkL5GXk4uFUeL8CwWuD%0AmT9yoXGZid+Nx6GwAzqdjjOHzzBvxAKSLWgIp6tHdbzH9EbV6fjth99YtWBNqs+tbawZHDTQGPME%0A70mE3wwHoJ1PG5q1bUZyUhLzRy/k6O5jAATM8MetkRsxUTH0aNzLuK6yFcvSf3IfctvnJuxGOJP7%0ATuV+3P2sC/YZ3nV3od2oLqg6lb2rt/Pbwl9TfW5lY0W3wD6Ufq8scTFxLPYNJOrmbXTWVnSc1JPS%0Ald5E0zRWjf2Gvw6eBWDgqrHkL1SAfx/9C8CsL8cTG3Uvy2N7We+4v89no7qg6FQOrN7OtoXrUn1e%0ArkZFWo/qRPG3S7OsTxAnfjtk/MxnxTDKVCnP5SPnWdhtalZn/aVU96iG1xgvVJ3Klh+2sDqDfX9g%0AUADlK5Un9s49JnpPNu77bX3a0LRtU5KTklkweiHHDPv+/7p/QrO2zQCNv89fZcaAmSQ8SiAgcACV%0A3SoRHxsPwHT/mVz580qWxvs0JcqWYMSCYcbXRUs5s2Lmd/z89S8vtHz5SuUYFBiATS5bDu84zPzR%0A+vKvo18HWnzRnJiouwAsm/oNh3ceyfwAXpHPOG/cGrry6MEjpvnN4OKZS+nSlK9UnkGzArDNZcOh%0AHUeYP2oBgL7MXzCcIiWLEH4jnHFeE4i7G0ejTxrS1vtzUBQexN0naOhcrpy7QomyJRi5cLhxvUVL%0AObN8xrcvvI1NqZp7NXqN6YWqU9m6aitr09R7VjZWBMwKoFylcsTeiWWyz2QibkZQpV4VOg/pjLW1%0ANQkJCSybuIyTB05im8uWoQuHUrR0UZKTkzkUcojlU5abJ7gXkNnxA4z7dpy+3rfScfbwWRZYWL2f%0AUlX3avQc0xNVp7Jt1TZ+zCB+/1kDjPFP9ZlCxM0IXOq50HlIF+M53bKJX3PqwCkAJq+eTMHCDvz7%0AUF/3jewwgruGcsDSuLhXocvoHqg6le2rgvl14U+pPreysaJPoB9lK71J7J1YZvlO5/bNCAqVKEzQ%0A9nncuvwPABdOXOCr4fqyz8raim7jevJOzffQkjV+mLGSQ7/9nuWxPU9l9yp0HN3NcL4XwoYMzve8%0AAvsZz/fm+M4g8uZt6nxcnw96fmxMV6piaYZ/MIBrf17l84Htqfc/D+zz29P1nS+yOqSXktPjz8n7%0Aflrvu1ehs+Hax45VwazLYF/wCexv3BazfWdwO8W1jx6Tvcidxw4tWWNYmmsflqqKe1W6ju6OqtMR%0Asmobv2Tw+/cL9KNspXLE3rnHTMPv/5hTMSdmh8xnTdAPrFuiP2eyy2ePz1RfSlYoDWjMGziHC8f/%0AysqwxIvSLLNN8jIURWkGzAZ0wFJN06ak+bwUsAIoYEgzRNO0za/znRY5EkNRlM6KoszL5HV+rCjK%0AOylej1MUpXFmfkdmq9mwBiXKlKBd3Y5MGxzIgMkZX3AeMLk/0wYF0q5uR0qUKYFbgxoAHNlzjE4N%0Au9G5SQ9uXLlJB199JX43+i6DO4+gc+MeTOw/lRGzh2ZZTK9CURVajuvCis7TmN1kIJVb1aZQueKp%0A0sTciuTHgEWcWncg3fKtA73Yu2QjsxsPZOFHI4mPtPyLV4qq0mV8L6Z2GkdA4z7UblWP4uVLpErT%0AoE0T4u/G4efuxeav1/PFkI4AqDoVnyA/vh62iIFN+jK+zQgSE5KMy7k2q8nD+w+zNB5T+rhFExYF%0ATjB3NkymUZP6lHmzNDWrNCWg3yimBY7OMN2233bSrOHnGX5mn8eeHr2/5NgRy+6sBFBVFZ8JPozo%0AOJIeDXvR4CMPSpUvlSpN07aexMXE0aVeN35e+ivdhnUF4N9H/7Jixnd8NWFpuvVO9JqMV1Mfejbu%0ATX7H/NT7sF6WxPMiVFWlzwQfhnUcQbeGPWjwUYN0MTdv25TYmDg61evCT0t/psewbgCUKl8Kj1Ye%0AdG/Uk6FfDqfvRF9UVV+1b127jaFfDk/3fQOm92fplGX0aNKb/Vv383nv1qYP8gUoqkr7cd0J6jyR%0AkU38qNGqLkXLpS736n7eiPi78Qzz6EPw1xtpPaQDAPXb6qvzMc0GENhhHJ8P74iiKMblvuo/h3Et%0ABjKuxcBs0YGhqAptxnVjXudJjG/iR/VWdXBOU+9F34rku4AFHF23L93yIYvXs8IvU5tRJqGqKr4T%0AfBjecQQ9GvbEI4PjvVnbpobjvSs/L/3FeLyXKl8K91bu9GzUi+FfDqfPRB9UVcXR2ZGPu3yE74d9%0A6Nm4N6qq4tHKw7i+ryYuxauZD17NfCymAwPg5pWb9G7mTe9m3ni38OXRg0fs27L/hZfvN6kvgYOC%0A6FSvC8XLFMfVo7rxs5+W/mJctyV1YNRo6EqJMsXpWLcLgYOD6De5b4bp+k/uQ+CgWXSs24USZYpT%0Ao4EroO/APb7/BJ3qdeH4/hO082kDQOj1MPxaB9CjcS9Wzv4e/2n9Af027tXUi15NvfBq7vPS29hU%0AVFXFe4I3ozqNonej3ri3cqdk+ZKp0jRt05S4u3F0r9+dX5b+Qteh+uPgbvRdxnYdi7enN4F+gQwI%0AGmBc5uclP9OrYS/6NO/DO9XfoXqKfcKSmCr+yd6T8W3mi1djL/I75KfuB3WzNK4XpaoqXhO8GN1p%0ANN6NvHBvVT9d/J5tmhJ/N46e9XuwbumvdB7aBYB70fcY13Usvp4+zEoTP8CMftPp27wPfZv3sdgO%0ADFVV6Ta+FxM7jcWvsS91WtWjRJr4G7ZpQtzdOPq492bj1+vpMKST8bOwa2EMbOHHwBZ+xou4AP/z%0A/Yy7UXfp18Abv8a+/HnQ8m7g0Z/v9WRap/EMbNyX2q3qpjvf82jTmPi78fi7e/Pb1xtoZzjf2//r%0AHoa18GdYC38W+gVx+0YE1/68CsDxkCOM/GhQVofz0nJ6/Dl5309LUVW6ju/F5E7j8G/chzoZXPto%0AaLj20S+Dax++QX4sHbaIgCZ9GZvm2oelUlWVHuN7MaHTWPo19qFeq/rpfv/Ght/fx70XG75eT8cU%0Avz9Al5HdOLHreKr3uo3uwYndx+nbyBv/Zv24eemmyWMROZOiKDpgPtAceAdol/Kau8EIYI2maVWA%0AtsCC1/1ei+zEMJGP0W9YADRNG6VpWogZ8/NcdZvWYcuP2wD48/g58uTPg2Nhh1RpHAs7YJ/Xjj+P%0AnwNgy4/bqNesDqDvxEhK0vfunT3+J4WKOgFw8ewlosKjAPj7r6vY5rLB2sY6S2J6FSVcyhF9LZw7%0ANyJISkji1IbfqeiZ+k7zmJuRhJ+/gZamN7NQueKoOh2X9+kr73/vPyLBcEeSJSvnUp6wq6FE3Agn%0AKSGR3zfso3oTt1RpqjWpwZ6fdgJwaPMB3qtTGYDK9atw/fxVrp+7CkBcTCya4c4zW7tctOjeil/m%0Apr7TNTur7lKJ/PnymjsbJtPsg0as/UF/B/axoyfJlz8fhYsUSpfu2NGTRITfznAdQ4b3ZV7QUh5m%0Ag33/LZcK3Lp6i7DrYSQmJLJr/W5qedZMlaaWZy2Cf9QX33s37cWljgsAjx484uyRs8Y77lN6PNJA%0AZ6XDytoaNM3Ekby4t1ze4tbVW4QaY95FHc9aqdLU9qzFth+DAdizaS9VDDHX8azFrvW7SPg3gbAb%0A4dy6eou3XN4C4PShM8TGxKb7vhJlSnDq4GkAju05Qb3mlnFhp4xLOSKuhRF5I4KkhEQOb9iPi6dr%0AqjQunq4c+GkXAMc2/87btSsBULR8Cc4d0JfzsVH3uH/vPm9UfjNL85+Z3nApx+1rYUQZ6r1jGw7w%0AfpptEX3zNv+cv05yBvvyXwfO8DD+QVZl95Xp9/1Q4/G+e/1uaqfZ91Me7yn3/dqetdi9fneKfT/U%0AuO/rrHTY5rJB1anY5rYl2tDmyS6q1HXh1rVQIv6JoGjpokz+biILNs1j1k8zKflmyXTpHQo7YJfH%0AjnMnzgMQ/FMIdZrWzupsv7Q6nrWN5dq54+fJk88ehzTtXH1s9pw7ro9t24/Bxthqe9Zi21r98tvW%0APnn/z2N/Enc3Tv/38XPG9m9KVepWMW5jc6uQpt7bs2EPtdIcBzU9axJiOA72bd7H+3XeB+DK2StE%0Ah0cDcO3CNWxz2WJlY8Wjh4849bv+jvzEhEQun7mMY1HHLIzqxZkifoAHcfoyUGelM75niSq4VCD0%0A6i3CU8RfM027p6anG9t/3A48O36bFPFnF/pznjAiboSTmJDI/g17qd6kRqo0rk3c2P3TDgAObt5v%0APOd5lgafN+aX+T8CoGkasXfSt4fMrZxLecLTnO9VSxN79SY12JvB+V5KtVvV4/cNT25ouHTiAjER%0Ad0yb+Uwg8efcfT+ttPvCgQ37cE1z7aN6kxrsNuwLBzO49nEtg2sflqycS3lCr4YSbvj9923YS400%0AMbs2cWOn4ff/ffN+KhnKfoAanm6E3wjnxoXrxvfs8trxjtu7hKzSt40SExK5fy8+C6IROVQN4JKm%0AaVc0TfsXWAV8lCaNBuQz/J0fuPW6X2qWTgxFUTooinJYUZQ/FEVZrCiKTlGULoqiXFAU5TBQJ0Xa%0A5YqitE7xOi7F34MVRTmtKMpJRVGmGN7roSjKEcN7PymKYqcoSm2gFTDd8J1vplyvoiiNFEU5YVjX%0AMkVRbA3vX1UUZayiKMcNn72dRZsIgELOTkTcenJR8nbobZycU5+IOTk7cTs0ZZpICjmnP1n7oG1z%0ADmVw953HB/W5cOYiCf9a7nC7fEUKcvfWkwsQ90KjyV/E4RlLPOFUtigP78XzxaL++GyaRLOhX6Co%0AyvMXNLOCzg5EhT6Z8ioqNIqCzmlO7J0diLqlT5OclMz92PvkLZiXomWKoWkw5NvRTNo0k5a9PjEu%0A8/mAL9j01ToePbD8i9lCr2jRIvzzT6jxdeitMIoWK/LCy1d6/x2KlShKyLbdpshepnN0duJ2inIv%0AMjQSJ+fUF16cnB25nWLfj4+9T76C+XieiSsnsPrEDzyIv8/eTenvXjcXJ2fHNGV9JI5pyvGU20Uf%0Aczz5CubDMV09kX57pXX1wjVqN9VfIKr/YT0KFUvfKWYOBYs4cOfWk3LvTmgUBdOU9SnTJCcl8yD2%0APnkK5uXmuau4NHZF1ak4lShM6UplKZjigl2X6d6M2jydD/tYxqiT5ylQxIE7Keq9O6FRL1zvZSf6%0AYzntvp/R8Z7Rvu+YYVkRFRbF2sU/svLgd6w69j33Y+M5tufJXWqdB3Vm0baF9B7d02Jv4GjQyoOd%0A63YB4DelH/NGzsf7A18Wj19C34m+6dI7OTsSmaLNoC8HnpQhH3VqyZJtCwmY4U+e/HlMnv8XldHv%0An2F5H5pxnVDQqSDREfoLuNER0RR0KpjuO5q3bZbh6JMGrdzZsW5npsTxuhydHYlMUfZFhkbiWMQx%0AXZqUx8H9DOq9Oi3qcOnMJRL/TUz1vn0+e2o0rsHJ/SdNFMHrMWX8478bz/cnvudB3AP2WVC9n5Jj%0AijYNvF78l89cThV//xl+zPltLm37tjVhBK/Hwdkx1TlPdGhUunrAwdnBuI/o448nb0H9DUyFSxZh%0A2uZZjF09kbdd9fcr2uWzB6BtQHumbgrEf8Eg8jvlz4pwXkra873o0Cgc0sRe0Nkxw/O9lGq2rMuB%0AdXtNn+FMltPjz8n7floOr3Hto5jh2sewb0czZdNMWqW49mHJHNP8/lGhken2f8d0+7/+989ll4tP%0AvD5lTdCqVOkLlyzCvai7+M7ox4zNQXhP9cU2t63pgxGvJjnZov8pitJTUZSjKf71TBNBceBGitc3%0ADe+lNKckAuUAACAASURBVAbooCjKTWAz0Od1N1uWd2IoilIRaAPU0TTNBUgCOgBj0Xde1CXFiIln%0ArKc5+l4eN03T3gemGT76WdM0V8N754BumqYdANYDAzVNc9E07XKK9eQClgNtNE2rhP45IV4pvipS%0A07SqwEIg4NUjN58v+35BUmIS235OPfDkjQql6T2sB9MHzzJTzkxP1am84fo2v038noWtRlCwVGGq%0AtnY3d7ZMSrVSecu1IvP7BTLm06FUb+bGu3UqU/qdMhQp7czRrYeevxLxn6AoCmMnDmHMcMueEz+r%0ADO8wgnbV22NtY41LijtZcpoZAYG06tiSBZvmYWefm8SExOcvZOH2rdnBnbAoRmyYSpvRXbh87C/j%0A3Odf9ZvNmGYDmPrZSMq7VqTW//7bdUBOlyd/Hmp71qJj7c60q96eXHa5aPRJQwCWTfmGbh7d6fNh%0AX/Lmz8vnXp+ZObfpWVlbUatJTXZv2kMuu1y8W/0dRi4awaItC+g/pV+6kQrPs/67jXSs24VeTb2J%0Aioim98i05x//HVqaUUkutd+nedtmfDUx9RSDVtZW1PasxZ6Ne7IyeyZVqkIpug7tytyhc1O9r+pU%0ABs8dzPpv1hN2PcxMuTO9p8U/8suRdKjeAWsba+Pohf+iUhVK0XloF+aliH9G3xn4evowuPUg3qnx%0ALg0/bWjGHJrGnYhovGp1Z1ALP1aMX0a/OQPInSc3Op2KUzEn/jp2nsEf+HPh+Hk6Du9i7uyaxJsu%0A5Xn04BE3U9yNnZPk1Phl339CtVJ527Uic/sFMurTobg2c3uhESvZWRu/dmxYui7dFOE6nY6y773J%0A1pW/EdCiPw/vP+R/3tnjBi5heTRNW6JpWvUU/5a8wmraAcs1TSsBtAC+UxTltfohzDESoxFQDTii%0AKMofhtd+wC5N024bhqGsfoH1NAa+0TTtPoCmadGG999TFGWvoiingfbAu89Zz1vA35qmXTC8XgHU%0A/3/27jssiuMN4Ph3D1AsYKQJYjf2hr2AoqKA3dg1thhjw15j7yUmUWPXGKPGxPozauxg773FWJPY%0AKdIEFRRhf3/c5eQAjYXjjvB+nodHuZ1d5r3dnZ3d2ZlJtPyfGYXOAgVS2kDiFqqgpw/eIuuv90mX%0AZizfs4Tle5YQFhyGU6I3ZB1dHAkNMpyQOjQoFEeXxGkceJQoTYM2PtSoV51JfacZrOfo4sC0HyYx%0AdcAMHt4JxJxFBUdoJ+XWsXWx43Fw+BvWSLRuUDiBV+8QcS+EhPgEru45Q+7SBYyU09QTERSOfaLh%0AD+xd7IkIMow5PCgc+9zaNBoLDVltshIdEU14YBjXTl4hOiKaF7EvuLD/HAVLF6JIhWIUKvsxc48s%0AZcLGabgUzM3Ytf/duSTSs8+6d2Dv4V/Ze/hXgoNDcHV10S9zye1M4MPgt9pOdptsFC9ZhE3bVnH6%0A0l4qVi7HqjULKVe+tLGy/sHCgkINegY4uDgQGmQ4FExoUBiOiY79bDZZiYp4u3kO4p7HcXzPiWRD%0AVJlSaFDSst6BsCRlfeLvRRtzNqIioggLCk22btLvK6l7f97jy09H0adRX/ZtOWA214CI4HBy5n5V%0A7uV0sSciSVmfOI3GQkMWm6w8iYgmIT6BdZNXMKnhMBZ88RVZbLMR/Jc2rkjdNp4/jeXk1sMULPdx%0AGkX0/iKDw8mZ6LqX08X+ra976Yn2XE567Kd0vqd07IelWFaU9yhP0L1gHoc/Jv5lPEd2HqVkpRIA%0A+rf2417EsXu9v374KXNSpU5lbv5+i8jQSDQaDU8eP9HPZ9HLtw+f1/0CjUbD4l0LWbxrIV2GdCY0%0AKAyHRHUGbTmgLUMiQyNJSEhAVVV2/LLT5DE369KEJbsXsWT3IsJCwpPt/xTLe5eUrwkRoRH6Rh07%0AJzsiwyL16QqVKMiQmYMY1208UUmG1atSpzI3L98iIjQScxAWFIZDorLPwcVBP+xr4jSJz4Osia57%0A9s72jF06lm8HfUvQHcOGiv4z+vPg9gO2/LDFyFG8P2PGD7rrvv9xqtU3n+t+YmGJ6jTwfvGPXjqG%0AWUni/2cbMU9jOLj5IEXLFTV2KO8lPCjM4J7HzsU+2XUgPChcf4xo489GdEQ0L1+85Inu/P7r9z8J%0AvhOIS0FXoiOiiX0Wq5/M+Pj2YxQsbX5DTCa937NzsSc8SewRQWEp3u/9o3oTD45vTX+9EEDiz8jH%0AflLhH/js42qiZx/ndc8+zF1Ykv1v7+KQ7PgPS3b8a/d/EbeidB7ZlcVHvqdxtya08GtNgy6NCAsK%0AJSwwlJsXtI82j+84RqF08F2IdOsBkHic2zy6zxL7HFgPoKrqccAaSD500DswRSOGAqzU9YhwU1W1%0AGNouJq/zEl0+dS02mf5l+yuAvrpeFRPRfkkf4rnu33i0vTSSSdxC5Zwtae+Zd/Pryi108+5JN++e%0AHN59FN9W3gCUrFCCJ1FPCQsxLMzDQsJ5Gv2MkhW0N+i+rbw5sls7SWGV2pXp0LstI7uO4Xnsc/06%0A2W2zMXPVNBZP+57LZ658UH7TwoOLf2JfwJmceRyxsLKgbJPqXPM/+1br3r/4J9a2Wclqp+12WahG%0AKUJuflhDU1r48+JNnAu64JjXCQsrS6o38eCs/ymDNGcDTlGrZR0AqjaswZVj2jHuLx08T97i+cmk%0AGw+8RNVSPLh5j4DVu+hTpRv9PXowodUoAv9+yOR2Y9I8NvHvflz2C141P8Gr5ifs3LaX1u21QwtW%0ArFSO6Kjo1859kVR01BNKFqpO5bJeVC7rxdnTF+ncvg8Xz5vvBG/XL97AtUBucuXNhaWVJbWbenLC%0A/4RBmhP+J6jfSjuRc81GNf91iAzrrNbYOWmHGdFYaKjiVZl7ZjTJ2fWL13Et4IqzPubaHEsS8zH/%0AE3i3qg9ArUY1uaCL+Zj/CWo3rY1VJiuc8+bCtYAr1y9cf+Pf+8he261cURQ69u/AttXbjBDVu7t9%0A8Ra5CrjgkEdb7lVp4s5Ff8NhYC76n6FGy9oAVGxYnWu6eTAyWWcik667dEmPsiS8jCfw1n00Fhqy%0A67rdW1haULZuRR7cuIe5u3PxT5wKuGCvu+5VbFKDS/5nTJ2tVKc99nPrj33Ppp4cT3LsH090vic+%0A9o/7n8CzqWeiYz831y9c59GDEIqXL05ma+3xUN7djbs3tfs8cS+GGj7VuX39dhpE+W7qNHs1lNSz%0AJ88IuhdMrUY19csLlShEQkKCvlFj5berCA8J59mTZ5Qorx31tH7Lehzbo32AkThmD98aJo95y8rf%0A9JNrH911TF+ulahQnKfRT/UNTf/QxvaUEhW0sXm3qs/RPccAXbnYWru+d+v6+pidcjsy4ftxTB8w%0Ak/t/J6/z1W1Wx2yGkgK4cfEGuQu+uu7ValIr2XXvpP9J6unOA4+GHlw6pp3vIpttNiaumMiPM37k%0AjzN/GKzTeWhnstlkY+mE93lxLu0YI37rrNbkTHzdr1uFe3+aZ9mvjd/VIP6T/oa9pk/6n8SrlReQ%0APP4JKyawYsYKrp65qk+vsdDoh5uysLSgSr3K3LlxJ40ieje3Lt7EpaALTnmdsLSyxL1JTc4kuec5%0AE3AKT11PkmoN3fldF7+tnS0ajfZxhlPeXLgUzE2IrsfR2YDTlKqufWmnjHtZ7t80v/2f8v2eYb3n%0AbMBpaqZwvwfaely1xu4c32qeQ6X9m4wef0Y+9pNKeizUaOLxmu9CeyxUS3QsXDx4nnyJnn2UrFoq%0AXcSs3f+5cdKV/R5NanI6Sdl/OuAUdXT7v3pDdy7r9v+Y1iPp5fEFvTy+YNvy39i0YAM7V24n8lEk%0AoYGh5C6kfSZZ1r0c99LBd5FhmcGQUW/8+XengSKKohRUFCUT2om7tyZJcxdtx4V/RmWyBt7uYdZr%0AKEm7XhubbrbyLWiHkwpRFMUOsAEOARWAKGAfcFFV1b6KoowBbFRVHaEoSnPgV1VVFUVRfIFxQD1V%0AVZ8pimKnqmq4oiihaIejikA75tYDVVW7KooyDzinquqPunysALbpfm4AdVVVvaX7/Lyqqt8pinIb%0AqKSqaqiiKJWAb1RVrf2m+Gq6eqXqFzpoan+q1q5MbEws0wd/zfVL2lbV5XuW0M27JwDFyhZl1Ozh%0AZLbOzIn9p5gzRtuVeM2RVVhlttK/qXPl3FW+/XIOnQd8Sse+7Q1u7Aa3H2HwBtv7qGX19uP0v6ui%0Atd1oNK4TioWGc+sPcGDBFrwGteLB5b+4FnAO17KF+HTJILLkyMbL53FEP3rMXO/hABT2KE3D0R1B%0AgYe//83mkcuIj4tP9Tz+pe0UlGrc6lSk87huaCwsOLA+gM3zN9JqcHv+vnSLswGnscpsRZ/ZAylQ%0AqhBPIqOZ1/dbQu5p39D3+MSTZn1aoqoqF/af45fpKw227ZDHieHLRzPce0Cq5XfV2Vmptq13MWz8%0ADE6fv0RkZBT2dh/R5/NOtGzik6Z5yFO4oVG3P/2bsdStV5OYZ7EM8Bulb4TYe/hXvGpqx/0cO2ko%0ALVo1xtnFiaDAEH5etZFvZsw32M6mbauYOHZmqjdiuNkWTNXtVa5TmV4TeqCxsGDPuj2smbeWzkM6%0AcePSDU74n8QqsxXD5wzj49KFiY6MZprfDP0wGSuPrSCbTVYsrSx5EvWUUZ+OJioiikkrJmKVyQqN%0ARuHisUssnriEhPjUmfQtng/fTpU6lekzoRcaCw271u3hl3lr6DKkMzcu3eC4/wmsMlvx5ZzhfFz6%0AY6Ijo5nqN41AXcwd+rXHt6038S/jWThhMacPaB92j5r/JeWqlSWHXQ4iQiNY+e1P7Fq3m0+6NadZ%0AlyYAHNl5lGUzln9Q3gtY2Px7ordUpnZ52o77DI2FhqPr97F9wSaaDWrL7ct/cjHgDJaZreg+qz/5%0AShXgaeQTlvSbTei9EOzzODJo5RhUVSUiKJwVIxYS/iCUTFkyM2L9JCwsLVEsNFw9eol1k1em2oR/%0AmYz4Lkip2uVpNa4LGgsNx9fvZ9eCX2k8qA13Lv/J5YCz5C9bmB5LhpI1RzbinscR9SiSKd5DABi8%0AfiK5CruSOZs1TyOiWT1iMVcPpf54+Lfi364H1JtUrlOZ3hN6orHQsNvgfL/JCd2xP2LOcArrz/fp%0A+vO9fb92+LT1Jv5lAosTHfudBnekdhNP4uPjufX7n8wePoe4F3HMXDuDHPY5UBSFP6/8xXcj5ybr%0Aiv8uEkjdOrR1lsz8cnI1ndy78DRaW6dwzpuLAdP6Y+dkh6WlBfu3HmT1dz8nW7do2SIMmzWUzNaZ%0AOLX/DPPHLgBgxJxhfFyqMKqqEnQ/mDlfzk3WUPC+UuMeov+UvlSuXYnY2Od8Pfgbbly6CcCS3Yvo%0A6aMd3bVo2SIMnzVMG9uB08wbo43N9iMbxi4eg5OrE8H3g5nceyrRkdEM+XoQNRt4EKybtDv+ZTx9%0AGmnnErHOYs2aU6vpWKOz/jt+X5k1qTeBcqU6leg5Xnse7Fm3h3Xz19FxcEduXr7JSd11b+icoRQu%0ApT0Pvur7FUF3g2jXrx1t/NrwIFGdfkzHMVhaWfLTqZ+4e/Ouft67bSu3sXvt7lTLc2pK7fgVRWHC%0AjxOwymSFolG4dOwSSyctTbXrvobUnV+vUp1KfDG+BxoLDf7r/Fk/fx2f6uI/pYt/yJyhFNLV+b/q%0AO5Pgu0G07deW1n5tePj3q3kyx3YcQ+yzWL7aOBMLSws0FhouHrnAsknL9MMsfqgsSupOHl6+TkW6%0AjvscjYWG/ev3smn+BtoO7sCfl25xJuAUVpmt6Dd7EAV18c/u+w0h94Kp2qA6bQd3ID7uJQmqyvpZ%0Aazi7V/sQ3MHVkX6zB5HNNhtR4Y9ZOHSuwdwrH8IqFa/9bnUq0EkX+4H1e9miu9/769ItziW638tf%0AqiBPI58Y3O+VqFaKdiM6Mf6TLw222X5kZ2o0q6mdRyw4nANrA/jfnLcZ6CLtpbf441Khzp9Yejv2%0AU7vsS8ytTkW6JHr28ev8jbTWHQv/PPvom+jZx3dJnn0079MSVJXz+8/xc5JnH6kltfd/hToV6Tau%0AOxoLDXvXB/C/+Rtop9v/p3X7f8Dswfr9P6vv1wTfMxyRoe3A9sQ+i2HL0s0AFChZkD5f9cXSyorg%0Au0HMH/odT1Npcu9Nd7aa/+Sy6UjM+klp+zD+HWVpM+5f97eiKA2BOYAFsFxV1amKokwCzqiqulX3%0A/P97IDvaSb6Hq6q650PyleaNGACKorQFRqLtYREH+AEldJ9FAheAF7pGjFxoGz2yALsAP1VVs+u2%0A8yXQGXgB7FBVdZSiKL2B4Whbd06ibQDpqiiKO9ov7znQChgLbFNVdaOiKF7AN2h7WpwGequq+twc%0AGjHSE2M2YqQHqd2Ikd6YqhHDHBi7EcPcpXYjRnqTGo0Y6VlqNmKkN8ZsxEgPUqMRIz1L7UaM9MYU%0A9xDmJDUbMUT6YswHeelBajdipDep2Ygh0pfUfoid3mT0si+j739pxEhd/4VGDFMwSQ1EVdV1JJ/3%0A4gTwYwppg4HEg5iOSLRsBjAjSfpFaCfhTrqdoxhOGN410bK9QPkU1imQ6P9ngNrJoxFCCCGEEEII%0AIYQQQggh/kUGfxnofclrBEIIIYQQQgghhBBCCCGEMEvSiCGEEEIIIYQQQgghhBBCCLMkjRhCCCGE%0AEEIIIYQQQgghhDBLGXtWLiGEEEIIIYQQQgghhBAiLSRk7Ini35f0xBBCCCGEEEIIIYQQQgghhFmS%0ARgwhhBBCCCGEEEIIIYQQQpglGU5KCCGEEEIIIYQQQgghhDA2GU7qvUhPDCGEEEIIIYQQQgghhBBC%0AmCVpxBBCCCGEEEIIIYQQQgghhFmS4aSEEEIIIYQQQgghhBBCCGNTZTip9yE9MYQQQgghhBBCCCGE%0AEEIIYZakEUMIIYQQQgghhBBCCCGEEGZJhpMSQgghhBBCCCGEEEIIIYwtQYaTeh/SE0MIIYQQQggh%0AhBBCCCGEEGZJemKkstC4aFNnwWSOKoqps2BS92LDTZ0Fk8pTuKGps2Ay9//cYeosmFR9tx6mzoJJ%0AWSoWps6CSW2P/MPUWRAmUjJ7HlNnwaTiydhvUOXQWJs6CyZ190WEqbNgMlEvY0ydBZNSUU2dBZO6%0AGxVi6iwIYRIZ+2kHGbzkg4I5nE2dBSEyPGnEEEIIIYQQQgghhBBCCCGMTc3ozYLvR4aTEkIIIYQQ%0AQgghhBBCCCGEWZJGDCGEEEIIIYQQQgghhBBCmCVpxBBCCCGEEEIIIYQQQgghhFmSOTGEEEIIIYQQ%0AQgghhBBCCGNLSDB1DtIl6YkhhBBCCCGEEEIIIYQQQgizJI0YQgghhBBCCCGEEEIIIYQwSzKclBBC%0ACCGEEEIIIYQQQghhbDKc1HuRnhhCCCGEEEIIIYQQQgghhDBL0oghhBBCCCGEEEIIIYQQQgizJMNJ%0ACSGEEEIIIYQQQgghhBDGpspwUu9DemIIIYQQQgghhBBCCCGEEMIsSSOGEEIIIYQQQgghhBBCCCHM%0AkgwnJYQQQgghhBBCCCGEEEIYmZqgmjoL6ZL0xDBzo6YOYdfJ/7H5wM+ULFMsxTQlyxZny4Ff2HXy%0Af4yaOkT/efHSRVi74wc27VvNhj0rKVO+JAAFP87Pmh0/cPHeET7r82maxPG++k3y4+cjK/nBfylF%0ASn+cYpqiZYqwPOB7fj6ykn6T/PSfezaqxY97l7Hv7h6KlS2q/7y4WzGW7V6s/dmzBA9fd6PHkdrG%0ATRvGvlNb2H5wHaXKFk8xzZBRfhy5uINLt4+kce6MY+pXozlxfjf7j26hTLmSKaYZOXYg567s568H%0AZ1Nc3qipN8GPr1GufGljZjVNjZk2i1qN2tG8Yy9TZyVVGePct/3Iltnrv2Hn9d8YMKWv0WN4k8q1%0AK/HjgWWsPPwj7fq0SbbcKpMVYxaOYuXhH5m39Tty5cmlX9bery0rD//IjweWUcmz4r9u061GORbt%0AmM/3AUsYPmsoGgvtpb9Nz1Ys3rWQxbsW8n3AEnbf3oHNRzZGjPr9TP5qFMfO7WLv0V8pU65Eimm+%0AHDOAM7/v5db9Mykub9S0PoGRf1DOrZQxs5rqMkrsfpP6sOrIj3zvv/i153uRMkX4PmAJq478iN+k%0APvrPbT6yYeYvM1h5+Edm/jKD7DmyG6xXrFxR9tzeSa1GNQFwcnVi8c4FLNm9iB/2LqVxx0bGC+wD%0AGaMcNGflPSuwcP9iFh9aSss+rZItt8xkybAFw1l8aClfb/kWpzxOABQpV5TZO+cye+dc5uyaRzWf%0A6gBYZbbi662zmLNrHvMCFtB+cIc0jeddDZ8ykC3H17Fu30qKl0l5n5UoW4z1+1ex5fg6hk8ZqP+8%0A59Bu7D6/mbUBK1gbsAIPL+13YGlpwaS5Y1i/fxX/O/Qz3fp1SpNYUlNGrPOOmzacfae2sONfY97J%0A5dtHDT6vXL0CW/f9wo2g0zRoUi8tspvqZs+axLU/jnDurD/l3ZLX2bNksWbr5lX8fvkgFy/sY9rU%0AkfplNT2qcurkLmKf3aFFC/Mt398kI8efkWMHbfxX/yX+LZtXcfnyQS5c2MfURPF76OKPSefxZ7T9%0AP3baMAJObea3A2sp+ZryvlTZ4mw7uI6AU5sZO22Y/vPipYqwfsePbDu4jiWrZ5M9ezYArKwsmTF3%0APNsOrmPr/jVUqVExxe0KkR6l20YMRVEmKIoy9A3LHRVFOakoynlFUWq+x/a7KooyX/f/5oqipPzU%0A1IhqedUgf6G8+FZtyfgh0xk3c0SK6cbPHMG4IdPwrdqS/IXyUrOu9sZl6Lh+LPhmGS3qdmTeV0sY%0AOq4fAI8jo5g66huWL/w5zWJ5H1XrViFPQVc+9ejCtyNmM2j6gBTTDZo+gG+Gz+JTjy7kKehKlTqV%0AAfj7+m3GfTGBSycvG6T/+9ptejbsQ3efXgzvOJIhMwZiYZF+ToXa9dwpUCgfdas0Y/TgKUz6emSK%0A6fbuPsQn3p3TOHfG4VW/FgUL56daeR+GDhjHzFnjU0y3Z+d+fOsmfyAMkC17Nr7o1Ymzpy8YM6tp%0ArnnD+iyeNcXU2UhVxjr3Xzx/wfKvV7Bo8hKjx/AmGo2GflP8GNV5DJ/X/YI6zeqQr0g+gzQN2vkQ%0AHfmELjU/43/LNvHFqM8ByFckH7Wb1qa7Vw9GdhpN/6l90Wg0r92moigMnz2MKX7T+aJeT4IfhODd%0Aqj4A65dspJdvH3r59uGHGcu5dOIy0ZHRaf59vEnd+rUoVCg/NSr4MmzAeGZ8+5pzf9d+Gnq1TXFZ%0AtuxZ6d6rE2dPXzRmVlNdRom9St3K5CnoSmePz5g1Yg4DpvdPMd3A6f2YNXw2nT0+Mzjf2/u15dzR%0A83Sp+Rnnjp6nvd+r70Kj0fDFqO6cOfSqYTs8JJx+zQbS06c3fk36096vLfa57Iwb5HswVjlorjQa%0ADT2n9GZil/H09epDzaae5C2S1yBN/bbePHn8lF61erB12Ra6jOwKwJ3rdxjSeCCDGvRnYudx9J7u%0Ah8ZCQ9zzOMa2G8VA334M9O1PBc+KFC2f8gtBpubhVZ18hfLQrHpbpgydyaivUr7FGfXVUCYP+Ypm%0A1duSr1Ae3OtW0y9bvXQd7ep1pV29rhzZexyAek3qkimTFW3qdOZTn2607NwMl7zOaRJTasiIdd7a%0A9Tz0MY8aPIXJX49KMZ025uSNUg/vBzK873i2/m+XsbNqFA1861Lk44IUL+lB794jWDB/eorpZs1e%0ATOkynlSq7EON6pXx9akDwN17D/i8+yDWrN2cltlONRk5/owcO4Cvb10+/rggJXTxz39D/GXKeFJZ%0AF7+PLv57uvjXptP4M+L+96znTv5CealXpTljh0xh0syUr3ETvx7JmMGTqVelOfkL5aWWVw0Aps4e%0AyzdT5tHYsy3+O/bTva/2Otim0ycANPZsS9fWfRg5aRCKoqRNUEIYWfp5cvvuvIDLqqqWV1X18Adu%0AqzmQ5o0YdRvUYsv6HQBcPPs7tjlscHSyN0jj6GRPdptsXDz7OwBb1u/Aq6EnAKoK2W20rbHZbbMT%0AEhQKQHhoBL9fuMrLly/TKpT34u5dg90b/QH449xVsttmx87J8EGDnZMd2bJn5Y9zVwHYvdEfDx9t%0Az4q7t+5y76/7ybb7PPY58fEJAGTKnAk1nfXiqtegNr+u3wbAhbOXtcdFLodk6S6cvcyj4NC0zp5R%0A+DbyYsOaLQCcPXMR2xy2OOVyTJbu7JmLhAQ/SnEbX47uz/w5y4iNfWHUvKa1Sm5lyGFrfm/Pfwhj%0AnfuxMbFcPv07L56b9hgo5laMh7cfEng3iJdxLzmw9QDu3tUN0tTwrs4e3XdwaPthyru7AeDuXZ0D%0AWw8Q9yKOoHvBPLz9kGJuxV67TductryMi+PB3w8AOHv4HDUbeiTLU91mddi/5YBxA38Pvg3rsmGt%0A9tw/d+YStjlscEqhvDt35hIhrynvRujO/efPnxs1r6kto8Tu7l1Df6xfPXeN7LbZUjzfs2bPxtVz%0A1wDYs9Efdx/tDVwN7+rs2aBdf8+GV58DNP+sGYd3HCYyNFL/2cu4l8S9iAMgUyYrFI15VoWNVQ6a%0AqyJuRQm6HUjw3WBexr3k8G+HqOJdzSBNVe9q7Nu4F4CjO45Q1r0cAC9in5Ogq9dZZc5E4opd7LNY%0AACwsLbGwtMBcK32ePh5sW6996Hz53BVsbG1wSFLnd3CyJ1v2bFw+dwWAbet3Udv3X97TUlWss1pj%0AYWFBZuvMxL2I42n0U6PEYAwZsc5br4HnB8X84F4g1/64SUJCgtHzagxNmvjw088bATh56hw5PsqB%0As7OTQZqYmFgOHDwGQFxcHOfOX8bV1QWAO3fuc/nyVYk/HcafkWMHaNrEh9VvEf/BRPGfP3+ZPP+R%0A+DPi/q/n68nmddsBuHD2d2xyZE9W3jvmciC7TXYu6J73bV63nfoNagNQsHB+Th07B8CRAyfxaVwX%0AgI+LFeL44dOA9tlf1ONoyril+eNM8W8SEsz7x0yZ553bayiKMlpRlBuKohwBiuk+K6woyi5FUc4q%0ATjXkpQAAIABJREFUinJYUZTiiqK4ATOBZoqiXFAUJYuiKIsURTmjKMoVRVEmJtrmbUVRHHT/r6Qo%0AyoEkf7MG0BT4WretwmkVby5nJ4IeBut/D3oYgpOLYUHu5OJEcGCI/vfghyHk0hX208fMYuj4/uw7%0A/xvDJ/Rn9tQFaZPxVOLo7MCjh68eSD8KfISjs0PyNIGhb0yTkhLli/Pj3mX8GPA9s0bO0TdqpAe5%0AXJx4+MDwuHB2Sf5A/7/ExSUXDx4E6n8PfBiES+5cb1jDUJlyJcmdx4WAPQeNkT2Ryox57psDB2d7%0AQgziC8U+Sd7tE30HCfEJPI1+im1OW+ydHZKt6+Bs/9ptPg5/jIWFBUXLFgGgVkMPnHIblheZrTNT%0AqXYlDu80v2E4nF2cePggSP974MNgXFze5dwvQW5XZ/buOWSM7BlVRondwdk+yfmuPaaTpQl8lSY0%0AUZqcDjkJDwkHtL0scjrk1K/j0cCdrau2Jfubji6OfO+/mDWnf2bdwnWEBYenelwf6r9eDiZl72xP%0AaKJ4wwJDsc9leBzYJUqjLRefYZPTFoCibkWZF7CAuXvms2jUQn2jhkajYfbOuaw6v5oLRy5w48KN%0ANIro3Ti5OBL0MFF9PjAEpyR1OycXR0IS1/kDHxmkadetJev2rWT87JHY5NC+3BCwbT+xz2Lxv7SF%0AnWc3sWrRGqLMrMfdm2TEOq+zixOBicr+oIfBOCe5//svc83tzP17D/W/P7gfiGvu1/ceypHDlsaN%0A6rNvv/nVYd5HRo4/I8cOkPs94m/0H4o/I+7/XC5OBCZ53pfL2fAal8vZ0fCZYGAwuXTXhJvX/qSe%0ArkGjQdN6OLtq7xOu/X4DL19PLCwsyJMvN6XLlcDF9e3vIYQwZ+mmEUNRlIpAO8ANaAhU1i1aCvRT%0AVbUiMBRYqKrqBWAcsE5VVTdVVWOA0aqqVgLKAp6KopR9m7+rquoxYCswTLetP1M1MCNq17UlM8bN%0Apm75JswYO4cpc8aYOktm4+r5a3zm1Z2ejfz4tG97MmW2MnWWhJEoisLEqV8yYfRXps6KECYxxW86%0Avcf3Yv5vc4l5GpOs0bZ6/WpcOX3F7IaS+lCKojBh6ggmjJlp6qykuYwcu6p7077PhN58P22Z/vfE%0AHgU+4ov6vejs0RXv1vXJ6fBRWmdTpLIbF27Qr54fQ5sMoqVfa6x09bqEhAQGNejP51W7UrRcUfIV%0AzW/inBrHhhW/0qRqG9p5dSU0OIzBE7TzPpUqX5L4+AS8yzWjUZVWdOrVHtd8uU2bWSFSiYWFBT//%0AtID5C5bz9993TZ2dNJeR48/IsYM2/tU/LWBBBo4/I+//f4wcMIlPP2vNrwGryZY9q76n8cZfthL0%0AMJhfA35i9JQhnDt9MV29tCvEm1iaOgPvoCbwq6qqzwAURdkKWAM1gA2JxnjL/Jr12yiK0gNtzC5o%0Ah4e6lBoZ0223B4Bz9vx8lOX935bp0K0VrTo2B+D383/gnOhtc+fcTgZvYAGEBIboW2IBcuV2IjhI%0Am6Z520ZMG/0tALu2BjB5dspjqpqT5l2a0rhDQwCuXbyBY6I3hh1dHHkUZNht+lFQKI4uDm9M8yZ3%0Ab90l5mkMBYsV5Pol83w7D6Bjtza01Y1tePnCFXK75uKfEb6dczsRFJjyEErp2WfdO9CxS2sALiTq%0AKgrgktvZ4K2FN8luk43iJYuwadsqAJxyObBqzUI6t+/DxfO/p37GxXtJ63PflEKDwgx6Qzi6OBCW%0AJO9hQaE45nYkNCgUjYWGbDbZiIqIIiwoNNm6oUFhAK/d5tVzVxnUcggAFWtVIE/BPAZ/q3ZTT/Zv%0APZCqMX6Irt3b86nu3L947jK5XV+9heWSOxeBge9w7pcowqZtKwFwdHJgxZoFdG3vx8ULV1I/46kg%0Ao8TerEsTGurO9+sXryc5318d0/8IDQrDMdHb1w6J0kSERmDnZEd4SDh2TnZEhmmHjipatihjFmjr%0APTnsclClbhXiX8ZzdPcx/XbCgsP5+9ptylQtw6HtHzry6IfLSOVgUmFBYTgkitfexYGwYMPjIFyX%0AJiwoTFcuZiU6Isogzf1b94l9GkP+Yvm5demW/vOnUU+5fPwSFWpX4O6NO8YN5i21+awFLT5tCsCV%0AC1dxzp2oPu/iREiSul1I4CODHtm5XBz1acJDI/Sfb/p5K3N/+hqABi3qc2z/CV6+jCciNJILpy9R%0A0q04D+4+xFxlxDpvp25taNupBQCXLlzBJVHZ75w7F0FJ7v/+a3r36sLnn38KwJkzF8iT91VDm2se%0AFx48DEpxvcWLZnLz1t/MnbcsTfJpLBk5/owcO3xY/LcyePzpdf9/2q21/hp36fwfBqNLOOd2IjjI%0A8BoXHPTI8JmgSy79SCx/3brNZ238AChQKB+162uHDI6Pj2fa2Fn6ddZtX87tP82j7iMSUaVh6X2k%0Am54Yr6EBInU9JP75KZE0kaIoBdH20vBSVbUssB1tAwjAS159D9ZJ130bqqouVVW1kqqqlT6kAQPg%0Al+UbaVG3Iy3qdmTvzoM0a6O9mS1XsTTRUU94FGJ4Q/coJIwn0U8pV7E0AM3aNGTfTu3QESFBj6hc%0AowIA1WpW5s5f9z4ob2lh88qtdPfpRXefXhzZdRQf3QS0JSuU4Gn0U/2QEf8IDwnn6ZNnlKyg3e0+%0ArepzdM+xZNtNzDmvs34i71yuTuQrnJegeylfIM3F6uXraVKnPU3qtGfPjgN80qYxAG4Vy2iPi//I%0AOMCJ/bjsF7xqfoJXzU/YuW0vrds3A6BipXJER0W/du6LpKKjnlCyUHUql/Wiclkvzp6+KA0YZigt%0Azn1zcf3idVwLuOKcNxeWVpbUblqbY/4nDNIc8z+hn4C7VqOaXDh6Uf957aa1scpkhXPeXLgWcOX6%0Ahetv3OZH9jkAsMpkRdvebfht9avhdbLZZKVstbIc220+392KZWuoX7MF9Wu2YOf2vbRupz33K1Qq%0Aqzv33668i456QqnC7lQpW58qZetz7sxFs3mI/zoZJfYtK3+jp09vevr05uiuY/pjvUSF4q893589%0AeUqJCsUB8E50vh/zP4F3a+363q3rc2yPdkLjjjU682l17c+h7YeZO3oeR3cfw8HFgUzWmQDIniM7%0AZaqU5t6f5lE/ykjlYFI3L97ApWBunHRlWM0mtTjlf9IgzSn/k9Rt5QWAe0MPLh3TvovklDcXGl29%0AztHVkTwf5yH4Xgi2drZks9XODZcpcybK1SzP/T/NZ56Q9T9u0k/EvX/XIRq38QWgTIVSPIl+QmiS%0AOn9oSBhPnzylTIVSADRu48vB3dphNBLPn1G3gSd/XvsLgKAHwVT2qAiAdVZrylYsxe2b5v0gIyPW%0AeX9avp7GddrRuE47/HfszxAxJ7Zo8UoqVfamUmVvtm7dTadPWwFQtUoFoh5HERSUvBFn0sTh5Mhh%0Aw+Ah49M6u6kuI8efkWMHw/i3bN1Nx7eIf+LE4dj+B+PPKPv/5+UbaFqnA03rdCBg5wGat20EgNs/%0Az/uSlPePgkN5Ev0EN93zvuZtGxGwSztEtp1uCFVFUegz+HPWrvwfANZZrMmSVfto092zKvHx8dy6%0A8XeaxCeEsaWnnhiHgBWKokxHm+8mwBLgb0VRWququkHRdscoq6rqxSTr2gJPgceKouQCGgAHdMtu%0AAxWBnUDL1/ztaCDNZ849GHCUWvVqsPvUJmKfxTJqwGT9sk37VtOibkcAJo2YyfS548icJTOH9x7j%0A0F7tDey4IdMYNWUwFpaWPI99zrgh0wHtjc6GPSvIbpONhASVzj3a0dijHU+fmNdEfyf2naRq3Sr8%0AfGQVz2Of89Xgr/XLlu1eTHefXgDMGTWXL2cNI5N1Zk4dOMXJfacA8PB1Z8DkvuSwy8H0lVO5deVP%0Ahnf8kjJVStOhTzviX74kIUFlzui5PE7yJp85O+B/hNr1PNh3eguxMbGM6D9Bv+y3/WtoUqc9ACPG%0AD6BJS1+yZLXmyKWdrF+9mbkzl5go1x8mYM9BvLxrcfLCHmKexTLA71Wvor2Hf8WrpvZthrGThtKi%0AVWOyZM3C+T8O8POqjXwzY76psp0mho2fwenzl4iMjMKreUf6fN6Jlk18TJ2tD2Kscx9g7fHVZLXJ%0AipWVFR4+7gztMII7N9O2G3JCfALzxi5gxuppaCw07Fq3hzs37tBlSGduXLrBcf8T7Fy7iy/nDGfl%0A4R+Jjoxmqt80AO7cuMPBbYf4Yd9S4l/GM3fMfP0EdiltE6BNr9ZU9aqKRqPw20/buXDs1SXS3ded%0As4fOEhtjnhM/791zCK/6tTh+fhcxz2IZ5Ddav8z/8Cbq19S+uTpm4hA+adWILFmtOXtlH7/89D++%0AnZG+5oFKKqPEfnLfKarWrcJPR1YQG/ucrwd/o1+2ZPcievr0BuC7UfMYPmsYma0zcerAaU7t005Y%0AuHb+WsYuHkODdr4E3w9mcu+pb/x7+T/OR69xPVBVFUVRWL9kI39fu220+N6XMctBc5QQn8DSsYuZ%0A8NMkNBYa9q7z596Nu3QY/Cm3Lt/klP8p/NftYdCcISw+tJToyCd801c7TGTJyiVp2acVL+PiURMS%0AWDx6EdERUeQvXoCBswahsdCgaDQc3XaYM3tPmzjSlB0JOI6HV3W2nlhPbEwsEwZO0y9bG7CCdvW6%0AAjD9y2+Z+N1oMltn5ui+ExzZq220GzC2D8VKF0FVVQLvBTFlmHYouXXLNzHxu1FsPLgaRYEta3dw%0A82q6GRk3Q9Z59+ti3n96K7ExsQxPFPO2/WtpXKcdoI25acsGZMlqzdFLu1i/+le+m7mEsuVLsmjl%0ALHLksMXLpxYDRvTC16OViaJ5dzt27sXXty7Xrx7lWUwM3bsP1i87c3oPlSp74+rqwqiRA7h67San%0AT+0GYOHCH1n+4xoqVSzHxg0/kDNnDho3qs/4cUMo51bXVOG8s4wcf0aOHWDnzr008K3LtatHiXnP%0A+Dfo4m/UqD7jxg3BLR3FnxH3/wH/I3jWc2fvqS3ExMTyZaLyfuv+X2hapwMAE4bP4Kt5E7C2tubg%0AvqMcDDgKQJMWvnzaTduDe8/2/Wz8ZSsA9g45Wb5+PmqCSlBgCEP7jE3bwIQwIiWlsYLNlaIoo4Eu%0AQAhwFzgH/A9YhHaIKCtgraqqkxRF6QpUUlW1r27dFWiHnroHPAa2qqq6QlGUmsAPQBTaho1KqqrW%0ATry+oijuwPfAc6DVm+bFKOFUJf18oaksVyZbU2fBpO7Fmt/EoGnpSdwzU2fBZO7/ucPUWTCp+m49%0ATJ0Fk7JULEydBZO6Em0eb7GLtFcye55/T/QfFk/G7gaeQ/NeHZj/M+6+iPj3RP9RUS9jTJ0Fk1LJ%0AsLd7ANyN+m8PbyXE6yj/nuQ/LWOXfFAwx+snGs8Ibj46m9FPgVT1bFE/sz6lsvaeZ5b7Oz31xEBV%0A1alASq/Y+aaQdgWwItHvXV+zzcNA0Tetr6rqUbRzaAghhBBCCCGEEEIIIYQQ7y7BrNswzFZ6nxND%0ACCGEEEIIIYQQQgghhBD/UdKIIYQQQgghhBBCCCGEEEIIs5SuhpMSQgghhBBCCCGEEEIIIdKlhIw9%0At977kp4YQgghhBBCCCGEEEIIIYQwS9KIIYQQQgghhBBCCCGEEEIIsyTDSQkhhBBCCCGEEEIIIYQQ%0AxibDSb0X6YkhhBBCCCGEEEIIIYQQQgizJI0YQgghhBBCCCGEEEIIIYQwSzKclBBCCCGEEEIIIYQQ%0AQghhbKpq6hykS9ITQwghhBBCCCGEEEIIIYQQZkkaMYQQQgghhBBCCCGEEEIIYZZkOCkhhBBCCCGE%0AEEIIIYQQwtgSEkydg3RJemIIIYQQQgghhBBCCCGEEMIsSU+MVJYvs72ps2AyKhl7YprCWZxMnQWT%0AUrIops6CydR362HqLJiU/4Wlps6CSW0qM9bUWTCpzTmymDoLJvWcjPsWTUR8jKmzYFKWioWps2BS%0AjxNiTZ0Fk7K3ym7qLJiMS6Ycps6CMKGK2fKZOgtCmERGf96R0UUnxJk6C0JkeNITQwghhBDiPWTk%0ABgwhhBBCCCGEECKtSE8MIYQQQgghhBBCCCGEEMLYEqRn1/uQnhhCCCGEEEIIIYQQQgghhDBL0ogh%0AhBBCCCGEEEIIIYQQQgizJMNJCSGEEEIIIYQQQgghhBDGpsrciu9DemIIIYQQQgghhBBCCCGEEMIs%0ASSOGEEIIIYQQQgghhBBCCCHMkgwnJYQQQgghhBBCCCGEEEIYW4Jq6hykS9ITQwghhBBCCCGEEEII%0AIYQQZkkaMYQQQgghhBBCCCGEEEIIYZZkOCkhhBBCCCGEEEIIIYQQwsjUhARTZyFdkp4YQgghhBBC%0ACCGEEEIIIYQwS9KIIYQQQgghhBBCCCGEEEIIsyTDSQkhhBBCCCGEEEIIIYQQxpagmjoH6ZL0xBBC%0ACCGEEEIIIYQQQgghhFmSnhhmrFLtivSa0AsLCw071+xi/cINBsutMlkxbM4QipQpQlREFNP6TCf4%0Afgg2H9kwdsloipYriv8GfxaMXZRs2xOWj8clnzM96/VOq3DeSqXaFek9oTcaCw271uxi3cL1Bsu1%0AMQ+lSJkiREdEMbXPdILvBwPQzq8tPu18SIhPYOH4RZw9eBaAVcdWEvP0GQnxCcTHx9O3UX8ARi0c%0ASd5CeQDIZpudp1FP6O3rl4bRJpfa8ecplIfRC0fq13fO58yqb3/i1x826z9r2aMFPcf2oFXZNkRF%0ARKVNoP/CGMf+1J8mY+dkh4WFBb+f+p35YxaSYMaTKfWb5Ee1ulWIjXnOjEEzufn7rWRpipYpwpez%0Ah5PZOhMn9p1i3rgFAHg2qkXXwZ3JXyQfvRv35fqlGwDYfmTLxKXjKF6uGLs27Oa7MfPTNCZjGDNt%0AFoeOnsIu50dsXr3Y1NlJdc51ylJ+UicUCw1//XKAa/N/M1hetGcDCnWog/oynudhUZwa/D3P7ocC%0AUHZ0O3LXcwPgyuzN3Nt6Iq2z/87KeZan8/juaCw07F/rz9ZFmwyWW2aypM+sgRQsU5gnEdF81/cb%0AQu+HAJCveH4+n96brNmzkpCgMqbpUOKexzF27RQ+csrJi9gXAEzvNIGosMdpHtvbKO9ZgW7ju6Ox%0AsCBg7R5+XfQ/g+WWmSwZMGsQhcp8THREFN/2/ZpHuvgBHHI78F3AAtbPWcOWpdpyPqttNvy+6kve%0AovkBlfnD5nLj3PW0DOtf9ZvUh6q68u6rQV+/trwbMXsYma0zcXLfKeaNWwiAzUc2jFs4Gue8zgTd%0AC2Ji7yk8efyEtr1aU+8TLwAsLDTkK5KPT8q1JjoymuHfDKFavapEhkbSrV6PNI31TSrXrkSfCb3Q%0AWFiwc81O1qZQBxgxZ5j+2jelzzR9HaC9X1t82/mSEB/PgvGLOHPwLI4ujoyYM4ycDh+hqrD9lx38%0AunxzSn/abGSka58p9nerHi3pNbYHLcq2Nps6H0BFz4r0nNATjYWG3Wt3syFJvc8ykyVDZw/l4zIf%0AEx0RzXS/6YTcD6F8zfJ0/bIrVlZWxMXFsXzqci4euwhA52Gd8WrpRfYc2WlZoqUpwnprGT1+N8/y%0AfDb+CzQWGvau9WdzCte+frMGUahMYaIjopmtu/Y55nFizt75PPzzAQA3zt/g+9Hauv/oleP5yCkn%0AFpYWXD31Bz+MXWKW9f6MHDtI/G6eFfhMV+/bu3bPG+L/mCcRUcxKod43O2ABG+asYauu3tfwsybU%0Aa++NoigErNnD9uVb0zSmd/G+8Wv3/wL9/r95/jpLdfu//bCOeLaoQ7Yc2elUsm2ax/Qm7/uMA6Ct%0AXxt82/kQH5/AovGLOHvwHADNuzWjQQdfFBR2rtll8JynademNO3SmIT4BE7uO8UP05anXbBCGInZ%0A9sRQFKWAoii/G3H7x4y17dSg0Wjwm+LHmM5j+aJuT+o0q02+IvkM0vi08+ZJ5BM+q/k5m5Zt5vNR%0A3QB48fwFK7/5ie+nLEtx2+6+NYh9GmP0GN6VRqOh7xQ/Rncewxd1e1A7hZh92/noYu7GpmW/6mPO%0AVyQfnk096eHVk9GdRtNvqh8azavDe1ibEfT29dM3YABM6zOd3r5+9Pb148jOIxzZeTRtAn0NY8R/%0A/6/7+hj9Gvbjecxzju56deg7ujhQsVZF/U2xOTDWsT+193R6+/jRo14vctjnoGbjmmkSz/uoWrcK%0AeQq68qlHF74dMZtB0wekmG7Q9AF8M3wWn3p0IU9BV6rUqQzA39dvM+6LCVw6edkg/YvnL1j+9QoW%0ATV5i9BjSSvOG9Vk8a4qps2EUikah4rSuHPp0Jrs8h5O/eXVsi7oapIm8fAd/3zHs9hrJvW2nKDem%0APQAuXm7kLFOA3fVG4d9wPMV7N8QyexZThPHWFI2Gzyb35Ksukxharx81mtbEtUgegzR12tbn6eMn%0ADPLszY4fttLhy84AaCw0+M0ZxA+jFjOsfn8mtx3Dy7h4/XoLBsxiZMNBjGw4yGwbMDQaDV9M7smU%0ALhMZUM+Pmk1rkadIXoM09drW58njJ/h59uS3H7bS+csuBss/G/s55w+cM/js8/FfcP7gOfp79WGw%0A7wDu37pv9FjeRdW6VXAt6EpHj658O2IOg6b3TzHdwOn9+Wb4bDp6dMU1UXnXwa8t546ep1PNrpw7%0Aep4Ofu0AWLd4A1/49OILn158P2M5F09cIjoyGoBdG/YwouOotAnwLWk0GvpN8WNU5zF8XvcL6jSr%0Ak+za16CdD9GRT+hS8zP+t2wTX4z6HNDWAWo3rU13rx6M7DSa/lP7otFoiI+PZ/HkpXzu1YN+zQbQ%0ArEuTZNs0Jxnp2meK/e3o4kilWhXMqs4H2u+iz5Q+jOsyjl5evfBs6kneJGWfT1sfnjx+Qvda3fl1%0A2a90G6mt9z0Of8zEbhPp492HWYNmMWTOEP06JwNOMrDpwDSN5X1I/Bo+n9yTqV0mMqheX9yb1kx2%0A7auru/b18+zFth+20jHRtS/oThDDGg5iWMNB+ofYALP8ZjKswUAG1++Hrb0t1Rq5p1lMbysjxw4S%0Av0ajobs+fj88Uqj3eenqvf08eyaLH6DL2M+5kKjel7doPuq19+bLpkMY4tufil6VcM7vkibxvKsP%0AjT/4ThDDGg5kWMOB+gYMgDMBp/my2dA0i+NtfcgzDu1135MeXr0Y3WkMfXXX/fzF8tOggy/9Gw+k%0Al08fqnpVIXcB7f4uV70sNbyr6Z9/bFzyv2R5EiamJpj3j5ky20YMY1NVtYap8/AmxdyK8vD2Q4Lu%0ABvEy7iUHth6kunc1gzTVvavjvzEAgMPbD+Pmrn3j9nnMc66cvsKL5y+Sbdc6qzUtvmjBL3PXGj+I%0Ad1TMrRgPbwfqYz649SA1vKsbpEkc86Hthymvi7mGd3UObj1I3Is4gu4F8/B2IMXcir313/ZsXIv9%0AWw6kWizvw9jxl/dwI/BOICEPXr290Wt8T5ZNXYZqRsPxGevYf/bkGQAWlhZYWllhVkEn4e5dg90b%0A/QH449xVsttmx87JziCNnZMd2bJn5Y9zVwHYvdEfDx9tJf3urbvc+yv5g8rYmFgun/49xe8nvark%0AVoYctjamzoZR2JUvTPTtYJ7efURCXDx3t5zA1aeiQZqQY38QH6Pdn2HnbpHVRXuc2BZ15dHJa6jx%0ACcTHPCfyj3u41Cmb5jG8i4/dihB0O5CQe8HEx73k+G9HqFS/qkGaivWrcOh/+wE4ueMYpd21MZWt%0AVZ67125z9+ptAJ5ERqOa6Vt3r/OxWxECbwcSfC+Yl3EvOfLbYaokib9y/ars/98+AI7vOEoZ93L6%0AZVW8qxJ8L5h7N+7qP8tqk5WSVUsRsFZbnryMe8mzqKdpEM3bc/euzh5deX713FWyvaG8u6or7/Zs%0ADMDDR1uNq+Fdg90btPHt3uCPu0/y6p1X8zrs27Jf//ulk5eJ0jVomAttHeAhgfpr3wHck9QBanhX%0AZ4/u2pC4DuDuXZ0DWw8kqgM8pJhbMcJDwrml68kQ8zSGu7fu4eDskLaBvYOMdO0zxf7uPb4nS6f+%0AgGpm9Z+iSep9h347RPUk30U172oE6MqJIzuOUE5X9v115S/Cg8MBuHPjDpmtM2OZSTvQwPXz14kI%0AiUjDSN5PRo9fe+0PIkR37Tv622Eq1a9ikKZy/aoc1F37Tuw4qr/2v0nME+0Le9p6v6VZ1vszcuwg%0A8Seu9/4Tf+UU6n0HXlPvq+xdlZAk9b48H+fl5oUbvIh9QUJ8An+cvEJVX8PyxFx8aPyvc/P8dSLN%0AsOz7kGcc1b2rcUD3rCdYf90vSr6P83Lt/HWexz4nIT6BSycv4+6rrRM17tSIdQvXE/ciDoDHZvoS%0AlxDvytwbMSwURfleUZQriqLsURQli6IoboqinFAU5ZKiKL8qipITQFGUA4qiVNL930FRlNu6/5dS%0AFOWUoigXdOsU0X3+RPdvbd26GxVFuaYoys+Koii6ZQ11n51VFGWuoijb0ipwe2cHHj18pP89NDAU%0AB2d7gzQOzvY8eqgdNiQhPoGn0c+wzWn7xu12GdaZ/32/iecxsamf6Q+kjedVzI8CQ7FPMWZtGm3M%0AT7HNaYt9knUNvi9VZfrP01iwfR4NOzRI9nfLVC1NRGgED28/NEJUb89o8et4NvU0aKip7l2N0KAw%0A/rr6txGieX/GOvYBpq6ewrrza4h5+ozD24+kbsZTkWOS7+BR4CMckzx4cnR24FFg6BvTiPQti7Md%0AMQ/C9L8/Cwwni3PO16Yv1L42gfu1w0hE/nEXl9rlsMiSiUx22XFyL0nW3PavXdcc5HS2IyzRMR0W%0AGEZO5yQPMJ3tCEt07j+LfoZNThtcCuZGVeHLVeOZtv1bmvT8xGC9nt/0Z/qO2XzSv43xA3lP9s72%0ASeIPxS5J2WfvbJ8k/qfY5LTBOqs1n/Ruyfo5hi8oOOXNRVTYY/p+M4Bvdsyhz1d9yZwls/GDeQcO%0Azg6EPHzVuK4t8x2SpUla3v2Txs4hJ+Eh2od44SHh2DkYniOZrTNTuXYlDu0w3zIftNe1kGSIkT28%0AAAAgAElEQVR1AMPvIfH10bAO4JBs3aTXzVx5cvFxqcJcO3/NiFF8mIx07Uvr/V3DuzqhQaH8dfUv%0AY4X03uyd7Ql9+GqfhgaGYp8redmX+Lt4lkK9z72hO7d+v8XLFy+Nn+lUlNHjt0ty7QsPDEt2/2Pn%0AbKf/jhJf+0B7nZu5YzYT102leOWSBuuNXjWBZedWEfs0hhM7zG8QhowcO0j8ds72hP5Lvc8uUfmQ%0AtN7XvHdLNiSp9929cYcSlUuS/SMbMllnonyditjnNs9r5IfED9r9//WOOUxcN40SSfa/OfqQZxxJ%0AnxOF6uoMt6/foXSVUth8ZKOt79apjGNuRwBcC7lSukppvts6m683zKRouaJpEKUQxmfujRhFgAWq%0AqpYCIoGWwCpghKqqZYHLwPh/2UYv4DtVVd2ASkBK4yiUBwYCJYFCgLuiKNbAEqCBqqoVAcfX/QFF%0AUXooinJGUZQz95/ce6cA01KhkoVwye/CsV3meSE3lkEth+DXsC+jO4+hSZcmlKla2mB57Wa1Td4L%0Aw9gsrSypXr8ah7YfBrQPddr3bcfKb1eZOGdpa3THMbSv9ClWmaxwe4s3OYRIL/K3dMeuXCGuLdS2%0AtQcfvMzDfRfw2jqB6gv7Enb2ZrrrmfAuNJYailUuwYIBs5jQciSVfKtSSve23vwBsxjhM4CJrUdS%0AvHJJaraobdrMGkHbQe35bdkWYp8ZvqBgYWFBodKF2b16J0MbDiT2WSwt+rQyUS7TRtK3zGvUr8bv%0Ap6/oh5LKiKyzWjN+yVgWTlis75Uo/ruS7u+MUOfLVzQf3UZ2Y97IeabOiklk1PgjQsLpXb07wxsO%0AYuXk5QyYO4QsiYbOnNp5Aj0qd8UykxWla5QxYU5TX0aOHST+NoPasy2Fet+DW/fZvHgTY1dPZMyq%0Aidy+8jcJ8f+9+n9ESDi9qn/OsIYDWTn5h2T7P6O4d+se6xduYPrPU5m6ejJ//fGXfn9bWFpg85EN%0AA5oOYtnUZQbzpAqRnpl7I8bfqqpe0P3/LFAY+EhV1YO6z1YCtf5lG8eBUYqijADyq6qa0mQQp1RV%0Ava+qagJwASgAFAf+UlX1n9fU17zuD6iqulRV1UqqqlbKkz3v65K9k7CgUH0rKoCDiwOhQWEGaUKD%0AwnDUtaxrLDRks8n6xkn6SlYsQdGyRVh5bAXfbvoW14KuzFz/VarkNzVo43kVs6OLA2EpxqxNo405%0AG1ERUYQlWTfx9/XPNiLDHnNs1zGDYZY0Fho8fN05uPWQ0eJ6W8aKH6BynUrc+v0WkaGRALgUcME5%0ArzOLdy9i1bGVOLo4sHDnfHI6vv4t77RijGM/sbjncRzfcyJZ901Ta96lKct2L2bZ7sWEhYQnORYc%0AeRQUapD+UVAoji4Ob0wj0reYoHCyuL56Qyerix0xQcm7R+eqWYqSA5pxuMu3JCR6A/Pqd1vYU38U%0AB9vNABSi/wxMi2y/t4igcOwTHdP2LvZEBIUbpAkPCte/Uaax0JDVJivREdGEB4Zx7eQVoiOieRH7%0Aggv7z1GwdCHtdnVDbcQ+jeXolkMUdiuSRhG9m7CgsCTxOxCepOwLCwpLEn82oiOiKeJWlM4ju7L4%0AyPc07taEFn6tadClEWFBoYQFhnLzgnaC4+M7jlFI972YUvMuTfl+92K+15V3Trmd9Mu0Zb5hWRaa%0AQnn3T5rw0Aj9kEN2/2fvvqOiuN4Gjn9nF5CqgqCA3dh77AUVe/upKZrYjcbeeyxYkthiN/byJjEx%0AsaXZFYwdVOy9GxUVUJoCKgI77x+7rhS7bjE8n3M4ujt3Zu8z5c6duXPvZHcjOjIm1by1W/imGkrK%0AWkWERZI9XR0g9XpIeX5MXQeISDfvk/Om1kbL+CVj+OfvHezbatl3fz1LRj33mXN7exvqfIu3LWRF%0A0HI8vDxYtGW+VdT5QF+uuad4Utjdy53I8PRlX8p14Zii3pfNMxtjloxhxqAZhF0PM1/G35GMHn9U%0AmnOfm1e2dNc/UWFRxnWU8tyX9DiJOEMD9dXTVwi/HopX/tTvDktMSOSQfzAVG6QepsYaZOTYQeKP%0ACovE/SX1vqgU5UPael+HkV+wYN9SmnZpxsd9WtGoU1MAdqwO4Kv/DWbsZyOJvxdH6L+3zBfUa3ib%0A+NNv/zC802x/a/M29zjS3idyT1Fn2Lban75N+zO05XDi7sVy81/9M9sRoREEGt75euH4RXSqSha3%0ALCaNUbwmnWrdf1bK2hsxElL8PxnI+oK0STyNx/7Jl6qq/gY0Bx4CmxVFqfMKv2PzRrl9hy6cuEjO%0AfN7kyJ0DG1sbfJvX4kDAgVRpDgQcoH7LegDUaFqDE4EnXrjMjb9som2F9nSq9gVDPhnCrX9vMfyz%0Ar0wWw+u6cOICOfN542mIuVbzWuxPE/P+FDHXbFqD44aY9wccoFbzWtja2eKZOwc583lz4fgF7B0y%0A4eCkb5W3d8hEuZrluHbhmnF55Wp8SMiVkHQ3TCzBFPE/UTtNb5Nr56/x2Yet6VitEx2rdeJuaAS9%0AG/cl+q7lx480xb5v72iPW3b9xbpGq6FS3YqEWNnLbf9evp6uDXvStWFP9m0NpGHL+gAUL1eM+Nh4%0A43ApT0TdiSI+7gHFyxUDoGHL+gT6Z6xeVv91Ucev4pLfE6fcHmhsteRpUYVb246kSpO1ZF4qTP2S%0AvZ1mkBD5tCFP0SjYuToDkKVYbrIWz03Y7tQvu7U2V05cwjO/Fx65s6O1taFqMx+OBASnSnNkezA1%0AP60NQOUm1TgTpI/p5O5j5C6aFzt7OzRaDcUql+DWpRA0Wo2x27nWRku5uhW4eeEG1ujyiUt45fcm%0Au6Hs82lWg0MBB1OlObQ9mNqf6qsxVZtU51TQSQD8Wo2kp083evp0Y+MPG/hz/lq2LN9EzN0YIkIj%0A8C6gv7ArXb0MIZcs32P07+XrjS/dDtwaSANDeV7sJeVdMUN516BlPQL99wMQFLCfhq305WXDVvUJ%0ASlEOOrk4UqZKaQK37TdHWG9FXwfIaawD+Db3JSjNuS8o4AANDOeGlHWAoIAD+Db3TVEHyGmsAwyd%0ANpjrl0L4Y+mf5g3oFWXUc585t/e/56/R6sPPaV+tE+2rdeJu6F16Nu5jFXU+gIsnLuKd/2m9r2az%0AmunqfQcDDlLPUE74NPHhpKHsc8rsxNc/fc2PU37k7OGzZs/7u5DR49ef+7zInjs7NrY2VG9Wg8Np%0Azv2HtwdTy3Duq9KkOqcN8Wd2y4xGo7/8z547B175vblzIwx7R3uypqj3l69TgVtXrKveDxk7dpD4%0A09b7qj+j3nd4ezC+Kep9T+If02okvX260dunG5t+2MBf89eydfkmADJn09+odvd2p3KjquxdZ/mH%0ANZ/lbeJPu/0983sTfsO6G3Hf5h7HgYAD+Bru9eQw3uvRP6CUxbC9Pbw9qN6oOjv/3gVA0Lb9lKmm%0AH3kiZ/6c2NracC9K3osh3n8Wv1n/mu4B0Yqi1FBVdS/QAXjSK+MaUB4IBoxjJSiKUgB9j4rvFUXJ%0AA5QGdrzCb10ACiiKkk9V1WvA5+8silegS9Yxf8xCJq2YgEarxX+1P9cv3qDjkA5cPHmRAwEH2bpq%0AG8NnD+PHvf9HbEwsk/pMMc6/POgnnFwc9cMINazGqHajuXHJOm/cPKFL1jFvzAImrZiIRqth22p/%0Arl+8boj5EgcCDrB11Va+mj2cH/f+YIh5MqB/md2ejXtYumMxyUk65vnNR6fTkdXDlXFLxwL6YTV2%0ArtvJ4V1PbwL6NreeoaRMET8YGm9qlGP2iO8tGd4rM8W+fz/6PuN/GI+tnS0ajcKJoJNsXLHJglG+%0A2IEdB6lcpxK/7vuZhEcJfDd4mnHasm2L6NqwJwCzR33PiJnDsLPPRPCuYA7u0Ff8fRpVZ8C3fcni%0AloXJyydy+cwVhrcfAcCq/StwdHHE1tYWn4bVGdr2K65bednwIsPGTeHQsZPExNyn7kft6f1lBz5t%0A1tDS2Xon1GQdR0f9RK2VX6FoNVxdtZv7F29RctinRJ34l9v+Rykzpi02TvZUWzIAgAe3Itj3xUwU%0AWxvq/K0v+5JiH3Kg70JUK+9OrkvW8dPYpYz8eRwarZZda7Zz81IILQe34d+Tlzmy/RC7Vm+n96yB%0AzNq9kLiYWOb2nQFA/P14Ni9bz8QN01FVleM7j3JsxxEyOWRixC/jsbHRotFqOLXvBP+sDLBwpM+m%0AS9axbOxixv48Ho1Wwz9rthNyKYTWg9ty5eRlDm0P5p/VAQyYNZj5uxcTFxPLzL7TXrrcZeOWMHDO%0AYGxsbQm/Eca8oXPMEM2rO7AjmMp1KrNi33JDeTfdOG3ptkV0M5Z3cxkxc6ihvDtkLO9WzlvFuEVj%0AaNK6MeE3w/m61wTj/D6NfDi8+wiP0rwHzG/eKMpWLU0WtyysOfQbP834mc2rtpoh2ufTJeuYO2Y+%0AU1ZMQqPVsNVQB+g0pCMXT15kf8ABtqzayojZw1m+90diY2KZ2GcSoK8D7N64h//bsYTkpGS+95uH%0ATqejZMUS1G9Zj6vnrrJo6wIAfvjuR4J3HrJkqM+Vkc59sr2f0iXrWDhmIRN+mYBGq8F/tT83Lt6g%0A/eD2XDp1iYMBB9m2ehtDZw9l2Z5lxMbE8l1ffU/yZp2a4Z3PmzYD2tBmQBsA/Nr7cS/yHl1GdcG3%0AhS+ZHDLx88Gf2bZqG7/O+tWSoT6TxK/j/8YuYbTh3LdzzT/cvBTC54Zz3+HtwexYHUC/WYOYu3sR%0AcTGxzOqrP08Uq1yCzwe3JTkxCZ2qsmTUQuLuxZHFPQtfLRuNrZ0tikbhzP5T+K+wbBn/LBk5dpD4%0An9T7/Azx7zDUe1PG/8/qAPrPGsxcQ71v1ivU+4YtGoGzqwvJicksG7uIB/fjzRDN63ub+ItVLkHr%0Awe1ISkxCVVWWjFpA3L04ANqP/IIaLWqSySETiw/8wD+rAlgz+7mDqpjN29zjuH7xBns27mXJjsUk%0AJyUzz2+B8V7P2CV+uGTNTHJSEvP8FhBv2N7bVvszePogFm9fSOLjJKYNmmGx2IV4l5S0YwdbC0VR%0A8gEbVVUtafg8FHAG/gYWAY7AVaCzqqrRiqIUBdag70mxCWivqmo+RVFGoG/sSATCgLaqqkYpihKn%0Aqqqzoii+wFBVVf9n+J15wGFVVX9SFKUZMA2IBw4BLqqqtntRvhvmbmydK9QMVDJs6AJQUCydBYtJ%0AUBMtnQWLCji+xNJZsKg/S42xdBYs6m8767w4MocErLthyNSik581QmfGoVWsvUOzaSWpyZbOgkXZ%0AKFpLZ8Fi7DJw7AKcFFtLZ0EIi5D7HRlbrC5jX/NvC9mScW/4mED8+DZWXaA4jV9pldvbantiGHo/%0AlEzxeXqKyekGs1dV9Tz6XhZP+Bm+nwJMeUZ6Z8O/u4BdKb7vmyLZTlVViyqKogDzgcOvH4kQQggh%0AhBBCCCGEEEIIId5Exn6E7OW6KYpyHDgDZAEWWzg/QgghhBBCCCGEEEIIIUSGYbU9MayBqqqzgFmW%0AzocQQgghhBBCCCGEEEKI95zOqkeTslrSE0MIIYQQQgghhBBCCCGEEFZJGjGEEEIIIYQQQgghhBBC%0ACGGVZDgpIYQQQgghhBBCCCGEEMLUVJ2lc/Bekp4YQgghhBBCCCGEEEIIIYSwStKIIYQQQgghhBBC%0ACCGEEEIIqyTDSQkhhBBCCCGEEEIIIYQQpqZTLZ2D95L0xBBCCCGEEEIIIYQQQgghhFWSRgwhhBBC%0ACCGEEEIIIYQQQlglacQQQgghhBBCCCGEEEIIIYRVkndiCCGEEEIIIYQQQgghhBAmpup0ls7Ce0l6%0AYgghhBBCCCGEEEIIIYQQwipJT4x3LJmM25qmqqqls2BRiqJYOgsWlnG3v42itXQWLOrPUmMsnQWL%0A+uTUt5bOgkUtKdvT0lmwKF0GLvu0SsZ+Fiaj13sy+rkvI2//xyRbOgsWlZG3PUACSZbOghBCmF1G%0ArvMLYS2kEUMIIYQQ4g3IxYwQQgghhBBCiNeik+vIN5GxH6ETQgghhBBCCCGEEEIIIYTVkkYMIYQQ%0AQgghhBBCCCGEEEJYJRlOSgghhBBCCCGEEEIIIYQwNRlO6o1ITwwhhBBCCCGEEEIIIYQQQlglacQQ%0AQgghhBBCCCGEEEIIIYRVkuGkhBBCCCGEEEIIIYQQQghTU3WWzsF7SXpiCCGEEEIIIYQQQgghhBDC%0AKkkjhhBCCCGEEEIIIYQQQgghrJIMJyWEEEIIIYQQQgghhBBCmJpOtXQO3kvSE0MIIYQQQgghhBBC%0ACCGEEFZJGjGEEEIIIYQQQgghhBBCCGGVpBFDCCGEEEIIIYQQQgghhBBWSd6JIYQQQgghhBBCCCGE%0AEEKYmCrvxHgj0hNDCCGEEEIIIYQQQgghhBBWSXpiWIGKvhXoPb4nGq2WLSu3sGrBmlTTbe1s+Wr2%0AMAqVKsT96PtM6D2J8JvhALTp8zmNWjdCl5zM/HELObz7yAuX+WH1snQf3RVFo+FR/EOmDpnB7Wu3%0AyZ4zO0OnDyZrtizExsQyuf9UIsIizLsiDPp805vKdSqS8DCBqYOmc+n05XRpCpUqxPBZQ8lkb8fB%0AHYeYP3YBAC5ZXRizYDQ5cucgPCScb3pNIO5enHG+ImUKM3fdHCb0mcSeTXsB6DbqSyrXqQzAijm/%0AsmvDbjNE+Wym2BeGTh9M5bqViYmMoVu9HsZl+S0YRa4CuQBwzuxE3P14ejbqbaZI0zNn7AWKFWDg%0A5H44ODkQFhLO5P7f8SDugfmCNTDnsV+2Whl6+HXDxs6WSycvMX3YTHTJOj7r0ZI6H9cBQGujJU/B%0A3LQs+zmxMbFmXBPP51m7NB9+0wFFq+Hqb7s4P29DqumFezSmQNvaqEnJJETeJ3jwUh7c1JddpUe3%0AxrteWQDOzPqbkPUHzJ19k/KbNJM9gcG4uWbl7xWLLJ2dt2bush/A0dmRH3YuJXBbEHP95ps+yOfo%0A901vKtepxKOHCXw3aNozYy9cqhBfzRpmiD2YuSliH7tgNJ65PQkLCeNrQ+zOWZwZPmMI3nm9eZzw%0AmKlDZnDtwjVsM9ky54+Z2NnZotVq2b15Lz/N+NncIRu963LQNpMts36fga0hvj2b9/LzzF8AGPn9%0AVxQuXYikpGQuHL/ArBFzSE5KNnvMaZli38/9QW6GzxxCwZIF+WHqT6xd/LtxWb/u/5kH8Q/RJetI%0ATkqmd9O+Zos1rYy+/U2x7as1qErnYZ3Q6VSSk5JZMH4hpw+dASC7twdDpg3Gw9sDVJWRHf2M69Mc%0ArOGap0Gr+nQf3ZWIsEgA1v20ni2rtpptHZjqXPe85fpf38K/568BcOfWHcZ0GQfo108Pv24oGg0P%0A4x8ydfB0bl+7bYY18JQp1kXdj+vQuvdnoCg8jHvA7JFzuXruKqC/LqhSrwoxETF0rdfdrLGmlZHr%0APCDxm7Psz54zO98sG4ei0WBjo+WvH9exccUmc4ecirnPfZNXTKT4h8U4feg0o78Ya9ZYX8YU1wBl%0AqpZmwv99Q1hIGAB7t+zj59krzBqXEKbyn++JoShK3MtTWY5Go6HfhD6M6ujHl3W6UbtFbfIUypMq%0ATePWDYmNiaNTjc78sexPuo36EoA8hfLg29yXrnW7M7LDaPpP7ItGo3nhMgdM6sfk/t/Rs1Fvdqzb%0ASbv+bQDo4deNgD+2071BL36Z/Stfjuhs3hVhUKlORXLlz0lHn87M/Go2Ayb3f2a6gZP7MXP4LDr6%0AdCZX/pxUql0R0F/gHA08RqcanTkaeIw2fT43zqPRaOg2qiuH9xwxfle5TiUKlSxE94Y96dusP616%0AtMTR2dG0QT6HKfYFgG1r/RnZYXS635vQexI9G/WmZ6Pe7N0SyL4tgaYP8jnMHfuQaQNZNuUHutXv%0ASeC2QD7r2dL0QaZhzmNfURSGzxrGhD6T6VavB+G37tCgZX0A1iz+3bgf/N+UHzh54JTVNGAoGoXy%0Ak75gT7upbK01nLwfVSVz4Zyp0sScuk5AIz+21R1JyMZgyvjpyzSvumVxLZWPbfVGEdBkHEV7NcHG%0A2cESYZjMR03qs2jmBEtn450wd9n/ROdhnTh58JRpgnpFletUImf+nLT3+YIZX81m0HNj78/04bNo%0A7/MFOVPE3tYQe4caX3A08Bht+7QGoF2/Nlw+c4Wu9XswecBU+n2tb6ROTEhk8GfD6NqgJ10b9qSS%0AbwWKlStmnmDTMEU5mJiQyNDPh9OjYS96NOpFRd8KFPuwKAD//LWDzr5d6VavB3b2djRp09jsMadl%0Aqn0/NiaWeWMXpGq8SGlIq2H0aNjLog0YGX37m2rbH913jG71e9KjYS+mD53BkGmDjcv6as5w1ixa%0AS5faXen9v37ERMSYPlADa7nmAdi1YY+x7mPOBgxTbfMXLffxo8f646FhL2MDhv43+jOp3xR6NOzF%0Ajr930r5/WxNGnp6p1kXojTAGtRxKt3o9WDHnNwZPHWhc1ra1AYxsP8r0wb1ERq7zgMRv7rI/6k4U%0A/VoMpEfDXvRp1p82fT4nWw438wT7DJY4961ZuJYpA6aaPrjXZKprAIBTwafo1rAn3Rr2lAYMa6VT%0ArfvPSv3nGzGsXZGyRbh97TahN8JISkxi1/pdVG9QNVWaag2q4v97AAB7Nu3lw+r6J4urN6jKrvW7%0ASHycSFhIOLev3aZI2SIvXKaqqsab9E4uTkSGRwGQt1BejgeeAOB40AmqpcmDuVRvUM0Y67mj53HO%0A7IRb9tQnWbfsbjg6O3Hu6HkA/H8PoHrDaoBhXa3Vz++/9un3AB91bsHezXtTXbDlLZyXkwdPoUvW%0A8ejhI/49/y8VfSuYNMbnMcW+AHDq4OmX3pSu9b+a7Fy30wRRvRpzx54rfy5OHtBXYo/sOUaNxj6m%0ADO+ZzHnsZ3bNTFJiIrf+vQXAkb1HqdEkfcx1WtRm57pdpg38Nbh9+AGx18KJv3EXXWIyN9YdIGfD%0A8qnS3Ak6S/LDxwBEHr2Mo5e+vMhcOCd3D55HTdaR/DCBmLMheNUubfYYTKlC2VJkyexi6Wy8E+Yu%0A+0H/hJeruytHdqe/0DWn6g2q4v/7dgDOHT2HU2bnZ8bu5OzIuaPnAPD/fTs+xtirsc0Q+7YUsecr%0AlJdjgccBCLkSQo5cOXB1zwrAowePALCxsUFrYwOqZSqqpir7U8ZnY6NFNcQXvPOQcbkXjl/A3cvd%0A5DG+jKn2/ZjIGC6cuEiSFfQ0eZ6Mvv1Nte2fxA9g72BvjD9voTxotVqO7D1qTJfwKMGEEaZmLdc8%0AlmSqbf4qy01LVVUcXZyAJ+sn8h1F+WpMtS7OHjlrfCr/7NFzeKQ4zk8dPMV9K3hQJyPXeUDiN3fZ%0An5SYROLjRADs7GxRNJa9BWju+AGOBR7nQbz5R114GVNdAwjxX5ZhGjEUvWmKopxWFOWUoiifG753%0AVhTlH0VRjhq+b2H4Pp+iKOcURVmqKMoZRVH8FUV554/xuntm487tu8bPd0MjyOaZ+qIqm6c7dw1p%0AdMk64mPjyeyamWye7unmdffM9sJlzhg+m0k/T2Bl8ArqfVKXVfNXA3D13FV8GlcHwKdRdZxcnMic%0A1fw3x9w9sxljfZJ3d89s6dOEPk0TkSKNq7srUXf0FylRd6JwdXc1zuPTuDrrf96YallXzl6lom8F%0AMtlnIrNrZspULUN2bw+TxPYyptgXXkWpyiWJjojmlpm7kKdk7tivXbxOtYb6i9ya/6uhH1bBzMx5%0A7N+LuodWq6Vw6UIA1Gzik24/z2SfiQq+Fdi7Zd87j/VNOXi68fDW04vqB6FROHi6Pjd9gTa+hO7U%0AN8bGnL2Bl28ZtA522Lk5k716cRy9X+2YEOZn7rJfURR6ju3OoglLTBLP63D3dOfO7TvGz/q43NOl%0AuRv6dIjHu6F3jWnc0sTuZoj9ytmrxgbaomWL4JkrBx5e+uNeo9GwdNsi/jqxliN7j3Lu2HnTBfgC%0Apir7NRoNi7Yu4Pfjqzmy9xjnj19ItUytjZZ6n9Tl0K7DpgrtlZlq338RVYWpv01m4eb5NG3X5F2E%0A8UYy+vY35bav3qg6P+76Pyb+/C3Th8wAIFeBXMTfj2P80rEs2rqA7n7djD1XzcFarnkAajSuzhL/%0AhYxd5GcsF83BlOe65y3XLpMdCzbNY+76OalucM0YNovJP09g1aFfqf9pXVamWD/mYI6yr3HrRqka%0AL61FRq7zgMRv7rIfwMPLg6UBi1h56FdWL1ht0UZdS8RvrUx1DQBQvHxxlvkvYsovE8lXOK8pwxDC%0ArDJMIwbwCVAWKAPUA6YpiuIFPAI+VlW1HFAbmKEoimKYpxAwX1XVEkAM8OmzFqwoSndFUQ4rinL4%0AVtxNU8fxVj7t+jGjOvrRplJ7tq3xp+dY/XigiycsoXSVUizaMp/SVUpxN/QuyTqdhXP79p60wPce%0A34ulk5alapEHOLLnCAd3BPP9utn4zR/F2aPnSE5+/+N+Hdb29L05TB86k+Ydm7Fg0zwcnRxISkyy%0AdJZMbkKfyfQa15N5G77nYfzDdPt51fpVOHPojNUMJfW68n5aHbcyBTi/QH/hEr77FLd3HKfu+vFU%0AXdCXyCOXUP8DZZp4NS8r+5t3akbwjmAiQi3z7idTehLrb/NX4ZzZmaXbFvFx54+4dPqy8bjX6XR0%0Aa9iTVhXbULRsEfIVyWfBHL97Op2Ono1607pSO0N8qS/eBkzsx8mDpzkdfNpCOTSdtPv6swz8ZBA9%0AG/dhZIfRtOjUjFKVS5khZ+aTUbd/ym0fuDWQzr5fMvbLr/liWCdA33hTslIpFn+7hN5N++KVx5OG%0AnzWwVHZN7nnXPAcCDtC+Wie6N+jFkb1HGT5rqIVz+uZe5XhvW6U9vZv2ZVLfyfQe3xOvvF4AfNrt%0AE0Z29KN1xXZsXeNPr3E9XrIk65Z2XZStVobGrRuxdOIyC+XIfDJynQck/peV/aC/8d2tfk86+nxB%0Ag1b1jT1z/wteJf6M4sm6uHTqMq0rt6Nrg5789eM6vv2/ry2cM/FMOp11/1mpjPRib3F0reoAACAA%0ASURBVB9gpaqqyUC4oii7gYrAFmCSoig1AR2QE8hhmOdfVVWPG/5/BMj3rAWrqroEWAJQL3fD1xqT%0AISIsMtUT0R5e7kSmeaF2ZFgEHt4eRIRFoNFqcHJx4n70fSLDItLN++Qldc9aZha3LHxQvIDxibRd%0AG3Yz+ZeJ+t8Ij+Lr7t8CYO9oT40mPsTfj3+dUN5Yi07NaNJW/yTghRMXUj0VnzKmJyLCIlM9NeWe%0AIk10RDRu2d30LdHZ3YiJ1HclLVy6MH7z9WOgZnHLQqU6lUhOSiZwWxC/zV3Jb3NXAjBq3ghu/muZ%0AhihT7QsvotFq8GlUnV5NLDcmNpg/9pArIYxop98fcubPSeW6ld9hNK/GnMc+6LuoDvp0CADla5Yj%0AV/5cqX7Lt3ktdq7f9U5jfFsPw6JwyPn0yRxHLzcehkWnS5ejRgmKD2jBjo8noHv8tEHq3Jx1nJuz%0ADoAq8/sQeyXU9JkWr8ySZX/x8sUpVakkzTs2w8HJARtbGx7GP2TZ5B9MGvMTH3VqTlND7OdPXCC7%0Ad3bgTIq4UpcFEWERqYbE8PDyMKaJShN7tCH2B3EPmDpkunGelft/IfRG6mMg/n48x4NOUMm3Atcu%0AXHvXYb6Uqcv+J/FV9K3ItQvXAegwsB1ZsmVh1og5Jozsxcyx77/Ik3ljImPYtzWIomWLcMoC44Rn%0AxO1v7m1/6uApvPJ4kdk1M3dD73Ll7BVCb+hf9Bm4LYjiHxZjyzuP8tms5Zon5XBCW1Zupfuoru8+%0A2BTMsc0jwiKfu9wn/4beCOPE/pMUKlmQB7EP+KBYAc4beuHtWr+LKSsmvevQ0zHX/l+gWH6GTB3E%0AyA6jrWL4KMjYdR6Q+C1Z9t+Pvm/8PjI8in/PX6NU5VKpXnpuatYSvzUw1zXAEwd3BDNwYj+rXBdC%0AvImM1BPjedoBHkB5VVXLAuGAvWFayoFikzFBo8+FExfImS8nnrlzYGNrg29zX4ICDqRKExRwwPgS%0A3ppNaxjfXREUcADf5r7Y2tnimTsHOfPl5MLxC89dZuy9WJxcnMiZX/9i3HI1ynHjcggAmV0z86QD%0ASpu+rdm62v9dh/pc65ZvML5wLnBrkDHWYuWKEh8bb+wi90TUnSgexMVTrJz+RY0NWtYn0D8IMKyr%0AVvr5G7SqT5D/fgDaV+tIu6r6vz2b9vL96LkEbgtCo9EYh80qUCw/BYoW4LCFxso0xb7wMuVrlOPG%0AlZB0J0tzM3fsWbNlAfTdi9v3b8vGFRtfmN4UzHnsw9OYbe1s+bzXZ2xIEbOTiyOlq5QmaFuQOUJ/%0AZVHHr+KS3xOn3B5obLXkaVGFW9tSH59ZS+alwtQv2dtpBgmRTytmikbBztUZgCzFcpO1eG7Cdlv+%0AZX7iKUuW/ZP7TaFt5fa0q9qRxd8uIeCP7Wa9mP17+Xrjy/YCtwbSoGU9AIqVK/bc2OPjHhhfwN2g%0AZT0CDTEGBeynoSH2hq3qE2RYJ06ZnbCx1VdbmrZtzMmDp3gQ94AsbllwyqwfB93O3k5/HjDUBczN%0AFOVguvhqPo2vcetGVKhVgYl9J7/SE8ymYo59/3nsHexxcHIw/r9CzXIWacCCjLn9zbHtvfN5G+cv%0AVLIgdplsuR99nwvHL+Kc2Yksbvr6wIfVynL90nXTBpyCtVzzpBxvvGqDKty4fMOkcZtjmwf573/m%0Acp2zOGNrZwvor/VKVCzB9YvX9esnsxO5DOunfM3yXDfxegDzrIvs3h6MXzqWyQOmctPwLjhrkJHr%0APCDxW7Lsd/dyx87eDgDnLM6UqlSSkCvmrfdZMn5rY45rAFePp8NKFS1bBEWjscp1IcSbyEg9MfYC%0APRRFWQ64ATWBYcDnwB1VVRMVRakNmHXAOF2yjrlj5jNlxSQ0Wg1bV/tz/eJ1Og3pyMWTF9kfcIAt%0Aq7YyYvZwlu/9kdiYWCb20T8pc/3idXZv3MP/7VhCclIy3/vNQ2fo9vOsZQLM/Go245eMQadTibsX%0Ay/ShMwEoU7U0X47oAqrKyYOnmOs335yrwejgjmAq16nEL/t+4tGjBKYNfvoU6eJtC+nRsBcAc0bN%0AZfjMYWSytyN41yGCd+jHO101bxVjFvnRuHUjwm+G822viS/8Pa2tltl/6tdBfNwDJvefgs5Cw0mZ%0Aal8YNW8EZaqUJotbFlYGr2D5jF/YunobYHj63gqGkjJ37LVb1KZFp2YA7NsSaNZGO1PH/Lxj/7Oe%0ArahctzIajcKGXzZxPOiEMS/VG1XnyJ4jPHpovhd8vgo1WcfRUT9Ra+VXKFoNV1ft5v7FW5Qc9ilR%0AJ/7ltv9Ryoxpi42TPdWWDADgwa0I9n0xE8XWhjp/jwUgKfYhB/ouRP2PDRU3bNwUDh07SUzMfep+%0A1J7eX3bg02YNLZ2tN2Lust+aHNgRTOU6lVmxbzkJjxL4LkXsS7ctolvDngDMHjWXETOHYmefieBd%0Ahzi4IxiAlfNWMW7RGJq0bkz4zXC+7jUBgLwF8zBi9nBUVeXaxetMG6ofGzhbDjdGzBqORqtBoyjs%0A2riHA/8cNHPUeqYoB92yu/HVrKFotBoUjYbdG/Zw0BDfwMn9Cb8Vzvd/zwb05f+KOb9aJPYnTLXv%0Au3q4snDzPBydHVF1Kp92/ZgutbuRxS0zXy8bB4BWq+Wfv3da7N0QGX37m2rb12ziQ/1P65GUlMzj%0ARwnG73U6HYu/Xcr01d+BonDp5CU2/WaufhjWc83zcecWVK1fleTkZGJjYpk62Hzjpptqmz9vuXkK%0A5mHQdwNQdToUjYZV81dz/ZK+sWLG8NmMWzoWVacj9l6c2cePN9W66DCoPZmzZmbApH4AJCcl07up%0Avsf56HkjKVNVf12w6tCvLJ/xC1tWbTVn2EDGrvOAxG/usj9vwTz0HNsdVVVRFIU1i3/n3/PXzBt0%0ACuaOH2D2HzPIXTA3Dk4OrDr0K9OHzrTYg6spmeoaoFbTmrTo8D+Sk5NJePSYb3u/X8dIhqGz3ANV%0A7zPFkk+imYOiKHGqqjob3nMxFWgMqMAEVVVXK4riDmwAnIHDQBVDGoCNqqqWNCxnKOCsqur4F/3e%0A6w4n9V/yX9+XXubpq1SEyFi6Jbm/PNF/2CenvrV0FiyqUdmels6CxejI2Oc9rZKxO/RKvSdj13sy%0A8vaXbZ9xt70QQmRUGb3ev/NmQMY++b9jsb0bW/UO5bJgi1Vu7/98TwxVVZ0N/6roe14MSzM9Aqj6%0AnNlLpkg3/TlphBBCCCGEEEIIIYQQQghhAv/5RgwhhBBCCCGEEEIIIYQQwuJkOKk3krHHARBCCCGE%0AEEIIIYQQQgghhNWSRgwhhBBCCCGEEEIIIYQQQlglGU5KCCGEEEIIIYQQQgghhDAx/WubxeuSnhhC%0ACCGEEEIIIYQQQgghhLBK0oghhBBCCCGEEEIIIYQQQgirJI0YQgghhBBCCCGEEEIIIYSwStKIIYQQ%0AQgghhBBCCCGEEEKYmk617r9XoChKI0VRLiiKcllRlBHPSfOZoihnFUU5oyjKb2+72uTF3kIIIYQQ%0AQgghhBBCCCGEeCFFUbTAfKA+cBM4pCjKelVVz6ZIUwgYCVRXVTVaUZTsb/u70hNDCCGEEEIIIYQQ%0AQgghhBAvUwm4rKrqVVVVHwOrgBZp0nQD5quqGg2gquqdt/1R6YkhhBBCCCGEEEIIIYQQQpjaKw7Z%0AZMVyAiEpPt8EKqdJUxhAUZRAQAuMV1V169v8qDRiCCGEEEIIIYQQQgghhBAZnKIo3YHuKb5aoqrq%0AktdcjA1QCPAFcgF7FEUppapqzJvmSxoxhBBCCCGEEEIIIYQQQogMztBg8aJGi1tA7hSfcxm+S+km%0AcFBV1UTgX0VRLqJv1Dj0pvmSRox3LJvGwdJZsJj7ugRLZ8GiHDS2ls6CRbkpdpbOgsVsijn78kT/%0AYX9nybjlHsCSsj0tnQWL2np8kaWzYFGXKvezdBYspsejR5bOgkV52DhZOgsWdfHRWw9r+14r75DT%0A0lmwmFK6jH3et1UsnQPLaup819JZsChF3iqaYd27Z2/pLFiUvV2SpbNgUT8kZ7Z0FsR/iPr+Dyd1%0ACCikKEp+9I0XrYG2adL8DbQBflQUxR398FJX3+ZH5RQshBBCCPEGMnIDhhBCCCGEEEKIjEdV1SSg%0AL7ANOAesUVX1jKIo3yiK0tyQbBsQqSjKWWAnMExV1ci3+V3piSGEEEIIIYQQQgghhBBCiJdSVXUz%0AsDnNd2NT/F8FBhv+3glpxBBCCCGEEEIIIYQQQgghTO39H07KImQ4KSGEEEIIIYQQQgghhBBCWCVp%0AxBBCCCGEEEIIIYQQQgghhFWS4aSEEEIIIYQQQgghhBBCCFPTWToD7yfpiSGEEEIIIYQQQgghhBBC%0ACKskjRhCCCGEEEIIIYQQQgghhLBK0oghhBBCCCGEEEIIIYQQQgirJO/EEEIIIYQQQgghhBBCCCFM%0ATNWpls7Ce0l6YgghhBBCCCGEEEIIIYQQwipJI4YQQgghhBBCCCGEEEIIIaySDCclhBBCCCGEEEII%0AIYQQQpiaDCf1RqQnhhBCCCGEEEIIIYQQQgghrJL0xHhPlKn1IV+M64pGq2HHqgDWLfwz1XQbOxv6%0AzBxIgVIfEBsdy5y+07l78w4AeYrmpdvkXjg4O6LqVEY1H0piQqIlwngt5X3L03N8TzRaDVtXbmXt%0AgrWpptva2TJk9hAKlSrE/ej7TO49mTs37+CS1YXRi0dTuExhAtYGsHDMQgAcnByY9sc04/zuXu7s%0A/HMni79ebNa4XtWHtcrRZVxXNFot21f589fCP1JNt7GzYcDMQRQoVZDY6PvM6DvNuM0B3L3dmbN9%0APmtmr2Tdkr+N32s0GqZunElUWCSTunxrtnheR4laZWkztjMarYa9q/9hy8K/U023sbPhy5n9yFuy%0AAHExcSzuO5PIm3fR2trQcVJ38pb6AFVVWfX1j1w4cAaAYau+JotHVh4nPAZgVodviY28b/bY3sS3%0A342ibv2aPHz4kIG9R3HqxLl0aUb4DaBl6+ZkzZqFgrkqpJvetHl9lv08h0a+rThx/Iw5sv3GytT6%0AkI6G8m7nqgDWP6O86z1zIPlLfUCcobyLSFHefTm5F47Ojuh0Kn6G8m7Mqglkze7K40f67T+5w3ju%0AR94ze2wv0ueb3lSuU5GEhwlMHTSdS6cvp0tTqFQhhs8aSiZ7Ow7uOMT8sQsAcMnqwpgFo8mROwfh%0AIeF802sCcffijPMVKVOYuevmMKHPJPZs2mv83tHZkR92LiVwWxBz/eabPsh3yG/STPYEBuPmmpW/%0AVyyydHZMwqlmeTzHdEfRaohe7U/k4rXPTOfSsBq5F4zm6kcDeHTqMvalC+M9sZ9+ogJ3v/+NWP/9%0AZsz5uzHgmz5UqVOZhIcJTBo0lYunL6VLU7hUIUbNGk4m+0wc2HGQOWP1+3Fvv+5Uq1+VpMdJ3Lp+%0Am8mDpxJ3P97cIbyWd33et81ky4Q1k7G1s0Vjo2X/5kBWz1pp7rBey8iJg6lRtyqPHiYwuv+3nDt1%0AIV2a4qWLMOH7MdjbZ2LvP/uZPHomANOXTCDfB3kAcMnsQuz9WFrW7Yh3bi/W713JtSs3ADh55DTf%0ADJ9qvqBeQalaZWk3tgsarYbdq/9h08K/Uk23sbOh+8z+5CtZgLiYWBb0nUnEzbtobbR0+a4XeUsU%0AQGujJfDPXWxc8HReRaPh6w3fER0WxawvJ5s7rDeSr1Zp6ozvgKLVcGrVLoIXbEg1vXzXxpRu44su%0AKZkHUbFsG7qE+7ciAfj05+F4ffgBtw5f5K/OMyyR/beWt1ZpahniP7NqF4fTxP9h18aUaOOLmpTM%0Aw6hYAoYuIfZWJC45s/G/JYNQNAoaWy0nfvLn1IodForizTn6VMB9ZE/Qarn/+xZilq15Zjqn+j54%0AzRlDSKu+JJy5hI13DvJsXEritZsAPDpxnrtff2/OrL8TDtUr4D6iJ4pWy/0/thDzf8+Jv54PnrPH%0AcPNzffwAdoXz4zG2PxpnJ1Sdjlut+6E+tv5r/icycuxpZfb9kFzju4FWQ+TKAMIX/PHMdFkbV6XA%0AkhGcbzqEByfTXze8TzJ6nbdIrTK0GNsRjVbDwdU72blwfarpBSoVpfnYjngVzcOv/b7n5JbgVNMz%0AOTswLGAaZ/wP89e4n8yYcyHMK0M0YiiKkg+opqrqb284/xeAv6qqt99htl799zUaunzbg4ntxhEZ%0AFsnk9dM4vD2YW5duGtPU+bw+8ffiGFCrF9Wa+dB2REfm9J2ORquh7+xBzB80m+vnruGc1YWkxGRL%0AhPFaNBoNfSb0YVTbUUSERjBn4xwOBhzkxqUbxjQNWjcgLiaOL2t8Sa3mtegyqgtTek/hccJjfpn+%0AC3mL5CVvkbzG9A/jH9K3UV/j5+83fU/g1kCzxvWqNBoN3b7twdftxhIZFsnU9TM4tD2Ym5dCjGnq%0AfV6fuHtx9KnVg+rNatBxRCdm9H3aSNN5zJcc23U03bKbdmnGzcshODo7miWW16VoNLT7pisz239D%0AdFgUfuuncDzgMKGXn+7vPp/VJf5ePKN8+1GxWXVajmjP4r6zqNm6HgDjGw3BJVtmBv40mgnNR6Cq%0A+q56Swd+z/VTVywS15uqU78mBQrkpVq5RpSrUJopM8bRtF7rdOn8t+7kh6W/EnRka7ppTs6OdO3Z%0AgSOHTpgjy29F0Wjo/G0PJhnKu4nrp3EkTXlX21DeDarVi6qG8u57Q3nXx1De3XhGeTd/wEyuWun2%0Ar1SnIrny56SjT2eKlSvKgMn96dusf7p0Ayf3Y+bwWZw7ep7Jv0ykUu2KBO88RJs+n3M08Bir5q+m%0AdZ/PadPnc5ZO+j/AUJ6M6srhPUfSLa/zsE6cPHjK5PGZwkdN6tP20+aM+na6pbNiGhoNXuN7cb2T%0AH4lhERT4axax/xzg8eWQ1MmcHHD7ogUPjp03fpdw8TpXPxoAyTpsPFwpsGkesf8chGSduaN4Y1Xq%0AVCJX/ly08elI8XLFGDJ5AD2a9U2XbsjkgUwdPpOzR88x7ZfJVK5diYM7gzm05wiLJy8jOVlHz1Hd%0AaN+3LYsmLbVAJK/GFOf9xIRExrXx49GDR2httEz8fQrHdh3l4rH0DQPWoEbdquTJn5smVVpRunwJ%0AxkwdTtvGX6ZLN2bqcMYPmczJI2dY+NssfOpUZd+O/Qzt7mdMM3R8f+LuP23IDbl+i5Z1O5oljtel%0AaDR0/KYbU9t/Q1RYJOPXf8exgEPcTlHvqflZXeLvxTHcty+Vm1XnsxEdWNB3JhWbVMXGzha/RoOx%0As7dj0vY5HFi/j4ibdwFo0Lkpty/fwsHZwVLhvRZFo1BvQifWtptCbGgU7Td8w5WAI0ReenoJdufM%0ANX5pOoakR48p074uNUe1YWOfeQAcWrwJGwc7yrSrY6kQ3oqiUfCd0Im/2k0hLjSK1hu+4WrAEaJS%0AxH/3zDVWGeIv1b4uPqPasKXPPOLvxLDm4/EkP07C1jET7QOmcDXgKPHhMRaM6DVpNHj49eFW15Ek%0AhUeQe/Vc4nceIPHKjVTJFEcHsnb4iEdpHupJDAkl5JPe5szxu2WI/3a3kSSFRZDrSfxX08efpX2a%0A+LUask8Zzp2R03h84SqaLC6oSdZ/zW+UkWNPS6Mh94QeXGo7jsTQSIpsnM69gGAeXUpf//P4shnx%0AR63znP5aMnidV9EofPxNZ5a0n8S9sEgGrJ/I2YAjhF++ZUwTfTuC1UMXUatb02cuo9GQVlwNPv/M%0AacJKvT+7qFXJKMNJ5QPavsX8XwDe7yQnb6Bg2UKEXwvlTkg4yYlJBG3YR8X6lVOlqVC/Erv/2AnA%0Agc1BlKxeGoDSNT/kxvlrXD93DYC4mFhUnfUfLYXLFub2tduE3QgjKTGJ3et3U6VBlVRpqjaoyvbf%0AtwOwd9NeylYvC0DCwwTOHDpjfOL+WXLmz0lW96ycPnjadEG8hYJlCxF6LZTwkHCSEpPYt2EvldJs%0A84r1K7PzD/0TVvs3B1KqehnjtEoNKhMeEk7IxdQVv2ye2ShfpwLbVwWYPog3lL9sQe5cDyMi5A7J%0AiUkEbwikbIOKqdKUbVCRoD92AXBk836KVisFgFehXJwL0m/T2Mj7PLj/gHylPzBr/t+1Rk3qsHbV%0AOgCOHj5J5iwuZM/hni7d0cMnuRMe8cxlfDW6P/NmLyMhIcGkeX0XCpYtRFiK8m7/hn1USLPvl69f%0AiT2G8u7gM8q7G+9ZeQdQvUE1/H/XH5fnjp7HObMTbtndUqVxy+6Go7MT547qK6j+vwdQvWE1AKo1%0AqIr/Wv38/muffg/wUecW7N28l5iI1DcyCpUqhKu7K0d2p2/ceB9UKFuKLJldLJ0Nk3EoU5jH12+T%0AGBIGiUnc27gHl3pV0qXzGNSeyMW/o6Y456mPEowXb0omO1DfvzFXfRpWZ+vv/gCcPXoO5yzOZEtz%0ATGTL7oaTiyNnj+pvZmz93Z8ajaoDcGjPEZIN6+DM0bN4eKUvN62Jqc77jx48AkBro8XG1sbYqG+N%0Aajeqyfq1mwE4eeQMLpmdcc+eLVUa9+zZcHJ24uQRfY/C9Ws3U6dxzXTLatS8Lpv/st66TkoFyhYk%0A/HoYdw3nvYMb9lEuTb2nXINK7DPUew5t3k9xQ70HIJODPRqtBlt7O5IfJ/Ew9iEArp5ulKlTjt2r%0AtpstlrflWfYDoq+Fc+/GXXSJyZzfcIAPGpRPlSZk/zmSDL0qQ49dxsXrablwI/AMiXGPzJrndylH%0A2Q+4dy2c+4b4L244QIE08d9MEX/Yscs4G+LXJSaT/DgJAK2dLYpGMW/m3wH7UkVIvHGbpJv6817c%0All0416maLl22/p2IXrYm1XnvvyBTyviT9PE7PSN+t36diPlhDerjp/E7VivP44v/8vjCVQB092Lh%0APakDQ8aOPS2nsoVIuBbG4xvhqIlJRK/fS5YGldKl8x7alvAFf6D7DxwHGb3Om6dsQSKvhxEVcofk%0AxGSOb9hPiQapR1aIvhlB6Pkbz6zH5SyZH2f3LFzce9JcWRbCYt6LRgxFUToqinJSUZQTiqL8oihK%0APkVRdhi++0dRlDyGdD8pivK9oihBiqJcVRSlpWERU4AaiqIcVxRlkGH+vYqiHDX8VUvxW18pinLK%0A8FtTDMuoAPxqmN/sjzK5eboRGfr05mRkaCSunm7p09zWp9El63gQ+wAXVxe883ujqjDq53FM2TSD%0A5j0+Nmve35S7pzt3b981fo4IjSCbZ+oL2Wye2YhIE3Nm18yvtPxazWuxZ8Oed5fhdyybZ7Y02zwC%0At2fEn3qbx+Pi6oK9oz0f9/qUNbNXpVtul3Fd+XnST1Z9Y9c1hxvRt5/GHh0aiWsOt+em0SXreBj7%0AAGdXF26eu0bZehXRaDW458pO3lIFcPV6ut46T+vN2M3T+F+/lrwvPL2yc/tWmPFz6O1wvLxyvPL8%0ApcoUwzunJ//4W+/+npLrW5R3XobybsTP45i0aQbN0pR3Pab3Z/LmWXzc/zPTB/Ka3D2zpSrz7oZG%0A4J7mmHf3zMbd0NTl4pM0ru6uRN2JAiDqThSu7q7GeXwaV2f9zxtTLUtRFHqO7c6iCUtMEo94ezY5%0AspGY4lhICovANkfqfcK+xAfYenkQt+tQuvkdyhShwJYFfLB5PqFj5r9XT6QBeHi6cyfVMXEXd8/U%0ADRHunu6pjom7oRF4eKZvrGjaujEHd6ZfR9bEVOd9jUbDjM2z+fHoL5zYe5xLxy+aNpC3kMPLg7Bb%0AT4fHCg+9Qw4vj3RpwlNs8/Db6dOUr1KWyLtR3Pj36ROcOfN4s3b7cn78awHlKpfBmrjmcCMqRb0n%0AKjQK1zTHeso0Kes9hzbvJ+HhI+YEL2NW0GK2LF1PvGEowXZju7Bm8i9W3XCVlounK7G3o4yf40Kj%0AcMnh+tz0pT6vxb87rb+X6atyfkb8zi+Iv8TntbiWIn5nLzfabZtEl4NzOLxw4/vVCwPQ5shGYtjT%0A4zspLAJt9tRleqZiBbHx9ODBnuC0s2Ob05Pcf8wn5/Jp2JcvafL8vms22bORlDL+8Ahs0sRv95z4%0AbfPmAlXFa/FEcq2ZR9bOrcyS53clI8eelq1nNh6nOCckhkZim6Y+4FCyALbe7tzf8X4+iJRWRq/z%0AZsnhSsztSOPnmNBIsryg7E9JURSa+7Vn48RfTZU9IayK1Q8npShKCcAP/XBQEYqiuAHLgeWqqi5X%0AFKUL8D3wkWEWL8AHKAqsB34HRgBDVVX9n2GZjkB9VVUfKYpSCFgJVFAUpTHQAqisquoDRVHcVFWN%0AUhSlr2H+w2YL/B3R2GgoWrEYo5oNJeFhAmNWfsPV01c4HZixW2lrNa/FtIHTXp7wPfT5oDZsWLbO%0A+PTlE+XrVOBe5D2unr5CiSrvX8X+VexbswOvgrnw2/AdkbciuHLkAjpDg83SAXOICY8ik5M9vRcO%0Ao+ontdj/524L59i0FEVh/MSvGNB7lKWzYhYaGw1FKhbDz1DejTaUd2cCTzJvwEyiw6Owd7Jn0KIR%0A1PjEl71/7rJ0lk3myU2r3uN7sXTSsnQ3sZp3akbwjmAiQp/de0e8BxSFHKO6cnv4rGdOfnjiAlcb%0A98bug9zknDaIuF2H3+vxod9Uh/5tSU5Kxv/P9+dp9Nf1vPM+gE6nY0iTgThmduKrJSPJUzgPN9L0%0A1vivafJxg1S9MO6GR1C/XAvuRd+neOkifP/TVFrUbEN83AML5vLdKFCmILpkHQMrd8MxixOj10zg%0AzL6TeBfKxf3Ie1w7fZWiVUpYOpsmUezj6uQoXYDVn02wdFYsosjH1cleugB/pIg/LjSKXxuOwilH%0AVv63dBCXNwfzIOL9eP/bK1EU3L/qTvio9O87SbobxbW67dHdiyVT8YJ4zh3PjebdUePf/+PcSFFw%0AH96dO6Of8b4XGy32H5bkZut+qI8S8F42hYSzl3h48Lj582kKGTn2tBSFXGO7cH3w+/fOlzcmdd7n%0AqtahPud2HudeWNTLEwurouren4dMrInVN2IAdYC1qqpGABgaFaoCnxim/wKk2a+wVwAAIABJREFU%0AfDvf36qq6oCziqI873FlW2CeoihlgWSgsOH7esCPqqo+ePJbr5JBRVG6A90ByruV4QPnfK8a2yuJ%0ACosiW4phELJ5ZSM6TSEVFRZFNm93osIi0Wg1OLo4EhsdS1RoJOcOniE2OhaAYzuPkr9kAatvxIgI%0Ai8DD++mTde5e7kSGRaZKExkWibu3OxFhEcaY70e/vKKev1h+NDYaLp+y3pdfRYZFptnm+m2bLo23%0Afr3o43ciNjqWQmULU7VxNTqO/AKnzE7oVJXHCYm45chGxXqVKOdbHttMdji6ODJg9mDmDJxp7vBe%0AKDo8Clfvp7G7emUjOjzqmWmiw6LQaDU4uDgSZ9jHV3/7kzHdiD8mEn41FIAYwzIS4h9xcP1e8pcp%0AaLWNGF90bUO7TvqniE4cPYV3Tk/jNC/vHISGhr/ScpxdnCharBB/blwOgEd2d35aOZ8v2vSx2pd7%0AR79leXc+RXl33FDenQk8adyHHsU/InDdHj4oW8jijRgtOjWjSdsmAFw4cSFVmefh5U5EmmM+IiwS%0AD6/U5eKTNNER0bhldyPqThRu2d2IidQ/fVm4dGH85usbsbK4ZaFSnUokJyVTvHxxSlUqSfOOzXBw%0AcsDG1oaH8Q9ZNvkHk8YsXl1SeCS2KY4FG093EsOf7hMaJwcyFc5L3t+m6Kd7uJJ78VhCenzDoxTn%0At8dXQtA9eESmInlTfW+NPu7Ugmbt9MfE+eMXyJ7qmPAgIix1o1tEWESqY8LDy527KdI0/qwh1epV%0AZeBnQ02c87dnivP+luWbjPM+uB/P6aBTfOhbzqoaMVp3/pSW7VsAcPr4OTxzZjdOy+GVPVWvC4Dw%0A0Lupel7k8E6dRqvVUq+pL5/V72T8LvFxIvcMNzPOnrxAyLVb5PsgD2dOWMfY0dHhUbilqPe4ebkR%0AHR75zDRp6z1VWtTg1O7jJCclExt5n0tHzpO/9AfkLZGfD+tVpHTtcthmssXB2ZEes/qzeJB13/SK%0ADYvGxftp70tnLzdiw6PTpcvjU4IqfZuz+rOJxiGU/gvinhF/3DPiz+1Tgkp9m/P7c+KPD48h8sJN%0AvCsV4fJm6+6FllJyeCS2nk+PbxtPd5LvPC3TNU4O2BXKR87l+kt/rbsbXvO/JrTPOBLOXEJ3T3+c%0AJ5y9TFLIbezy5TS++Pl9kHQnEpuU8edwJylt/AXz4f3j0/g9535NWL9xJIff5dGRU+hi9NfCD/Ye%0AIlPxgu/NjfyMHHtaiWGR2KU4J9h6ZSMxRX1A4+yAQ5G8FFqjb8C09XClwA+judpl4nv7cu+MWOdN%0A6V54NFm9n/Y8yeqVjXvPKPufJW+5QuSvWJRqHeqTydEera2WhAeP2Pxd+t65QvwXvBfDSb2mlIO+%0AP28w0EFAOFAG/VBRdm/zg6qqLlFVtYKqqhXedQMGwJUTl/DM74VH7uxobW2o1syHwwGpu1Ee3h5M%0ArU9rA1ClSTXOBOlf1Hpi9zHyFM2Lnb0dGq2G4pVLpHpJpLW6eOIi3vm8yZE7Bza2NtRqXosDAQdS%0ApTkQcIB6LfUvcq7RtAYnAl+tO7lvC192r7POm9dPXD5xCa/83mQ3xO/TrAaHAg6mSnNoezC1P9W/%0AuLBqk+qcCtI3TPm1GklPn2709OnGxh828Of8tWxZvolfp/5Mtypd6OnTjZn9pnEq6KTVNWAAXDtx%0AmRz5vHDPpd/fKzWrzomA1BdgJwIOU+1TXwDKN6nKecN7MOzs7bBzyARAcZ/S6JKSCb18E41Wg7Or%0Afux8rY2W0nXKc+ui9R4HPy1bSf0an1C/xids2fQPrVrrb/CUq1Ca2Puxz333RVqx9+Mo8UF1KpWu%0AT6XS9Tl6+IRVN2BA+vKuajMfjqQp745sD6amobyrnKK8O7n7GLlTlHfFKpfg1qUQNFoNLim2f7m6%0AFbh5wfI38dYt30CPhr3o0bAXgVuDaNCyPgDFyhUlPjbeODzUE1F3ongQF0+xckUBaNCyPoH+QQAE%0ABRygQSv9/A1a1SfIfz8A7at1pF1V/d+eTXv5fvRcArcFMbnfFNpWbk+7qh1Z/O0SAv7YLg0YVubh%0AyYvY5cuJba4cYGtDlv/VJO6fp+cBXdwDLlZsy+VaXbhcqwsPj503XszZ5soBWn0Vz9bbA7sCuUi8%0Aeed5P2U1/lq+ji4NetDl/9m777AojjeA49/dowlWQAUbdqOJLfZeUFATjYkaS2LvYsMaG2qsMbb8%0AEltiEmOKPUUTC6Cx16jBGgUbqBQFUUBA4fb3x50IiLEE7g55P8+TJ97t7DLv3ezM7M3OrMdA9u04%0AQKuOHgBUerMisffiiEx3TkRGRBEXc59Kb1YEoFVHD/bvOABA7aa16Da4MxN6TSYxwfKfB5QV7X5e%0Ax7zY53UAwMbWhqqNqnE91cOiLcHabzfR0b0HHd17sGvbHtp1MgxiVanxOrExsdyOSDeYGxFJXGwc%0AVWoYZhe069SGP7c/Xi6xbuNaXA68mmZgo4BTflTVcD4UcytCidLFCLl2E0txJV2/p07bhpz0Szv5%0A+6TfMRoa+z212tRLef5X5M3bVKpvmF1rk8uWMtXLE3rpBhvm/Yh3vQGMaTiYZcMWcf7gaYsfwAAI%0AC7hMgVIu5CteENVax2tt63LJ70SaNIVed8NjTh9+6buQ+5Gv0CwDIDzgMvlLuZDXGH/5tnW5nC7+%0Agq+70XxOH7b0XUh8qvhzuziis7UGwDafPUVqlefOpVCT5v+/SjhzAWu3olgVNbR7uVs3Je7Px9d/%0A+tj7XGnwPtda9uRay54kBpxPGcBQC+QD43luVcwFa7eiPLwe9rQ/ZZESz1zAuoQxfquM47/a6H2C%0APXsS7NmTxFPnCRtmiP/+gePYlCuJYmcLOhW7mlV4cMn8fd3nlZNjTy8uIBDbkq7YFC+EYm1FgXaN%0AuJvqWkgfc59TVbtztv4AztYfQNzJC9l6AANyZp83tZCASziXdMGxWEF01jqqta3HWb/nWyrsp5FL%0AmNVgGLMbDmfL7B84/vM+GcAQr7TsMBNjF/CLoigLNU2LNC4ndRDogmEWxgfAvmccIwZI/fTPfMB1%0ATdP0iqL0BHTG9/0AH0VRfky9nFQG+5uUPlnPNz5fMXH1VFSdjt3r/bkeGEKnUV25fCqI4/7H+HOd%0AP0MXjeSzPcuIjY7hs6GGqZZx9+L4feVmZm+ZD5rGyT9PcDIbrJ2oT9azbMoyZv4wE51Oh+86X4Iv%0ABtN9dHcunrrIEb8j7Fi7g7GLx/L1vq+JiY5hrtfclP1XHVyFfR57rKytqO9Zn0kfTCI40NCZafR2%0AI3x6+pgrtOeiT9az0mcFPqunoepUdq73JyQwhC6junHpVBDH/I+yc50fIxaNYsmeFcRGx7Bw6Kux%0APJY+Wc9PPisZuXoyqk7lwPpd3Ay8zjvenbl6+hIB/n+xb/1O+i0czuzdnxMXHcuKYYappXmc8+H9%0A3WQ0TeNOWBQrjdNsrWys8V49GZ2VFYpO5fyBU+xdkz2WFtnpuxf3lo05dHI78fcT8PaalLLNb9/P%0AtGxkmJQ2efpo3u34Frns7Th+dhc/fb+JBXOXmCvbL02frGeVz1dMSFffdRzVlSvG+m73On+GLBrJ%0AImN993mq+m7rys3M2jIfTdP421jf2eay5aPvp2FlpUPVqZzeH8DONZb1wNcju45Sp3ltvt+/ioSE%0ARD4dNT9l24odyxjoORiAzyZ+zriFY7G1s+Ho7mMc3WUY4Fv7xVqmLJ9M6y6tCL8ezozBs8wShymN%0AnTqXYydPER19D/f2HzKkb3c6tPU0d7YyT7KesOnLKLFqBoqqEr3Rj8TAYAqO/JD404FpLu7Ss69Z%0ACaeBnSApGU2vJ2zqUpKfY6aiJTm08wh1m9dh7YHvSYhPYM6ox23cN74r6OMxEICFEz9j4qJx2NrZ%0AcvjPoxzeZbjQ9545DGtbaxauNdy1efbEeRZ8tNj0gTynrGj3CxRyZNjCkaiqiqoqHPh9P8d3We7K%0AqHv9D9LIvT7bjmwkPj6BKSMeL5OzcedqOrr3AGDm+E+Z+b8p2NnZsm/nIfbtPJSSrnX7lmxL90Dv%0AGnWrM3Rcf5KSktDrNT4eN4970ZZzPuiT9Xzvs5Kxq6eg6lT2rt/FjcAQ3vXuwtXTQZz0/4u963cy%0AYOFw5u3+grjoWJYa+z07V2+n36dezPZdDArs2/AnIf9cM3NEL09L1rNzynd0+H6cob1et4fIizdo%0AMKoDYaevcMnvBE0mdcXa3o52y4YDcO9mJL/2NdyU02XjFBzLuGLtYMfAI/9jx9ivuLr3tDlDeiFa%0Asp7dU76j/ffjUHQq59btIeriDeqO6kD46Stc8TtBw0ldsbG3o40x/pibkWzpuxDHckVoNLkbmqah%0AKAonvtxK5AXLGrR8pmQ9t2YtochXs1FUlXu/+PIg6BqOQ3uQcPYi9/88/NRdc9WsjOOwHpCUhKbX%0AEzH9f4YHPGcnyXpuz16C64rZKDpD/A8vXaOAVw8Sz17k/u6nx6+/F0v06p8ptvZz0DTi9h3N8Lkh%0AFisnx55esp6QKV9S9odpKDqVyHU7SbgYguvobtw/FZRmQOOVkcP7vPpkPb/4rKL/6gkoOpVj63cT%0AHngdT++OhJy+wjn/4xSvUpqeK0Zhn8+BSu5v4uHdifkeY82ddfFfZK9Ht1gMJTs87M040DAWw9JP%0AJ4GpwLeAM3AL6K1pWrCiKKuA3zVN22jcL1bTtNyKolgDOwAnYBXwO7AJ0IDtgJemabmN+3wE9AAe%0AAFs1TZuoKEoHYDYQD9TTNC3+aXnt7Nbe8j/QLHJPb/l3OmalXKq1ubNgVo7Kf5rQlK39EX3O3Fkw%0Aq6b5yj870SssIvkVWm/5JWz/e7m5s2A2gXWGmTsLZjUw4clnMOQkBa0czJ0Fs7qYkL3udMxsNXIV%0ANXcWzKayPpe5s2BWObvHD2/lvvXsRK8w5VVcy0I8l7t37cydBbOys3l1lu97Gd8k5zV3Fsxq/tU1%0AT1vpRryEOx2aWvRvxwU27bbI7zs7zMRA07TvMDzMO7XmGaTrle51buP/H2aQvkqqf49Ptc9cYG7q%0AhJqmbcIw6CGEEEIIIYQQQgghhBBCCBPJFoMYQgghhBBCCCGEEEIIIUR2pukteiKGxZLJkEIIIYQQ%0AQgghhBBCCCGEsEgyiCGEEEIIIYQQQgghhBBCCIskgxhCCCGEEEIIIYQQQgghhLBI8kwMIYQQQggh%0AhBBCCCGEECKr6c2dgexJZmIIIYQQQgghhBBCCCGEEMIiySCGEEIIIYQQQgghhBBCCCEskiwnJYQQ%0AQgghhBBCCCGEEEJkMU2Wk3opMhNDCCGEEEIIIYQQQgghhBAWSQYxhBBCCCGEEEIIIYQQQghhkWQ5%0AKSGEEEIIIYQQQgghhBAiq8lyUi9FZmIIIYQQQgghhBBCCCGEEMIiySCGEEIIIYQQQgghhBBCCCEs%0AkiwnJYQQQgghhBBCCCGEEEJkMU2Wk3opMoiRyXLy1BZnNZe5s2BWkVqCubNgVjaKnbmzIMwkMYcv%0A6KhHM3cWzCqwzjBzZ8Gsyh353NxZMBv76l7mzoJZJefwqw8th9d9ObnPH6vk7O9eZ+4MmNmdu/bm%0AzoJZ6TXF3FkQZnI32cbcWTArxxz+e0deXU5u+YWwDHIWCiGEEEK8hJw8gCGEEEIIIYQQQpiKzMQQ%0AQgghhBBCCCGEEEIIIbJazp7Q/dJkJoYQQgghhBBCCCGEEEIIISySDGIIIYQQQgghhBBCCCGEEMIi%0AySCGEEIIIYQQQgghhBBCCCEskjwTQwghhBBCCCGEEEIIIYTIYpo8E+OlyEwMIYQQQgghhBBCCCGE%0AEEJYJBnEEEIIIYQQQgghhBBCCCGERZLlpIQQQgghhBBCCCGEEEKILCbLSb0cmYkhhBBCCCGEEEII%0AIYQQQgiLJIMYQgghhBBCCCGEEEIIIYSwSLKclBBCCCGEEEIIIYQQQgiRxWQ5qZcjMzGEEEIIIYQQ%0AQgghhBBCCGGRZBBDCCGEEEIIIYQQQgghhBAWSZaTsmBVm1Snx9R+qDqVP9f6sXnZz2m2W9lYMWTh%0ASEpVLkPsnRg+Gzqf29cjACjxmht95wzGPrc9er3G5HZjeJj4MGXfMSsnUqhEYcZ5jDBpTC+icpPq%0AdJ/aB1WnsnutP78v+yXNdisbKwYuHEGpyqWJvRPDF0MXcPv6Leq3b0ybAe+kpCte0Y0pb40h+NxV%0AdNZW9Py4H6/VfQNNr2fD/J/4a9thU4f2XGo0qcHAaQNRdSo71u5gw9INabZb2VgxZtEYylYuS8yd%0AGOZ4zSHiegTVG1Wn10e9sLa25uHDh3wz6xsCDgYA0GNsD9w7uJM7X246VOxgjrBeSqUmVenk0xtF%0Ap3Jw3U58l/2WZnvZ2hXp6NOToq+58c2wxZzcdiRlm9d3EylVvRyXjv3Dsr6fmDrrmWLGJxNxb9mY%0A+Ph4Rg6ZyOmA80+k+WjyCDp2aUf+/PkoW6zmE9vfateSlas/o1XTTgT8fdYU2X5p1Zu8SZ+p/VB1%0AOvzX+vLLsk1ptlvZWDFioTelK5cl5s49Fgz9lFvGug/AuYgzn/kvYf3iNfz25a8A2Od1wOuToRQv%0A7wZofDH2f1w8ccGUYT3TsI+HUKd5bRLiE/nE+1MCzwQ9kaZ85XKMXzQWWzsbjuw6yuc+SwHIkz8P%0APksn4VLchbCQMKYPnkns3Vhy58vNuAWjKeJWhAeJD5g3egFXL1zF2taazzYtxMbGGp1Ox56t+1i1%0AYLWpQ34mh8Y1cJkyAEWncmedL5ErNmSYLo9nfYovncTl9iNIOB2EXZXyFJk1zLBRgVv/+4kY30Mm%0AzHnWmzx7IXsPHMWxQH5+/WG5ubOTKWo2rcGgaYPQ6VS2rdnO+nTtnrWNNWMXj6Zc5XLcu3OP2UPm%0AEH49gjz58zBlxSTKVy2P3wY/lkxZBoCtnS2Tlk+kiJsr+mQ9h/2P8M3cb80R2nOp3uRN+k8bgKpT%0A8Vvry6alG9Nst7KxwnvRKMoY2/1PvT4h4noE5aqWZ8jcoQAoisLaRT9xeIehvH954Gvi4+LRJ+vR%0AJycz+m1vk8f1IibMGkVj9/rExycwafgMzp9+sp6uVOU1Zv1vCnZ2tuzdeZA5kxYCMP/LmZQq4wZA%0Anry5ibkXSwf37lhZ6fh44SQqVqmATqdj84ZtrPzfdyaN60W90aQa3XwMfeC963ayNYM+cP+Fw3F7%0AozSx0TEsG7qQyOu3DP3c2QMpVbkMek3jp+nfcOGwZbf56ZVtUoVWU7uj6lROrN3N/mVb0mx3q/0a%0AraZ+SOHXSrBx2Bec23o0ZVvLCV0p17waiqpwed8Ztk2zvHbtWco0qYLn1O4oOpWTa3dzMF38JWq/%0Ahocx/p+HfcH5VPG7p4t/RzaMP2/T6pT4uC+KqnJrjT9hS9Je/xbs7kmhnq1Bryc5LoGr45aSEHgd%0AxdoKt08G4VClLGh6gn2+JuZQ9ir7APmaVsdtRh8UVSVijT+hX6Q99wt196Bwr9Zoej36uASujF1G%0AvDH+UvMG4VClDJpe41o2jD8nxw7g1Kwqr83siaJTuf7jLq5+vjnN9mI9WlC8jwdasqHsnxvzFXEX%0Ab6RstyvqRP19C7j06UauLfvd1NnPVHmbVqfE9H6gU7m9xu+JeuCR/G3qUfbL8ZxrM5r7py6ZOJeZ%0A61Hdrxrr/gMZ1P2exrp/U7q6v8WErpTN5nV/jqQp5s5BtiQzMYwURcmvKMqQVK+bKopittpfUVV6%0AzxjIJz0/ZkyLYdRv14ii5YqlSdOsc0vi7sbi3WQwW7/eTLePegCg6lS8Fnvz9cTljG05nBmdJ5P0%0AMDllv1qt6pJwP8Gk8bwoRVXpOaM/n/acyfgWI6jXrhFF0sXfpHML4u7GMqaJF9u/3kJnY/wHf93L%0A5DajmdxmNMu9P+NWSATB564C8M7QDtyLvMu4ZkP5qMUI/rHQCztVVRkycwg+PX0Y5D6IJu2aULxc%0A8TRpPDt7Ens3ln6N+/HLyl/oM6EPAHej7jK9z3SGeAxhofdCRi8enbLPEf8jjGw30qSx/FeKqtD5%0A47580Ws2M1p6U7NdA1zKFk2TJurmbb4fs5S/ftv/xP7+KzbznfcXpspupmvesjGlS7tR/81WjB0x%0AlbkLpmaYznf7n7Rx75zhNofc9vQb1J3jxwKyMquZQlVV+s8YyMye0xnRwotG7RpTLF3Zb9G5JbF3%0AY/FqMpAtX2+mx0c902zvPaUvJ3efSPNe36n9ObnnBMPdhzCq1QiuB13P8lheRJ3mtSlaqigfNuzF%0AgvGL8Z4zPMN0I+cMZ/64RXzYsBdFSxWldrNaAHTz6syJAyfp3qgXJw6cpJtXFwA+GNaVoLOX6Ndy%0AIHNGzGPYdEMz9zDxIaPeH0s/j0H08xxE7aY1qfhmRdME+7xUFddpgwnuM5Ugz8Hka9sYm7LFn0zm%0AkAvHXu9w/+Q/Ke8lXrzG5fYjuNx2GMG9fXCdORR0r1aXp32blixfONPc2cg0qqriNdOLyT2m0L/5%0AQJq905QS5UqkSePZxYPY6Fh6N+rLzyt/pe9EQ7v3IPEB383/nq9mrnziuJtWbKJfswEMaT2U12tV%0AombTJwd5LYGqqgycOZjpPacy1H0IjTJo91t29iD2bhyDGg9g88rf6DmhFwDXLlxj9Nsj8W49nOk9%0AfBg8xws1VXmf3Hki3q2HW/wARiP3+riVKk7ruh2ZNmYuPvPGZZjOZ944po6eQ+u6HXErVZyGzesB%0AMGbAZDq4d6eDe3f8/vgT/z92A+DZzh1rWxvebfoB73v05P3u7SlS3NVUYb0wRVXp/nF/FvWaxaSW%0AI6nTriFFyqbtAzd63524u7F81HQovl//zvsfdQegSZcWAExpNYr5H06ny6SeKEr2uUhWVIU2M3rx%0AY895LGkxjjfa1aNgubR9vrs3b/Pr6BWc/u1gmveL1yhH8ZrlWeb5EUtbjqdI1dKUrGth7dozKKpC%0Aqxm9+KnnPJYZ43fOIP7No1dwJl38xYzxr/D8iOXG+N2yWfyoKm6zBhD44QzONBuOU/uG2KW7/ov8%0AZS9nW4zkrMcowpb+QompvQEo2K0lAGdbjORCl+kU9+kN2ajsA6CqlJzdnwsfzORU0xE4vdOIXE/E%0Av4/T7t6caTmam0t/pcQ0Q/yFPjCc+6fdvfmny3TcpvbKXvHn5NgBVIWKc/twottcDjQajeu7DXAo%0An/bcD/35AIeajuOw+0dcXbKFCtO7p9leYXoPbu/825S5zhqqSomZA7nY/WPONhuG4zuNnqgHAFQH%0AOwr3eZtYC7sp7WUoqkLrGYa6f2mLcbz+lLr/twzavvR1f9HsWPcL8QJerSv6/yY/MOSZqUykbLVy%0AhF0NJSIknOSHSRzasp+aLeukSVOjZW32bvoTgCNbD/JGgyoAVGlcneB/rhJ8/ioAsdExaHrDU2Ns%0A7e1o068dv3y+3nTBvIQy1coSfjWUW8b4D2/ZT42WtdOkebNlLfYb4z+69RCvN6j8xHHqtWvE4S2P%0Af9hu/L47W4wj+ZqmEXsnJgujeHnlq5Xn5tWbhAWHkfQwib1b9lLPo16aNHU96uK/0R+A/Vv3U7VB%0AVQAun71MVHgUANcuXsPWzhYrG8OkqwsnL3An4o4JI/nvSlYry61rYUSGRJD8MJnjWw5S1aNWmjRR%0A129x459g9Jr2xP4XDp4hIS7eVNnNdK3aNGfDWsPMkxN/nSJvvjwUKuz8RLoTf50iIvx2hscYP2k4%0AXyxeSWJiYpbmNTOUrVaO0KuhhIeEk/Qwif1b9lE7Xd1Xq2Ud/ty0C4BDWw9Q2Vj2AWp71CE8JJyQ%0Ai8Ep79nnsadSndfxX+sHQNLDJO7fizNBNM+vgUc9fI3n8/kT53HImxvHQo5p0jgWcsQhtz3nTxhm%0A4vhu9KehZ30A6nvUZ8cGQ3w7NvjRwPh+yXJunDxguKAJuRRC4WKFKeCcHyBlMNvKygqdlRVkcP6Y%0AU66q5Xlw7SYPQ8LgYRJ3f99LnhZ1n0hX0PtDIldsREt8kPKelpAIyYZ2T7G1sbjYMkPNapXJlzeP%0AubORaSqka/d2b95DPY+033c9j3r4Gc+TfX/so1qDagAkxidy9thZHqQqAwCJCYkEHDoFGM77wNNB%0AFHR9sv60BOWqlSfsaijhwYa6b9+WvdROF38dj7rs2rgTgANb91PFWPc9SEhEbyzv1tm4vDdv1ZjN%0AG7YBcOr4GfLkzYNzIac0aZwLOeGQ24FTx88AsHnDNtxbN3niWJ7tWvDHL76A4eOwt7dDp9Nha2fL%0Aw4dJxMVYVhuQWulqZYm4FpbSBz66ZT/V0/V73vSozYFNuwH4a+shKtY39IGLlCvG+YOGzyYm8h73%0A78VRskoZk+b/vyharQxRV8O5E3KL5IfJnNlymAota6RJE339NuH/hKDp05ZzTdOwsrVGZ22FlY01%0AOisdsbfvmjL7/1mRamW4czWc6JBb6B8mczaD+O9ev03EM+LX2VijWumIy2bxO1QvR+LVUBKDw9Ee%0AJhH1234KeKa9/tPHPu7Tq/a2KdWdXfnixBw4DUBS5F2S78XhULWsyfKeGXJXL0vCM+JPThW/zt42%0Apb7PVb449/Y/jj/pbhwOVbPPuZ+TYwfI92ZZ7l8JI/5aBNrDZMJ+PUihVmlvungy/sfbCrauSXxw%0ABHEXLOsmrZfhUM1QDzxIVRbye9R5Il3RsR8QtvRntFSrjWRXRf9D3Y+mocvmdb8QLyJbDmIoilJS%0AUZR/FEVZpSjKRUVRflQUpYWiKAcURQlUFKW2oiiOiqL8qijKKUVRDiuKUsW47zRFUb5RFGW3oiiX%0AFUV5dLvrXKCMoih/K4ryqfG93IqibDT+rR8VE97KVMDFkcjQxz9IRoZGUsAl3Q9aLo5E3jSk0Sfr%0AuR9znzwF8uBaqgiaBh+tnsrsPxbQduC7Kfu8P7obf3z1G4nxaS/0LU0BFyeiQiNTXkdlGL8TkTcN%0AaR7Fn7tA2h906rRtwGHj3fn2ee0B6DCmKzP+mM+wpWPI65wvK8N4aU5BAsHFAAAgAElEQVQuTty+%0A+fj7vx16G6fCTk+kuXXzFvA4/rwF8qZJ06BNA4LOBJH0ICnrM51F8hd25M7Nx2XhTmgk+Qo7/sse%0ArxYX10LcvBGW8jr0ZjiuroWfe//KVStSpKgLO333ZkX2Mp2Ti1O6uu82ji5Plv20dV8ceQrkwc7e%0AjncHd2D94rVp0hcqXph7kXcZOn8E87cuZsgnQ7HNZZv1wbwAZxdnIm4+XhLrduhtnF2cn0hzK9Vn%0Acyv0VkoaR+cCREUYBi+jIqJwdC4AwKVzl2nUuiEAr1WrgEuxwhR0LQgY7vz+asdyfgnYwPF9Jzif%0AaiaDJbAq7MTDVPEmhd3GOl09aPd6GaxdCxK7+9gT++eqWoHS25ZSZusSQqcsSRnUEJbJycU5pU2D%0AR+dAuh+wXZy4lercj8ug3Xsah7wO1G1RJ2VQz9IY2v3H8Udm0O47pkrzKP48xvjLVyvP5/5L+J/v%0AFyybuDRlUANNY/oPH7Pgj8V4dPM0TTAvqZBrQcJuhKe8Dg+NoLCxvnqksGtBwkMf15VhNyMolC5N%0AjbrViLwVRfCVEAB8t+zk/v0Edp/6A/8Tm1m17EfuRt/Lwkj+mwKFHYlK1QeMCo2iQLqykD9VGn2y%0AnnhjHzjk/DWqt6iJqlNxLlaIkpXL4GihA3cZyeviyL1U/f97oVHkdSnwXPtePxHE1UPnGHNsCaOP%0ALSFo7yluB93MqqxmiYziz/Oc8d8wxu99bAnex5ZwORvGb+PiyINUZf9BaCTW6doBgEI9W1P5wDKK%0AT+5JsI9hBl78uSvk96gNOhWb4oWwr1wGmyJP7mvJbFyceJDqmudBaCTWrk9e8xTu1YqqB5dSfHIP%0Ark75GoC4s1fJ71ELdCq2xQvhUKUMNkWyz7mfk2MHsHNxJCFV/Ak3o7B1eTL+4r09aHjkM8pP+YB/%0AJq0CDAMapYa249L8jU+kz45sXB15kKr//yAsEpt0ZcH+jdLYFHHm7q7jps5elsjj4sjdl6z7r58I%0A4tqhc4w6toRRx5ZwKRvW/TmVprfs/yxVthzEMCoLLABeM/7XDWgIjAEmAtOBk5qmVTG+Tr0w3GuA%0AJ1AbmKooijXwEXBJ07RqmqaNNaarDowEKgGlgQZZHVRmUK1UKtSqyJIRC5nWYQI1W9Xh9QZVcKtU%0AisJuLvy148izD/IKKFOtHA/iE7luvCNb1elwKuJM4PELTHlrDIEnLtB1Us9nHCX7KlG+BH0m9OHz%0ACZ+bOyvCTBRFYdqs8UybPM/cWTGJzt5d2bLytyeWy9PpdJR+oww7ftjGmDYjSbifwHtDOpopl6ah%0AGe9O+2nJWnLnzc1XO5bzbu/2BJ4JItn446Zer6e/5yA61erKa9UqULJCSTPm+CUoCoUn9iN89pNL%0ACAHEB1zgcushXH7XG+dBnVBsrE2cQWEpVJ3KhC/G89u3mwkLDnv2DtnQxb8vMqyFF2PaetPBqxPW%0Atoby/lGH8Yx6ayQf95hKmx5vU6n262bOadZr864HW42zMAAqV38dfXIyzaq+hWetd+k5qBvF3IqY%0AMYdZZ9/6nUSFRTJ1yzy6Te1N0PEL6PUWfCWaiRzdCuNctggL6w5jYZ2hlKr/OiVqVTB3tkymgDH+%0AxXWHsbjOUErWf53ir2j8Ed9t43SDwYTMWk2REZ0AuLV2Jw9Cb/P6tvmUmN6X2L/+QXtFb14IX7Wd%0AgPpDCJn1PUVHGPqzhvgjeWP7p7h93IfYv/6BV/Dcz8mxA4R868v+OiO4OPMnSnsbblQtM7YT11Zs%0AJfm+5c+4zxSKQvGpfQj52HKfcWZKj+r+RXWHsSgHtn0i58nOD/a+omnaaQBFUc4COzVN0xRFOQ2U%0ABNyADgCapu1SFMVJUZRHt+v9oWlaIpCoKEoE8LTbmo9qmnbd+Df+Nh73iUX3FUUZAAwAqOlYlbK5%0AS/7n4O6EReGU6s4pJ1cn7oRFpUkTFRaFUxFnosIiUXUq9nnsibkTQ1RoJP8cOUuMcamkv/88Qak3%0ASpMQl0DpKmX53/4vUa1U8jnlY8ramczoMvk/5zez3QmLxNH18d0zjhnGH4lTESfupIo/9fJQdds2%0A5NDmx19X7J0YEu8npDzI++gfB2nS2T2LI3k5kWGROKe6g8TZ1ZnI8Mgn0hQsUpDIVPHfu2O4s9DJ%0AxYkpX05hgfcCwq5l7x9sosOjKJDqTqoCrk7cDY/6lz2yv179uvJBT8NFWcCJ0xQp6pKyzbVIYUJD%0Aw5+2axq58zjwWsVy/Py74QGmBQs5s2rNEnp19bLYh3tHhkWmq/sMddwTaYo4pyr7DsTciaFctfLU%0Aa12fHhN64ZDXAb2m8SDxIYe2HiAy9DaBf18E4NDWg7w3xPwPtm/fsx1vdWsDwD8BFyhUpBBg+F6c%0AXZ25HZZ2ebDbYbfTLIVT0LVgSpqo23dwLORomIVRyJE7kdEA3I+9z7zR81P2WXPoe0KDQ9McN+5e%0AHH8fDKB205pcvXA1s8N8aUnhkVinitfKxZmHqepB1SEXtuXdcPtprmF7wQIUX+FDyMCPSTj9+KHo%0ADy6FoL+fgG0FtzTvC8sSGXabgkUe31FvOAfSnvu3wyIpWMRwbqg6FYdU7d6/GfnJCG5cuckvX/+a%0A6fnOLIZ2/3H8Thm0+1HGNI/qPoc89sSki/960HUS4uJxq+BG0KkgoozHuBt5l8M7DlG+WnnOHbWc%0A+r9r7450/PAdAM78fQ6Xoo+75IVdCxEeeitN+vDQWxR2LZTy2qVIISJSpdHpdLR4qxnvt3x8k8pb%0A73myf9dhkpKSibp9h5PHTvF61Ypcv2aZdyreCY/CMVUf0NHVkTvpykK0Mc2dsChUnUquVH3gtTNW%0ApaSbtGkW4ZctM86M3AuLIm+q/n9eV0fuhT3fMqivtarJ9ZNBPDD+kBf0ZwDF3yxH8LHss156RvHH%0AvED8N04G8TBV/MXeLEdINor/QVhUmjvobVydeJiuHUgt6rf9uM0ZaHiRrCdk2uMfNSv+NoeEbFT2%0AwXjHeaprHhtXJx6GPv2aJ/LX/ZScM8DwIllPcKr4K22eTcKl7BN/To4dICEsCrtU8dsVcSQx7Onx%0Ah/1ykIqf9AWWke/NshR+uw7lp3yAVT570GvoEx8S8s0OE+Q88z0IjcImVf/fxsWJB6nKgi53Luwq%0AlKDCBsNz4awL5qfsN5MI6jMr2z7cOyYsinz/oe6/nkHdn53aPiFeRHaeiZF6qFmf6rWeZw/OpN43%0A+V/SP1c6TdO+1DStpqZpNTNjAAPgUkAgLqVcKVi8EDprK+q1bchxv6Np0hz3P0rjDs0AqNOmPmcP%0AGtaCPLXnJMVfc8PGzgZVp1KxzuvcCAzB/4ftDKndh+ENBzCt40RCr9y0yAEMgMsBQWnir9u2ISf8%0A0i4XctL/GA2N8dduU49zxvjBcAd67bfrc3jz/nT7/EXFeoa7EF9vUIWbgZa5buTFgIsUKVWEwsUL%0AY2VtReO2jTnsdzhNmiN+R2jR0fAgs4ZtGnLqoGHdb4e8DkxfNZ1v537Lub/OmTzvme1awCUKlXTF%0AqVhBdNY6arStzym/v8ydrSy1auUaWjZ6j5aN3mPbHzvp1MXwA8+bNasQcy/mqc++SC/mXiyvl2lA%0A7SotqV2lJSf+CrDoAQyAoIBAXEsVoZCx7Dds24hjfmlnjx3zP0qzDs0BqNemAaeNZX9ypwkMatif%0AQQ378/s3W/h5yQa2ffcH0beiuR16myKlDQ9Iq9KgKiGBIaYNLAO/freZ/p6D6O85iAPbD+BhPJ8r%0AvlmRuJi4lOWhHomKiCIu9n7KA7g9OrbggO8hAA76HcKzk+Ghlp6dWnLQ1/DQN4e8DlhZG5qut7q1%0A5tSR09yPvU8+x3w45HUAwMbOhhqN3iQ4yPyfSWrxpy5iU7Io1sUKg7UV+d5uTOzOx2VBH3ufi7W6%0AEdSkD0FN+hB/8p+UAQzrYoVTHuRtXaQgNqWL8fB6xNP+lLAAFwIuUrTk43avabsmT7R7h/0O09J4%0AnjR6qxEBBwKeedyeY3vgkMee5dNWZEm+M0tgwMU0dV+jto05mq7uO+p3hOYdDTdfNEjV7hcqXjjl%0AQd4FixakWNlihIdEYJvLllwOuQCwzWVL9UbVuXbhmgmjerY1325MeRj3zm17adepNQBVarxBbEws%0AtyPSDWRFRBIXG0eVGm8A0K5Ta3Ztf7xcYr3GtbgSeDXNklOhN8Ko09CwtnguezuqvvkGV4Is63NI%0A7UpAEIVKuuJczNAHrt22ISfT9XtO+h2jQYemANRsUy/lORg2djbYGJdLrNSwCslJem4GWWZfNyM3%0AAy7jVMqF/MUNfb432tblgt/zLRdy90YkJetURNWpqFY63Oq+xq2gG1mc48x1M+Ayjsb4VWsdr7et%0Ay8UXiL9EnYooqeK/nc3ij/s7ENtSrtgUL4RibYXjOw2545v2+s+2lGvKv/O1qEHiFcONGaqdDaqx%0A7OdtVBUtKZkEC73Oe5rYv4OwK+WK7XPGn79FDRIexZ8rVfyNDfHHZ6P4c3LsAPdOXsK+tAu5ShRE%0Asdbh0r4+ETvSnvv2pR7f1FawZXXuXzbEf+ydaeyrNYx9tYYR/OU2Ln/2a7YdwACICwjELl09EJ3q%0Ad7DkmPsEVOnB6XoDOF1vAHEnL2brAQyAG/+x7nfL5nW/EC8iO8/EeJZ9wAfADEVRmgK3NU279y+P%0AtYgBLOYJmfpkPat8vmLC6qmoOh271/tzPTCEjqO6cuVUEMf9j7F7nT9DFo1k0Z5lxEbH8PnQBYDh%0ArtqtKzcza8t8NE3j7z9PcDKbrReoT9az2mclY1f7oOpU9q7fyY3AEN4b1YUrpy5x0v8Ye9btZNCi%0AEczfs4TY6FiWDF2Ysn+FOpWIuhnJrZC0d6yvnfs9gxYN5wOfPsRE3eOrMV+YOrTnok/Ws2zKMmZ+%0APxNVp+K7zpfgi8F8OOpDAk8HcsTvCDvW7WDM4jGs3LuSmOgYPhn6CQBte7alSMkidB3Rla4jugIw%0A+cPJ3I28S5+JfWj6TlNsc9my+shqdqzdwY+LfjRnqM+kT9azzucbhq6ehKpTObT+T0IDr/O29/tc%0AO32J0/7HcatShgErxmCfz4HK7jV4y/t9ZnqMBmDU+ukULlMUWwc7Zh1axg/jl3N+77N/+LIUO333%0A4t6yMYdObif+fgLeXpNStvnt+5mWjd4DYPL00bzb8S1y2dtx/Owufvp+EwvmLjFXtl+aPlnPSp8V%0A+KyehqpT2bnen5DAELqM6salU0Ec8z/KznV+jFg0iiV7VhAbHcPCoZ8+87grp37JyM9GYWVtTXhw%0AGF+M+cwE0Ty/w7uOUqd5HX7Y/x2JCYl8Murx7Imvdiynv+cgABZP/JyPFo7Bxs6Wo7uPcWSXoVO/%0A5ou1TF0+hTZdWhN+PZzpgw13J7mVLcFHi8ehaRpXL17j0zGGdsKpsCMfLRpn+LFHUdj9+14O77Sw%0ApQaT9YRNX0aJVTNQVJXojX4kBgZTcOSHxJ8OTDOgkZ59zUo4DewEScloej1hU5eS/Bx37GcnY6fO%0A5djJU0RH38O9/YcM6dudDm0t+5kH/0afrGfJlGXM/mEmqk6H7zpfrl0Mpsfo7lw8dZHDfkfYvnYH%0A4xaP5dt9XxMTHcNsr7kp+393cBUOeeyxsrainmd9Jn4wifsx9+k2vCvBgcEs2WZYWnHzqi1sX2t5%0AF/f6ZD1fTlnOtO8/NtR96/wIuRhMt1EfEHQ6kKN+R/Fb54v34tEs3/slMdGxzDe2+5VqVaLDkI4k%0APTSU9+WTlhFz5x6FSxRmwpeGm1V0Vip7f93DyT0nzBnmv9rrf4DG7vXZdmQTCfEJTB4xI2Xbpp3f%0A08G9OwAzxs9j1v98sLWzZf/OQ+zbeTAlXev2LdMsJQWw5puNzPxsCr/tWYOiKPyy9ncunrPcWVn6%0AZD0/+qxk9OopqDqVfet3cTMwhPbeXbh6Ooi//f9i7/qdDFg4nLm7vyAuOpblwxYBkMc5H6O/m4Km%0AadwJi+KrUf8zczQvRp+sZ6vPKrqvHo+iUzm5fg+3Am/QbFQHbp66wgX/ExSpUpouX3pjl8+e8i2q%0A09S7A0tbjufc1iOUql+Jwb5zQYOgPQFc3HnS3CG9EC1Zz3afVXQzxh9gjL/JqA6EnrrCRf8TuFYp%0AzfvG+Mu1qE4T7w4sbzme81uPULJ+JQb5zkXT4NKeAAKzWfwk6wme/BUVfpoKqsrtdTtJuBhCkTFd%0AuR8QRLTfMQr3akPeRlXQkpJJuhvL5ZGGMm7lnI/yP00FvcaDsEguD7esft5zSdZzddJKKvzkg6JT%0AubV2J/EXQyg6tgtxAZeI9j2GS+/WKfEnR8dyeYShbbNyysdra3xS4r80LHud+zk6dgzn/j8TvuXN%0AtRNRdCo31vxJ3IXrlBnXiXsBl7m14zjF+3ri1OgN9EnJJN2N48zwZebOdtZI1hM85SvK/zgVVB2R%0A6/xT6oG4gCDu+j35HLzsTkvWs81nFR8Y6/6/jXV/U2Pbd9HY9r2fqu1LXfeXMtb9GOv+7Nb25VSa%0A3mSPXH6lKI/Wzc5OFEUpCfyuadobxterjK83PtoGNAa+wfAsi/vAAE3TTimKMg2I1TRtvnHfM8Db%0AmqZdVRTlJ6AKsA34AxijadrbxnRfAH9pmrbq3/LW1a199vtAM4lVtp7Y899FagnPTvQKK6nmNncW%0AzOaX6DPmzoJZ1ctX1txZMKs7yfHmzoJZLbG1MXcWzKbckZz9zKG3q3uZOwtmZafozJ0FswpKvPXs%0ARK+w2rmKmTsLZuOm2Zk7C2aVs898aJV039xZMCu9Jj885VR3k3NunxfA0Tpn/96xVedg7iyYlc+1%0AH6Xyy0ShDZtZ9G/Hrvv/tMjvO1vOxNA07SrwRqrXvZ6yrX0G+05L9zr1cbqlS7471bahL51hIYQQ%0AQgghhBBCCCGEEEK8sGw5iCGEEEIIIYQQQgghhBBCZCea3tw5yJ5y9vo/QgghhBBCCCGEEEIIIYSw%0AWDKIIYQQQgghhBBCCCGEEEIIiyTLSQkhhBBCCCGEEEIIIYQQWUzTLPK52RZPZmIIIYQQQgghhBBC%0ACCGEEMIiySCGEEIIIYQQQgghhBBCCCEskiwnJYQQQgghhBBCCCGEEEJkMU1v7hxkTzITQwghhBBC%0ACCGEEEIIIYQQFkkGMYQQQgghhBBCCCGEEEIIYZFkOSkhhBBCCCGEEEIIIYQQIotpesXcWciWZCaG%0AEEIIIYQQQgghhBBCCCEskgxiCCGEEEIIIYQQQgghhBDCIslyUkIIIYQQQgghhBBCCCFEFtM0c+cg%0Ae5KZGEIIIYQQQgghhBBCCCGEsEgyEyOTRSTfN3cWhDCLIO2eubNgNpVyFzN3FszqTnK8ubNgVjol%0AZ98PMDAhwdxZMJ+q/bFXbcydC7P5/eQSc2fBrN57c7i5s2BWJWwczZ0FswpOijF3FswmRIk1dxaE%0AGe1S9ObOgnnJs1hzLJ0uZ/f5k7Wcfe7b6BPNnQUhcrycXQsLIYQQQryknDyAIYQQQgghhBBCmIrM%0AxBBCCCGEEEIIIYQQQgghspiml2l9L0NmYgghhBBCCCGEEEIIIYQQwiLJIIYQQgghhBBCCCGEEEII%0AISySLCclhBBCCCGEEEIIIYQQQmQxWU7q5chMDCGEEEIIIYQQQgghhBBCWCQZxBBCCCGEEEIIIYQQ%0AQgghhEWS5aSEEEIIIYQQQgghhBBCiCymaebOQfYkMzGEEEIIIYQQQgghhBBCCGGRZBBDCCGEEEII%0AIYQQQgghhBAWSZaTEkIIIYQQQgghhBBCCCGymKZXzJ2FbElmYgghhBBCCCGEEEIIIYQQwiLJIIYQ%0AQgghhBBCCCGEEEIIISySLCclhBBCCCGEEEIIIYQQQmQxTZPlpF6GDGJYIK+Ph1CneS0S4xOZ5z2f%0AwDNBT6QpV7kc4xaNwdbOhiO7jrHEZykAefLnYcrSSRQuXpjwkHA+HjyT2LuxuL/bnC5D3gdFIT72%0APosnfM7l85extrVm8aYFWNtYo9Pp2Lt1H98t+N7UIaeRFfEXL1OccQtHU/aNsnwzbxUbVmxMOZZD%0AXgfGfDqKkhVKomka80cv4NyJ8yaLN72siP+RClXL8/lvnzHTazZ7/9hHmUqlGTlnOPa57dHr9fz4%0AvzXs3rLHZLGmVrNpDQZPG4yqU9m+Zjvrlq5Ps93axpqxi8dQrnI5Yu7cY9aQOYRfDwegi1dnPLt4%0Aok/Ws3TqMo7vOQ7Ae/3epVWXVoDGlX+uMn/0Ah4mPmTMwtFUqVOZuJg4AD4dtYDL5y6bNN6MmPK7%0AL1S0EB+vnIqiqlhZ6fjl29/4/Yc/TBZrRoZ9PIQ6zWuTEJ/IJ96fZhh/+crlGL9orDH+o3yeKn6f%0ApZNwKe5CWEgY043xdx7UiRbvugOg06mUKFeCd6t2IiY6hnHzR1O3RR2ib0fTp8UAk8aaXq2mNRky%0AbRCqTse2NdtYm0H5H794LOUql+PenXvMHDI7pfx39epMqy6t0Ccns2TqMv7acxxrW2sWbUxbt69e%0AaKjbJ/xvPOWrlCMpKZkLf19g0UefkZyUbPKYn9eIj72o27wOifGJzPaex8UzgU+kKV+5HBMXjcPW%0AzpbDu47wmc8SAIZMHkD9lvVIepDEjWs3mTNqHrH34kwdwnOr2bQGg6YNQqdT2bZmO+uXbkiz3VAP%0Ajk4pB7OHzCH8eoTh/F8xifJVy+O3wY8lU5YBYGtny6TlEyni5oo+Wc9h/yN8M/dbc4SW6SbPXsje%0AA0dxLJCfX39Ybu7sZIo3m7xJ/2kDUHUqfmt92bh0Y5rtVjZWjFo0ijKVyxJzJ4Z5Xp8QcT2CclXL%0AM3TuUAAUReGnRT9xeMchAIZ/OoJa7rW4G3mXoS29TB7Ti6hhLP+P+gEbMij/o1OV/zlD5hBhLP+T%0AUpX/Zcbyn8shF59u+jRlf2dXZ/78+U9WTF9h0rj+jSn7vMVKF2PKskkpx3Ut4cKq+av5+etfTBPs%0Av8jsNvARVVVZ+sfn3A6LZHJvH5PG9CymbPdHf+pN+SrlURS4fvkG80bNJ+F+gsljTi8r+n1V61Vh%0A5tcfExYSBsC+bftZvfgHADr2e4+3urZG0zQu/3OVT0Z/ysPEh6YLOBVT9nntctkx4bNxFHAuAJrG%0A7z9tZZOZz/ucFn9W1HFPO2b1BtUYMKkfiqqSEBfPvNELuHn1JoWKFGTcorHkzuuAqlNZOecbjv55%0AzKSfwyNZ8f0DVK1XhaHThmBlpePunXuM7DgasKxz/2ky+xpAiFeVLCdlYWo3r0WxUkXp0bA3C8cv%0AZsSc4RmmGzlnGAvHLaJHw94UK1WU2s1qAYZG7sSBk/Rs1JsTB07S1aszAKHBYXh3HEP/FgP54bOf%0AGDVvJAAPEx8y+v1xDPAYzADPwdRqWouKb75mmmAzkFXxx0TH8IXP0jSDF48MnT6EY7uP0btpXwZ4%0ADOJaUHDWBfgMWRU/GC7k+k/sx197H1/cJcYnMnfkPPq6D+CjDycyZNogHPI6ZG2QGVBVlaEzvZjU%0AYzL9mw+g6TtNKVGuRJo0rbp4EhsdS+9Gffh55S/0ndgHgBLlStCkXRMGuA9kUvdJDJvlhaqqOLk4%0A0b73Owx9exgDWgxCVVWatmuacryvZq1kcCsvBrfysogBDFN/91ERUQx7ZyQDPQfj1XY4Xb0641TY%0AMWuD/Bd1mtemaKmifNiwFwvGL8b7qfEPZ/64RXzYsBdFU8XfzRh/90a9OHHgJN28ugCwbvkG+nsO%0Aor/nIL6a+w0Bh08REx0DwPYNvoz/cKJpAvwXqqoybKYXE3tMpm/z/jR7p9kT5b91F09iomPp2ag3%0Am1b+TP+JfQFD+W/arin93Acwofskhs8aiqqqhsG6zuMY6DmYga0GU6tpTSpWN9TtO3/ZRe+m/ejf%0AYiA2dja06dra5DE/r7rNa1OsVDG6NuzBvPELGT1nRIbpRs8ZybxxC+nasAfFShWjTrPaABzbe5ye%0AzfvSq2V/Qi5f58Oh3UyZ/ReiqipeM72Y3GMK/ZsPpFkG9aBnFw9jPdiXn1f+mlIPPkh8wHfzv+er%0AmSufOO6mFZvo12wAQ1oP5fValajZtKZJ4slq7du0ZPnCmebORqZRVZVBMwczredUvNyH0LhdE4qX%0AK54mjUdnD2LvxjGw8QB+W/kbvSb0AiD4wjW83x7JiNbDmdrDB685Xqg6Qxd/5wZ/pvWYaupwXtij%0A8j+lxxQGNh+YYT/Aw1j++zbqy68rf6VPqvL//fzvWZmu/MfHxTO01dCU/yKuR3Bg+wGTxfQspu7z%0AXr983dAmeA5mcGsvEuMT2W8Bn0dWtIGPvNu3PcFBISaN53mYut1fNn0FAz0HM8BjMBE3I2jfq53J%0AY04vq/p9AKePnk7p+z0awHB2ceK9Pu0Z+JYXfVoMQKdTad6uWdYHmgFT93mTk5NZ9vEKejfvx5B2%0Aw3mnZzvc0pU3U8pp8WfF+f5vxxwxexhzhn/CoFZD2PXbn3wwvCsAHwzvxp7f9zKotRczveYwfNZQ%0Ak30GqWXV9++Q14GRs4YzqfcUerv3Z9rAGYBlnftPk1XXAEK8ijJlEENRlGmKoozJjGP9y994TVGU%0AvxVFOakoSpms/Fup/uZuRVFMerXfwKM+vhv9ADh/4h9y53XAsVDaHxYdCzlin9uB8yf+AcB3ox8N%0APOsDUN+jHr4bDPv7bnj8/rnj51JGqM+dOE9BV+eU4z26E8fKygorKx2aloUBPkNWxR8dGc2FgIsk%0Apbvb2CGPPZXrVGbrmu0AJD1MIs6Md+lmVfwA7Xu/w76t+4i+HZ3y3vUrN7hx5SYAkeFRREdGk98p%0AX9YF+BQVqlXg5tVQwoLDSHqYxJ7Ne6jvUS9Nmnoe9fDb6A/A3j/2Ub1BNcAQ857Ne3j44CFhIeHc%0AvBpKhWoVANBZ6bC1s0HVqdjmsiUqPNK0gb0AU3/3SQ+TePjAcAeKjY01imreMe0GHvXwNX6/50+c%0AxyFv7gzjd8htz3njTCnfjf40TIm/PjuM8e9IF/8j7u2bseu3P82L5A0AACAASURBVFNenzpymnvG%0AAQ1zMpT/m4Qay//uzbtpkK781/eol1I+Upf/Bh712L15d6ryfzOl/D9Ztxsq99R3XV34+wLOqdoD%0AS9PQswHbN/oChrYrd77cOKUrF06FHHHIY58yg277Rl8atWoAGAYxkpP1AJw9cS5N22dpKlQrz82r%0AN1Pqwd2b91DPo26aNKnrwX1/7KOasRwkxidy9thZHiQ+SJM+MSGRgEOnAMM5H3g6yKI/gxdRs1pl%0A8uXNY+5sZJpy1coTejWU8OBwkh4msXfLXuqk+/7reNRl58adABzYup+qDaoChu9ZbyznNrY2Kec6%0AwNmjZ1MGbi1Z+XTlf8/mPdTNoPz7v0D5T61oqaLkd87PmSNnsi6IF2TqPm9q1RtW5+a1UCJuRGR6%0AXC8qq9pAZxdn6jSvzdY120wb0HMwdbt/P/Z+ynFt7WzNeq33iCn6fekZrgtsU64LIs10XWDqPm9U%0ARFTKne7xcfEEBwbj7GK+vkBOiz8rzvd/O6amadjntgfAIY8DkeFR//q+qWXV99+ifXP2bdtPxM1b%0AgKEtfMRSzv2nyYprACFeVdlpJkZ7YKOmadU1Tbtk7sxkFWcXJ24ZK16AW6G3cXZxejJN6OM0t1Ol%0AKeBcgKgIQ4MUFRFlmDaZTusurdL8iKWqKit2LGNTwHqO7zvBPyf/ydSYXoQp4k/NpbgLd6OiGbdw%0ADMu3L2X0p97Y5bLLrHBeWFbF7+ziRMPWDdi8+ven/u0K1SpgZW3NzauhmRbP88oobqeM4jam0Sfr%0AiYuJI2+BvDil2/fR5xEZFsmGFRv54fD3rD3+E/dj4ji+90RKul7jerHcdxmDpg7A2sY6iyN8NnN8%0A9wVdC/KV33LWHPuRdUvXma0zC4YfGyJuPv4xxRCb8xNpboXeTnl9K/RWShrHdPE7pjv3be1sqdW0%0AJnu37s+qEF6as4tTSocbHpX/tLE7uTg/pfw7P7HvozKhqirLty9l49/rOL7vJP/8fSHNMXVWOlq8%0A586x3X9lVWj/WcEn4rv1lHKR9jMomMHF6VtdWnPETNPmn0fq7xjSnt+PGOoJwzlgKAf3yVsg73Md%0A3yGvA3Vb1OHkgb8zL9Mi0zi5OHE71fcfGXobp8JOT02T/vsvX608S/yX8LnvFyyduDRlUCO7cM6g%0A/KfvBxjif1z+779A+W/Srgl7t+zNvAxnAlP3eVNr1q5JmkF9c8qqNnDItEF8NXslmt4CfrFPxxzt%0A/pgFo9lwYi3FyxTn129/y8rwnktW9vsq1ajESt/lzP1+FiXLuxmOHxbJ+hUbWXfkRzadWEdcTFya%0AGcqmZM4+b+FihSn7RlnOm/V6P2fFnxXn+78dc8G4xcxePZM1R3+gxXvurF2yDoDVi36gxXvNWXP0%0AB2Z/N4MvjEuvmlpWff/FShcjT748LNownxVbl+DRoYXh+BZ07j9NVl8DCMuk6S37P0v10oMYiqJM%0AUhTloqIo+4EKxvf6K4pyTFGUAEVRNimKYq8oSh5FUa4oimJtTJM39esMjltNUZTDiqKcUhTlF0VR%0ACiiK0gYYCQxWFCXDHreiKGMVRRlu/PciRVF2Gf/dXFGUH43/9lAU5ZCiKCcURdmgKEpu4/s1FEXZ%0AoyjKcUVRdiiK4pru2KqiKKsURcl26xZo6W61qVa/Kq27tOKrWY+nm+n1egZ6DqZzrW68Vq0CJSuU%0ANHEus076+NPTWeko90Y5Nn//O4NaDSHhfgJdUi3Dk909in/ItMGGC7mnfB6OhRyZ8Nk4Ph09/5mf%0AWXaRO19u6nvUo0f9XnSt+QF29na4v9scgG/mfkvfpv0Y9vZw8uTLw/uDO5k5t5nveb77W6G36N9y%0AED0a9sKjU0sKOOc3dTazTPp467esy5lj2eOO5Myi1+sZ1GoIXWp/YKzb3dJsHzFrGKeOnOHMUcu5%0AMzmrdB/ejeSkZHx/9jd3VsxC1alM+GI8v327mbDgMHNnR2SBi39fxKuFF6PaetPJqxPWtuYfnLck%0ATdo1Yfdvu82djSz1vP03K2sr6nvUY+/vljWok5nquNchOjKawNNPrrP+Kvu3dn/+6AV0rtmN4KBg%0AmrZrYsZcZo1H5T/wdBBd6nxAP49B/PLtb8z4ejrw+Lqga73udKzRBbtcdrR4z92cWc40z9vntbO3%0A4+MvfVgybVma2TnZXU6PP70O/d5lYo/JdK39ITvW+zLIx/Dcv2bvNGXHBj+61v6QiT2n8NHicShK%0A9n+w8KPvX2elo3yVckzoMZmxH0yg+8gPKVaq6Ct97guRE73UIIaiKDWALkA1oA1Qy7jpZ03Tamma%0AVhU4D/TVNC0G2A28ZUzTxZjuaU/SWQ2M1zStCnAamKpp2lZgObBI07SnLWC3D2hk/HdNILdxoKQR%0AsFdRFGdgMtBC07Q3gb+AUcY0nwMdNU2rAXwDzEp1XCvgRyBQ07TJT/k8BiiK8peiKH/diLv+lOw9%0A3Ts927JixzJW/J+9+w6L4ngDOP7dO5qgGAUUrNFYookGuygoNrAkmkQTNUYxGis2xN57F02sMcaY%0AqkbzM9FYUWPDltg1xhq7gGADRARuf3/ceVINKlcI7+d5eJS92WXeu5nduZ2dmS2LiI68g1sRN+Nr%0Abh6uRIWnHu4WFR6Nm8fTNK4p0tyNumscjlewUMFUw+hKVyhF8IwgxnQZm+EUKnEP4ji27zg1zDxf%0Atrniz8jtW1HcvnXbOPpk94Y9lK1UJlviyipzxF+ucjlGLRjBD/u/pV4LH/pN7msceumY15Ep30xk%0A2YzlxukKzC0qPDpd3NEZxW1Io9FqcMrnxIO7D4hOs++T96OKdxXCr0Vw/859kpOS2bspjIrVKwAY%0An95IfJzIlp9CjcPwzc3Sn/0T0RF3+Ofvy1SqVckkcWbm3YCWfLllMV9uWUx05B0KFSlkfE0fW1Sq%0A9FHhUammwnHzcDOmuZMm/rtp6n6DVr5W89RpWlHh0RRKV/5Txx4dHpVJ+Y9Kt2/acvP03F7DuK3j%0AgA7kd8nP4gnWs8DtE+8FtGLZ1i9YtvULoiPSvjdumZSL1O/B7RRpmn3oT53GXkzoM8X0mX8JKT9j%0ASF2/n9CfB/V1QF8OHHlw98G/HnvA9P7c+Ocma7/6JXszLbJNdHg0rik+fxcP13TTHaRMk9nnf/3C%0AdeLj4imZptPS2kVlUP7TtgP08T8t/45ZLP+lKpRCY6PhghXc0LZkm/eJmg1qcP7kBe5GZS29qZni%0AGvhm9Yp4NanN9/u+YeSC4XjWfYthnw0xT0BZYInrPug7OX5ftxOfZt7ZHVKWmKPd9zD2oXFarYM7%0ADmFjo8W5gDPVvKsSfi3c+L1gz6a9vFmtoknjTcnSbV6tjZYJS8aybe0O9mwy/6jk3By/Kep7ZsfM%0AXzA/r1UsbRyFtXP9Lt4wlPNmbZuyyzAi8cyRM9jZ25G/oHme5DfH53/71m3+2PUnj+If8eDuA04c%0APMFrFV+zeN3PClN+BxDiv+ZFR2L4AGtVVX2oquoDYJ1h+5uKouxRFOUk0AF4w7B9KfCJ4f+fAF9n%0AdFBFUfIDr6iqusuw6RugXhbzdBiopiiKM5AA7EffmeGDvoOjNlARCFMU5RgQAJREP4rkTSDUsH0U%0AUCzFcb8ATqmqmrJjIxVVVZeoqlpdVdXqRZ2KZZYsU79+s9640F7Y5n34tWkCQIWqrxMXE2e84frE%0Ancg7PIyNMy7A7demCWFb9wGwL/QAfh/o9/f7oAn7tu4HoFARN8Z9OYap/Wdw/Z8bxmPlL5jfuJCz%0AnYMd1Xyqcs3MC+CZI/7M3L19l9s3b1OstP5zq+JdhSvnzbuwtzni/7hOJzp46X92b9jD5yPnEbZl%0AHza2NoxfOpata7axe8Mec4WcztnjZyn6ahHcixfGxtaG+i3rsz/0QKo0+0MP0KSNflhovRY+HAs7%0Abtxev2V9bO1scS9emKKvFuHssbPcvhHJ61Vex97BHoAqdT25el5ftlPOu1nH34vLZy+bIcr0LPnZ%0Au3q4YudgB+ifTqtU802uXTRv3f/lm3XGBfjCNofhZ/h8K1StkGn8cbEPqVBV3xnl16YxYYY494Xu%0Ax98Qv/8HTdhneF9Av/bNW7UrE7bl2ecDS9GX/6LG8u/b0pd9acr/vtADxvKRsvzvCz2Ab0vfFOW/%0AKGePnU1/bq9X1bi4abN2TalevzqT+0y1ypFXa7/5lS5+Peji14M9W8Jo2sYPgIpVKxD7II7oNOUi%0AOvIOcTEPqWgoF03b+LF3i36x2pq+NfioV1uGdx5FwqME8wbynM4eP0fRV4tQ2FgO6nMgTTk4kOI8%0A6NPCh+OGcvAsAYM74ZTPkcXjrK/DSjx1/vg5ipR6+vnXe6ceh0IPpkpzMPQgjdronx6s29ybE/v0%0A650ULl7YuJC3W1E3ipUpRuQ1y6918DzOHT9HkRTlv34m5b/xc5Z/AN9Wvuz6dde/JzQDS7Z5n2jY%0AqoFVdeqb4hr41fSvaV/zYz6uE8DkwKkcCzvOtP4zzB5bZsx93S/yahHjcb2aeHHVzO29J8zR7ivg%0A9nRqodc9y6NoNDy4+4DIm5FUrFLB+L2gqncVrlww33c+S7d5h8wK5sqFq6z+8meTxfgsuTl+U9T3%0AzI4Zcz8Gp3xOFC1VFICqPk/PA5E3I6nirV9HoUSZ4tg62HEv+r5Z3gNzfP5hW/ZTqcab+nUvHOyp%0A4Pk6Vy5ctXjdzwpTfQcQ1k2nKlb9Y62UF7mBoSjKAKCgqqpjDL+HADeBQOBdVVWPK4rSGfBVVbWz%0AIc1xoD8wQ1XVmpkcNz9wUlXVEobfXwNWq6paVVGUcUCsqqqznpGv7cCvgCtwAigHdAdKAW8DH6mq%0A2j7NPpWAJaqqeqU5HIqi7EQ/oqQs8Laqqo/+7b1pVMzvpe8I9ZvUhxq+1Xn0KIGZA2dx7sR5AL7Y%0Asoge/r0AKFe5LENCBmPvYMehnX8wb5R+TkPnV/IxevEoChUtRMT1CCb2mkzMvRiCZwbh08ybCMMC%0AfslJyfRu0YfSFUoxZM5gtFoNiqJh12+7+G7uDy8bwksxRfwF3AqwaON8HPM6oupU4h/G06VBNx7G%0APuS1iqUJnjkQWzsbbl0JZ0bwLOMi6P+V+FMaEjKIA9sPsnvDHhq/34jBs4O5fO6K8fUZQTO5+Nel%0A5863Vnm5JXZqNKhBr3E90Gg1bFm1lRXzVtIpuCPnTpznQOgBbO1tGTp3CK+9+Rox92KYEjjVOC1K%0A+77t8G/rR3KSjsXjFhvn+O848GN836lPcnIyF05dZM6QuSQ+TmTGymnkd8mPoihcPH2Jz4Z/bnxq%0A60UkZ9Okgeb87Kv5VKXnmO6oqoqiKPyyfB0bftj4QvnWkT03wvtP6ksN3+okPEpg+sBZnDtxDoAv%0Atyymm39PQD+yZFjIIOwc7Dm08w8+HzUf0Mc/dvFoY/zje00yxu//gR81faszMTD1k/ij5o/A06sy%0A+Qvm527UXZbP/paNKzc/d75ftuyD/snY3uN6otFq2LxqKz/OW0FAcCfOnTjHfkP5HzZ3CGXeLEPM%0AvRgmB07hlqH8f9S3PU3b+pGclMxCQ/kv9Xophs4ZhEarQdFo2LV+N99/pj+3b/lnIxE3IngYGw/A%0A3k1hxtdeRIIu6aXjf5agyf2o5VuDR/GPmDpwJmcN5WLZ1i/o4tcDgPKVyzFizhDsHew58Psh5o6a%0AB8CKvd9ia29rfFLp9JEzzB42N9vy5qixy7Zjgf482HNcdzRaLVtTnQfPcSD0ILb2tgyZO5gyxvPg%0ANON58Jt9y3HK54iNrQ2xD+IY0WEkD2Me8sMf33H1/FUSH+sHwK5bvp7NK7dkS35/O2qZ+ZQBBo+d%0Axh9HT3Dv3gNcCr5C764daf2Ov1nz8H7Vftl6vGoNqtNtbDc0Wg3bVoXy0/yf6DCwA+dPnudQ6CFs%0A7W0ZODeY0m+UJvZeLDP6TCfiagQN3m9Am95tSEpMRtXpWPnZSg5s1X/5HTRvMJW8KuFcwJl7Uff4%0AMeQHQleFZkt+k9TMF45+ETUa1KD7uO5oDeV/5byVdDSU/4OG8j947mBjO2BaivK/fN9yHA3lP+5B%0AHCM7jOSq4aGUZXuXMSZgDNcvPv9o6Wd5nA3xm7vN65DHgRWHvufjOp2Ii3nx6VSyewqS7L4GpvRW%0A7cp80KMNoz4Zk615flnmuu4risKcn2fjlM8RFIVLf13isxHzXmo6nexq95qi3fdu51a06vg2ycnJ%0AJDx6zMLxizl9+C8AOgd3osE79UlOSub86YvMGhxivDaamznbvG/WeIN5a+dy8cwl4xoxS6cv4+CO%0AQ+YMOZWcGv+LtvlNcY7L6JgAdZvWoXNwJ3Q6ldj7McwaFMKtq+GUKFuCgdMHkMcpD6qq8uWUpanW%0Ai8wKa677AG17fkDTD/1RdTo2rNjEz1+tBbKv7tspNtkRfoay+zvAVRM8mLvl2ibrvbOdA52r0NT6%0AniZModyZzVb5eb9oJ0ZVYDlQC/10S0fQj1gYhn60w11gI3AjRSdGMBAMTFRVddEzjn0c6KOq6h5D%0Ax0V+VVWDstiJMQ7oYvg5CfwBHFZV9T1FUdzQj9ZoqKrqBUVRnICiwGXgL6Cjqqr7DdNLlVNV9bSh%0AE2MQ+tEgvsD7qqo+825NdnRiCJETZceN3Jwquxp0OVV2dWLkVLm57IPpOzGsWXZ3YuQ0luzEsAbZ%0A3YmR02R3J0ZOkx2dGDnVf2EedfHicnu7V+Reub3Nn9vrvik7MXIC6cTIXtKJ8WJe6CysquoRYBVw%0AHNiEvrMAYDRwEAgD0k6u/wNQAFjxL4cPAGYqinIC/ZobE54ja3sAD2C/qqoRwCPDNlRVvQ10BlYY%0Ajr0feF1V1cdAG2C6oQPlGJBqwnhVVUOAo8B3ipLLr1xCCCGEEEIIIYQQQgghnpuqKlb9Y61euCvR%0AsEZERutEZDbKwhtYo6rqM1eRU1X1GPr1K9JuH5eFPG0HbFP8Xi7N6zt4ugh52r+Zbu0NVVV9U/x/%0A7L/9fSGEEEIIIYQQQgghhBBCZB+zjIdSFGUe0Axobo6/J4QQQgghhBBCCCGEEEKInM8snRiqqvZN%0Au01RlAVA3TSbP1NV9etnHUtRFBdgewYvNVJVNfrFcymEEEIIIYQQQgghhBBCmIaqs94pm6yZxVam%0AUVU18AX3i0a/VoYQQgghhBBCCCGEEEIIIf7DZJFqIYQQQgghhBBCCCGEEEJYJYuNxBBCCCGEEEII%0AIYQQQgghcgtVtXQOciYZiSGEEEIIIYQQQgghhBBCCKsknRhCCCGEEEIIIYQQQgghhLBKMp2UEEII%0AIYQQQgghhBBCCGFiqk6xdBZyJBmJIYQQQgghhBBCCCGEEEIIqySdGEIIIYQQQgghhBBCCCGEsErS%0AiSGEEEIIIYQQQgghhBBCCKska2IIIYQQQgghhBBCCCGEECamU2VNjBchIzGEEEIIIYQQQgghhBBC%0ACGGVZCSGyDZaRfrEcjMdqqWzYDHJ6CydBYuyUbSWzoJFqWruLfsAbjZOls6CRSWrubf+v1+1n6Wz%0AYFH/O/K5pbNgUW1y+eefm9u9j9VkS2dBWNAr2jyWzoIQFpF7W3x6ufeqp9c6MZ+lsyBEriedGEII%0AIYQQLyA3d2AIIYQQQgghhHh+qkwn9UJye2eqEEIIIYQQQgghhBBCCCGslHRiCCGEEEIIIYQQQggh%0AhBDCKsl0UkIIIYQQQgghhBBCCCGEieXyZTVfmIzEEEIIIYQQQgghhBBCCCGEVZJODCGEEEIIIYQQ%0AQgghhBBCWCWZTkoIIYQQQgghhBBCCCGEMDGdqlg6CzmSjMQQQgghhBBCCCGEEEIIIYRVkk4MIYQQ%0AQgghhBBCCCGEEEJYJZlOSgghhBBCCCGEEEIIIYQwMVWmk3ohMhJDCCGEEEIIIYQQQgghhBD/SlGU%0ApoqinFUU5YKiKMOeka61oiiqoijVX/ZvSieGEEIIIYQQQgghhBBCCCGeSVEULbAAaAZUBNorilIx%0Ag3T5gP7Awez4u9KJIYQQQgghhBBCCCGEEEKIf1MTuKCq6iVVVR8DK4FWGaSbCEwHHmXHH5VODCGE%0AEEIIIYQQQgghhBDCxFTVun+yoChwLcXv1w3bjBRFqQoUV1V1Q3a9b7KwtxUKnNCbWg1rkBCfwIyg%0AWZw/dSFdmrKVyjJkziDsHew4uOMPFoxZCEC+V/IxeuFIChcvTMS1CCb0mkTs/ViKv1acISHBlHmz%0ADMtmLGf1F2sAsLW3Ze7Ps7G1s0Wr1bJ74x6+mf2dWeNNqbpvNXqN64VGq2Hzis2sWvhTqtdt7WwZ%0APHcQZSuVJebuAyb3nkrE9QgA2gW2xb+dP7pkHQvHLuLwrsMAvP/pezRt1xRQ+efvy8wKnk1iQiIA%0AnYcEUK+FD7pkHb99t4Ffvv7VrPGmZYr4ATQaDfM3fE5UeDRjPhkLwOyfZ+HolAeAV1xf4eyxs4z7%0AdIKZIs1csdLFGLVwhPF3jxLufDP7O/731dos7V+2UhmGhAzCzsGeQzsOsWDsIgA6BX1M84+acS/6%0APgDLpn/Nod//yP4ATKDvhEBqN6zJo/gEpgXNyPCcUK5SWYbNGYK9gx0Hdhxi3pgFANRvUY/OAztR%0AsmwJer3dh7Mnzpk7+8+thm91eo/riUarZdOKTazMoB4MnTuYspXK8uDuAyb1nmKsB+0D29K0XVN0%0AycksGLuIP3cdxs3DjaFzB1PA9RVUFTb8uJG1y36xRGjPZM5zP8AP+7/lYVw8umQdyUnJ9G7Rx2yx%0APkuV+lXpMvZTNFot21ZuZe2in1O9bmNnQ/+QIEpXKkPM3QfM7jOT29cjja+7FnHls20L+GnuCn5d%0A8gu29rZM+mkqtna2aGy07N8Yxqo5K8wdVpZUqV+VbuO6o9FqCF25lZ8Xrkn1uo2dDUFzBvJapTLE%0A3I1hZuB0Iq9HUvatcvSepv/8FEVh5ZwfObBlPwBLwr4i3vA565KTCX47yOxxZVXVNPGvySD+gSni%0An5Ei/j4p4v8xRfz9ZvanRqMa3I++T58mgWaPyRRGTQlhd9ghChZ4hV++X2zp7GSb3Fz+q9avRndD%0A7FtXbmXNwtWpXteX/WDKGGKfHjiNyOuRePp40nnYJ9jY2pCUmMSyyV9xYt+JVPuO/moM7iUKE2hl%0A5T+727zFShdj5MLhxv3dS7jz7ezvWPvV0+t96+7v02N0d9pU/pAHdx+YJ9AsMPf3H2vjWb8qnxiu%0A+9tXbuWXDK77fQ3X/di7DwgxXPfdihVi7vYF3Lx4A4DzR8+yZOQi7BzsCF40FPcSHuh0Ov7cdogf%0Apn9ridD+1YvG/oRrEVfmbFvA6rkrWLfkF4qULkrQ/MHG1wuXcGdVyI9sWLbObDE9j9wef3a3eZ/Q%0AaDTM+C2EO+HRTOky0WzxvIzsPg/kNB6+lak6sSOKRsPFFTs5M399qtfLd2/Gax81QE1K5lH0Aw4O%0A/JKHN6IAeGtkO4o08gTg9NxfuLrugNnzL/57FEXpDnRPsWmJqqpLnmN/DRACdM7OfFn1SAxFUcYp%0AijIoG47ziqIovVP8XkRRlDXP2sdSajasQbFSRenk/QkhQ+fSf2q/DNMNmNqXkCFz6OT9CcVKFaVm%0AgxqA/gbekbCjBPh8wpGwo7QPbAtAzL0Y5o9ZmOoGFkBiQiLBHw6hu18vuvv3ooZvDSpUfd20QWZC%0Ao9HQZ1IgIzuNolvD7vi28qVE2RKp0jRt50/svVg+8enC/5aupeuILgCUKFuC+i3r071RD0Z2HEnf%0AyYFoNBpc3F1495NW9Hm7L90b90Sj0eDb0hcAvw+b4ObhRlffbnzasDs71+00c8SpmSL+J97r+i5X%0AL1xLdazg1oPo1TSQXk0D+evwGfZuCjN9kFlw/dJ1ejbtTc+mvendvA8J8Qns3Zz1vPWf0o+QIXMJ%0A8PmEoqWKUsP36dpBPy9dazx2TunAqNWwJsVKFaWDdwCzh84haGr/DNMFTe3PrCEhdPAOSHVO+Ofs%0AZcZ0G8eJgyfNme0XptFo6DspkBGdRtG1YTcatGqQrh40a+dPzL1YAnw+4eel/6PbiK6Avh74tvTl%0A00bdGd5xJP0m90Gj0ZCcnMziiUvo2qg7fVv1p1XAO+mOaWnmPvc/EfzBYHr497KaDgyNRkO3iT2Y%0AFDCe/o0D8WlZj2Jli6dK07htE2LvxxJYvwfrv1pHp2EBqV7/ZHRXju48Yvw9MSGRse1HMbBZf4Kb%0A9adK/aqUq1LeLPE8D41GQ49JvRgfMJY+jXrj07I+xdPE3qStH7H34+hZrzvrlv5KwPDOAFw5e4Xg%0AtwcQ1Kwf4zuNodfUQDTap9eAUW1HENSsn9XewAV9/D0n9WJcwFgCG/WmXgbx+xni71GvO78u/ZXO%0Ahvivnr1C0NsD6N+sH2M7jSEwRfzbV29jXKex5g7HpN5t3oTFIZMsnY1slZvLv0ajodekXowNGEvv%0ARr2o37JeBmXfn7j7sXSv141fl/5C5+GfAPDgzgMmdBlPH79A5gSFEDw3ONV+Xk3rEB8Xb7ZYssoU%0Abd7rl64b27WBzfuSEJ9A2OZ9xuO5ebhSrV41481/a2Hu7z/WRqPR8OnEHkwOGE9Q40C8M7juN2rb%0AhLj7sfSt34PfvlrHxymu+xFXwhncfACDmw9IdeNy3ZJf6N+oN4ObD+D16hWo4lvVbDFl1cvGDhAw%0AuivHUrR5bl66YXw/hr49kIT4BA4aOnWtjcSf/W3eJ1p0eYfrab77WzNTnQdyCkWjUG1KZ3Z2mMFG%0A3yGUbOWFc9lUD7Rz99QVtjQbxabGw7m24RCeo9sDUKSRJwUrvcrmJiPY2mIsr/dsjk3ePJYIQ/zH%0AqKq6RFXV6il+0nZg3ABSVtRihm1P5APeBHYqinIZqA2se9nFva26E+N5KIryrFElrwDGTgxVVW+q%0AqtrG9Ll6fnX96rB1TSgAZ478TV5nJwoWKpgqTcFCBXHM68SZI38DsHVNKHX96wBQx8+Lrav1+29d%0A/XT7veh7nD1+jqSk5HR/89FD/dRkNjY22Nhoszp0KNuV3gqT8AAAIABJREFU9yzPzcu3CL8aTlJi%0AErvW7aKOn1eqNF5+XoSu2QbA7g17qFJX3+Ncx8+LXet2kfg4kfBrEdy8fIvynvqbVFobLfYOdmi0%0AGuzz2HMnIhqAtzu+zQ+f/YBqCPjJE/qWYqr4Xd1dqdmwBptXbM7w7zrmdcSzzlvss8IGXhVvT25e%0AuUXkjUg8Snow9bvJLNwwnzk/z6b4a8XTpdfXDUfOHNXXjdCftxnrQE5V168OWwznhL+OnCGvc94M%0AzwlOeR3568gZALasCcXbvy4AVy9c5dql6+bN9EvQ14Ob3DLUg53rdlI3TT2o4+dlPE+mrAd1/bzY%0AuW5ninpwk/Ke5bkTeYcLhlEN8XHxXL1wDVd3V/MG9i8sce63RmU8y3Lr8i0irkWQlJjE3vV7qNmk%0AVqo0NZrU4vefdwCwf2MYleq+ZXytpl8tIq5FcO3c1VT7PLnOaW202NjaGM/71qSsZznCL98i4qo+%0A9j3rd1PTr3aqNLX8arNjzXYAwjbupbIh9sePEtAl6wCwtbfL8hhga1LWs5z+szfEv3v9bmplEP/2%0AFPG/ZYg/IUX8dvZ2qT7f04dOE3MvxkxRmEd1z0rkd85n6Wxkq9xc/st5luPW5ZtEGK57u9fvpnaa%0A2Gv71TKW/b0pyv6l05e4E3EHgCvnrmDnYI+Nnf4rkYOjA+92e5dV81aaMZqsMVWb94kq3p7cMrQf%0An+g5tgdLJy+1uuJh7u8/1qaMZ1nCL98i0nDdD1u/hxoZXPd3ZnLdz8jjR485vV//8E5SYhKXTl3E%0AxcraffDysdfwq0VkBm2eJyrVrUzE1XCibtw2XRAvQeI3TZvXxd2Fag2rs21lqOmDyCamOA/kJAWr%0AvEbs5Qjirt5Gl5jM1V8PUMy/Wqo0kfv+Ijn+MQDRRy7g6KH/nuhcriiRB/5GTdaRHJ/AvTPX8GhQ%0A2ewxiOenUxWr/smCP4CyiqKUUhTFDmgHGIe9qap6X1VVV1VVX1VV9VXgANBSVdU/X+Z9s7pODEVR%0ARiqKck5RlL1AecO2nU96axRFcTX04qAoSmdFUdYpirID2K4oSl5FUbYrinJEUZSTiqI8WVRkGvCa%0AoijHFEWZqSjKq4qinDIcw0FRlK8N6Y8qitIgxbH/pyjKZkVRziuKMsMc8bu6u3D75tML7e1bUbi6%0Au6RPc+tpmqgUaQq4FuBOpP7LzJ3IOxRwLfCvf1Oj0fDFlkX8fPwnDu85wt+GG8DmllHsLhnFbkij%0AS9YRFxOHcwFnXNLs++Q9iQ6PZvUXa/j+wHesPPwjD2PiOLxb/7RCkZIe1H+nPvM3fM7kbydS5NUi%0AZogyc6aIH6DXuB4snfIVOl3G39rq+HtxLOwYD2MfZndIL61BS19+/3UnAEHT+jN/9AJ6t+jDFxOX%0A0G9y+ifHXd1diLoVZfxdX3+efmlpFfAOS7YuYtCsgeTNn9fk+c8Obu6uacrFbdzSfBFzc3fldqq4%0A06fJKVzdXYhMVw9Sx+KS4j1JXQ9c0+2b9vxZuFhhyrzxmsXOc5mxxLlfVWHGj1NZtHEBLTo0z44w%0AXpqLuwvRKcpy9K0oCqZ5H1zcXYi+qU+jS9bxMCaOfAXy4eDowHu9WvPT3PQ37DQaDbM3zuXrI99x%0AfM8xzh+zvmnVXNxdiEpRBqJvReFSOHXsBVOk0Zf9h+Qr4Azob4TO27aAz7fOZ9GIhcabuqgq47+f%0AwOwNc/H7yN88wbyArMTvkkH8ziniX7BtAfO2zmdhyvhFjpCby7++Dff0vBeVSdlPed17mKLsP1G3%0AeV0unrpI0uMkAD4e1JFflqwlIT7BxBE8P1O1eZ+o37K+sf0I4OVXm6jwaC6d+ccE0bwcc3//sTYF%0A07TdM7ru6+t++us+QKHihZm5cS7jV02hQo2K6Y7v6OxE9cY1ORF23IRRvJiXid3B0YF3e7VmdQZt%0AnifqtqzH3nW7TZP5bJDb4zdVm7fL2E/5dspyVF3OaQeZ+jxg7RzdC/Lw5tOO5oe37pDHI/PvcqXb%0A+3Jrh/6cdu+vq3g0eAttHjvsCualcJ2KOBVxyXRfIbKLqqpJQB9gC3AG+ElV1dOKokxQFKWlqf6u%0AVa2JoShKNfS9N57o83YEOPzMnaAqUFlV1TuG0Rjvqar6QFEUV+CAoijrgGHAm6qqehr+zqsp9g8E%0AVFVVKymK8jqwVVGUcobXPIEqQAJwVlGUeaqqphuXl3KusPKvVKCoU7EXiN40svK0qU6no4d/L5yc%0AnZiwdCyvln+Vy2cvmz5zZpA3f17q+HnRqU5nYh/EMnrxSBq915Dta3dga2fL44TH9GnRj7pN6xI8%0AeyDBrV969jKrUqtRTe5F3+P8yQtUrp1xj3yDVr5symSUhiXZ2Nrg1aQ2S6ctw8HRgTeqV2T04lHG%0A123tbJ/reOu++43vP/sRVVXpPDiAnqO7M2tQSHZnW1gxB0cHxn4xmoXjFltlp112ysq5f8D7QUSF%0AR/OKyyvMWDGVqxeucTKHTDuWkbZB7Vm/9FfjqIuUdDodwc0H4OjsxNAlwylRrgRXM3lyL6c6d+wc%0AfRsHUqxMMfqHDOTwzj9JTEhkWOuh3ImIJr9Lfsb/MInrF67z16HTls5utjt37ByBhviDUsQvcofc%0AXv5LlCtB5+GfMPpjfTupVMXSeJT0YOmELylUrJCFc2deT9qPy6Z9DYC9gz3t+7RjWIcR/7Lnf8ez%0Avv/8l9yNvENPr67E3ouh9JuvMeTLEQQ16UN8rH4KNY1WQ9C8QWz8+jcir1nXNGIv68Og9vyWSZsH%0A9PWgeuOaVrsWyMvK7fFn1uat1rA696Pvc+nURd6o/aaFcmde/3Ye+K959f26FKxcmu2t9WudhO86%0AScG3StNk3TgSoh8Qdfg8qjzII8xEVdWNwMY028ZkktY3O/6mVXViAD7AWlVVHwIYOiD+TaiqqncM%0A/1eAKYqi1AN06FdGL/wv+3sD8wBUVf1bUZQrwJNOjO2qqt435OUvoCSpV1/HsN8SYAlAo2J+zz1I%0AuVXAOzT/SP8U7NnjZ3Er4mZ8zc3Dlajw1MN/o8KjcfN4msY1RZq7UXcpWKggdyLvULBQQe5F38ty%0APuIexHFs33Fq+Fa3SCdGVHh0utijM4q9iBtR4VFotBqc8jnx4O4DotPs++Q9qeJdhfBrEdy/o58q%0Aau+mMCpWr8D2tTuIuhVFmGEdiLDNYQyaPdAMUWbOFPF7NalN7Sa1qdGgJnb2tjjmc2ToZ0OY3l8/%0AsMi5gDPlPcszrpvlF/ROq2aDGpw/dYF7UfdwzOtI7P1YejbtnSqNRqNh4cb5AOwPPcD6737D1ePp%0AU/v6+qN/YuNe1NO6sPHHTUxabn0xP/FuQEveNpwT/j5+Lk25cON2eFSq9LfDo3BLFXf6NDlFVHg0%0AhdLVg9SxRIdHZVIPotLt++TcqLXRMm7JaLb/suO51lgxJUuf+5/sey/6Hns37+N1z/IW78SIDo/G%0AJUVZdvFw5U6a9yE6PBqXIvrzo0arwTGfEzF3YyjrWQ6vZnXoNLwzTs5O6FSVxwmJbPpmg3Hfhw/i%0AOLXvJFV8q1pdJ0Z0eDSuKcqAi4cr0Wmm/7hjSPMkdqd8jsSkWZz2+oXrPIqLp2T5klw4ccE4hcj9%0A6Psc2LKfcp7lrPImblbij84g/rSL816/cJ34FPGLnCE3l399G+7pec81k7LvliJ2xxRl38XdhZFL%0ARhESNJvwK+EAvF71dcpULsNXYcvQ2mjJ75KfqaumMrztcKyBKdq8T9RoUJ0LhvYjgMerHrgXd2fx%0AlkXGv7Vw03z6vtOfu7fvmjLMLDH39x9rcyc8OlXbPaPrvr7u67envO4DxD7W/3vp1EUiroRTpFRR%0ALp7Un/t7TuvDrX9uWu2izi8Te1nPctRuVoeOado8mw1tniq+1fjn1EXuR2X9XoC55fb4TdHmLVjY%0AhRqNa1LVtxq29nY45nOk/9yBfDbAuh/cM+V5ICd4GH4HxxSjJxw9ChJ/K/31qbDPG1Ts34rt709C%0AZxh1CfDX57/y1+e/AuC1IJAHl26ZPtPipalZm7JJpGF100llIomneXVI81pciv93ANyAaoZRFxEZ%0ApH8eKcdfJ2OiTp9fv1lPD/9e9PDvRdjmffi1aQJAhaqvExcTZ5wi5Ik7kXd4GBtnXIDbr00Twrbq%0AF67bF3oAvw/0+/t90IR9W5+9zkH+gvlxcnYCwM7Bjmo+VblmoUWgzh4/S9FXi+BevDA2tjbUb1mf%0A/aEHUqXZH3qAJm0aA1CvhQ/HDEOD94ceoH7L+tja2eJevDBFXy3C2WNnuX0jktervI69gz0AVep6%0AcvW8Pr6wLft4q45+LsXKtStz/Z8bWJIp4l82/Ws61OxIpzoBTAmcxrGw48YODACfFt4c3HbQKp9W%0AbdDq6VRSD2MfEn4tgnotfIyvl65QGp1OZ1yo+5vZ3xrqxkMqVNHXjSatGxvrQMr1Bbyb1rHq0Ua/%0AfLOOT/178ql/T/ZuDsPfcE6oWLVCpueEuNiHVKxaAQD/FOeEnEZfD4oa64FvS1/2pakH+0IPGM+T%0AKevBvtAD+Lb0TVEPinL22FkABs0cyJXz1/j5y/+ZN6BnsOS53yGPA3mc8hj/X71eVauoExeOn8ej%0AVBEKGT5/73d8+CP0YKo0f2w7RIPWDQHwal6Xk/tOADDqg+H09O5GT+9u/LZsPf9bsJpN32zAuaAz%0Ajk+uc/Z2vOXjyfUL1rdOzPnj51LF7vNOPQ6lif1Q6EEatmkEQN3m3pwwxF6oeGHjQsZuRd0oVqYY%0AEdcisc9jb/yc7fPYU8WnClfOXjFjVFl3/vg5ipQqQmFD/PUyiP9g6EEaZRB/4Qzij7wWicg5cnP5%0AP3f8HEVKFU1V9g8+o+x7p4jdydmJccvHsXzacs78ecaYftP3Gwmo0YmudbswpPVgbv5zw2o6MMA0%0Abd4nUrYfAS7/fZkPq7SjU50AOtUJ4PatKHo362MVHRhg/u8/1ibtdb9uBtf9P7cdwjfFdf+Uofw7%0AF3RGo9HX/ULFC+NeqggRV/Udee0GdcAxnyNfj19qxmiez8vEPvqD4fT27kZv725sWLaetQtWG2/g%0AA3i39LHqqZRA4jdFm/eHGd/SrXYXenp3I6TvTE7uO2H1HRhguvNATnHn2CXylXLHqbgbGlstJVrV%0A5vrW1BPSFHizJDWmd2V359kkRD99gEPRKNgV0E+T/UqF4rxSoTjhu3LuyHoh/o21jcTYDSxXFGUq%0A+ry9A3wBXAaqAYeAZy3InR+IVFU10bC2RUnD9hj0K6NnZA/6zo8dhmmkSgBn0U9TZXYHdxyiVsOa%0AfLd3OY8eJTBz4Czja19sWUQP/14AfDZiHkNCBmPvYMehnX9waMcfAKycv5LRi0fRrF1TIq5HMLHX%0AZAAKuBVg0cb5OOZ1RNWptP70Pbo06IZL4YIMmTMYrVaDomjY9dsuDmw/mD5jZqBL1jF/9EKmfD8Z%0AjVbDllVbuXLuCp2CO3LuxHkOhB5g88rNDJ07hK/3LCPmXgxTAqcC+sUMd/+2my93fEFyko75oxag%0A0+n4+9hZ9mzcw8JN80lOTubCqYts/HETAKsW/sSwz4fy/qfvER/3iDmD51gk7idMEf+/8W3py6qF%0Aq0wd2nNzyGNPNZ+qzB32mXHb1H7T6D+lHx36fYSNjZbf1+3i0plL6fb9fOQ8BocM0teN3//k0O/6%0AutFtRFfKvPEaqqoSfj2CucM+N1s8L+PAjoPUaliTH/Z+S8KjBKYPnGl8bemWxXzq3xOAuSM+Z1jI%0AYOwc7Dm08xAHdxwCwLtpXfpP7EP+gvmZ+s1kLpy+yJCPh1kklqzQJeuYN3oB076fgkarYbOhHgQE%0Ad+LciXPsDz3AppWbGTZ3CN/s+ZqYezFMDpwC6OvBrt9289WOJSQnJfP5qPnodDrerPEGTdo05tKZ%0ASyzevBCAZdO/NpYNa2Duc3/+gs6MXzoWAK1Wy/ZffuePnS+1xla20CXrWDrmC8Z8Ow6NVsP2n7Zx%0A7fw12g38iIsnLvDHtkNsXxVK/zkDWbDrC2LvxRDSZ+Yzj1mgUEH6hgxAo9Gg0SiE/baXwzssH2ta%0AumQdS0YvZtx3E/Sxrwrl2rmrfDSwAxdOnudQ6CFCV20laG4wi3cvIeZeLLP6TAegYo2KtO7dhqTE%0AZFSdjsUjFxFz9wGFSxRm+BL99DJaGw27f9nF0V3WOS+6LlnH4tGLGW+If9uqUK6eu0qHgR04nyL+%0AgXOD+WL3EmLvxTIjRfxt0sT/5Cn1QfMGU8mrEs4FnPn64HJ+DPmB0FU5Z7HLjAweO40/jp7g3r0H%0ANHr3Y3p37Ujrd6xzvYesys3lX1/2FzHhu4lotBpCjWX/Y0PZP8jWVVsJnjuIJbu/JPZeDNP76B9I%0AeTvgbTxeLUL7/u1p3789AKM/HsX96PuWDOlfmarN65DHnqo+VXNMGw/M//3H2jy57o8yXPd3/LSN%0A6+ev0dZw3f/TcN3vN2cg8wzX/TmG636FWm/QbmAHkhKTUFWVJSMWEns/loLuLrTp25brF64xY4P+%0A+93mbzew3coWOn6Z2J/FPo89lX08+WLEQjNE8eIk/uxv8+ZUpjgP5CRqso4/Ry7H98ehKFoNl1bu%0A4sG5G1Qa3Jo7x//hxtYjeI7+CFsnB7yX9Acg7kYUezqHoNja0HitfvaexJh49vddJNNJif80JSvz%0AZpuToigjgQAgEriKfl2M34Cf0I+G2AB8rKrqq4qidAaqq6rax7CvK7AeyAv8CdQGmqmqellRlB+B%0AysAmYAHwm6qqbyqK4gAsAqqjH/ExUFXV3zM49m/ALFVVdz4r/y8yndR/hVbJKQN7hCnoyLVFnyQ1%0A2dJZsCgbRWvpLFiUtV1HzS2/9mUGPOZsyWru/pKQu6OH/x3JOTdKTaFN1X6WzoJFJefids/jXN7u%0Aye2cNXaWzoIQFpHb2z25/W5P68TMnovOHdrf/EHmP8pGB4u8b9UNyVo3/2eVn7e1jcRAVdXJwOQM%0AXkq5KvEoQ9rlwPIU+0YBXpkc96M0m940bH8EfJJB+rTHfvvfcy+EEEIIIYQQQgghhBBCiOyS2ztT%0AhRBCCCGEEEIIIYQQQghhpaxuJIYQQgghhBBCCCGEEEII8V9j1XNJWTEZiSGEEEIIIYQQQgghhBBC%0ACKsknRhCCCGEEEIIIYQQQgghhLBK0okhhBBCCCGEEEIIIYQQQgirJGtiCCGEEEIIIYQQQgghhBAm%0AplMVS2chR5KRGEIIIYQQQgghhBBCCCGEsErSiSGEEEIIIYQQQgghhBBCCKsk00kJIYQQQgghhBBC%0ACCGEECamynRSL0RGYgghhBBCCCGEEEIIIYQQwipJJ4YQQgghhBBCCCGEEEIIIaySTCclhBBCCCGE%0AEEIIIYQQQpiYztIZyKFkJIYQQgghhBBCCCGEEEIIIaySjMTIZo/UJEtnwWK0uXxhGjtN7q5Oqqpa%0AOgsWk1/jYOksWNR93SNLZ8GibBStpbNgUeceRVo6CxalknvPfSXsClo6CxbVpmo/S2fBotYc+dzS%0AWbAon8pdLJ0Fi4lJjrd0FixKl4vbvABxSbn78xcit1KU3H2/57xtXktnwaLaWzoDQiCdGEIIIYQQ%0ALyQ3d2AIIYQQQgghhHh+Krm7U/BFyXRSQgghhBBCCCGEEEIIIYSwStKJIYQQQgghhBBCCCGEEEII%0AqyTTSQkhhBBCCCGEEEIIIYQQJqaTWYlfiIzEEEIIIYQQQgghhBBCCCGEVZJODCGEEEIIIYQQQggh%0AhBBCWCWZTkoIIYQQQgghhBBCCCGEMDEdiqWzkCPJSAwhhBBCCCGEEEIIIYQQQlgl6cQQQgghhBBC%0ACCGEEEIIIYRVkk4MIYQQQgghhBBCCCGEEEJYJVkTQwghhBBCCCGEEEIIIYQwMVXWxHghMhJDCCGE%0AEEIIIYQQQgghhBBWSToxhBBCCCGEEEIIIYQQQghhlWQ6KSGEEEIIIYQQQgghhBDCxHSWzkAOJSMx%0AhBBCCCGEEEIIIYQQQghhlWQkhpUbMKEPXg1r8Sj+EZODZnDu1Pl0acpXKsvIOUOxd7Bn/46DzB0z%0AH4DAUT2o28SLxMeJ3LhyiykDpxP7IA6tjZbhswZR7s2yaG20bF6zle/mrzB3aFnSb0IgtRvWIiE+%0AgamZxF+uUllGzBmCnYM9B3Yc5PMxCwDwfbsenwwMoGTZEvRoEcjZE+eM+5SuUJpB04NwyuuIqtPR%0AvUVvHickmi2uzNTwrU7vcT3RaLVsWrGJlQt/SvW6rZ0tQ+cOpmylsjy4+4BJvacQcT0CgPaBbWna%0Arim65GQWjF3En7sO4+bhxtC5gyng+gqqCht+3MjaZb8A+vdgwNS+5HHKQ/i1CKb2m87D2Idmjzml%0AwAm9qdWwBgnxCcwImsX5UxfSpSlbqSxD5gzC3sGOgzv+YMGYhQDkeyUfoxeOpHDxwkRci2BCr0nE%0A3o+l0XsNadf7Q1AU4mMfMnf4PC6duUSx0sUYvWik8bgeJdxZPutb/vfVWrPFm5kq9avSbVx3NFoN%0AoSu38vPCNalet7GzIWjOQF6rVIaYuzHMDJxO5PVIyr5Vjt7T+gCgKAor5/zIgS37sbW3Zcrq6dja%0A2aK10bBvYxgrQn60RGhZ1ndCILUb1uRRfALTgmZkWBbKVSrLsDlDsHew48COQ8wz1P36LerReWAn%0ASpYtQa+3+xjrvvMrzoxfMobX3yrP5tVb+GzUfLPG9CzZXfdt7W2Zs2a2/jPXatm9cQ/fhnwHwPDP%0Ah1KuclmSkpI5e+wsc4Z9RnJSstljfpbhkwfi08iLR/EJjOw3kTMnz6ZLU7FyeSZ9PhoHB3v2bN/P%0A1JEhAMxaMolXXysBQD7nfMQ8iKFNo04UKe7Buj0ruHzxKgAnDp9iwpAZ5gsqi4ZPHki9RnWIj3/0%0AjNhfZ7Ih9t3b96WKvdRrJQHI55yXmAextG7UERsbLRNCRlKhcnm0Wi3rVm9i6effmDWurKjmW42e%0A43qi0WrYvGIzqxeuTvW6rZ0twXODjfVgau+pRF6PJN8r+Rj5xUjKvVWO0NWhLBq9CIA8TnmY+fNM%0A4/6uHq78/r/f+WL8F2aNK6uy+9wPsCTsK+Lj4tEl69AlJxP8dpDZ48puo6aEsDvsEAULvMIv3y+2%0AdHay1cCJffFqWJuE+EdMDJrG2ZMZtfvLMXruMEO7/wAho+cB0H1wF+r510WnqtyNusvEAdOIiojG%0AKZ8T4+ePpHCRQmhttPyweBUbVm02d2j/yhTnvhat/enS+2Pj/uUqluGDxp34+3T699XSRkwOpl7j%0AOjyKf8SIvhP4K5P4p34+Bvs89uzeto8pI2cD8PqbZRk3Yxh2DvYkJyUzYeh0Th79y7jfm54VWLHx%0AK4K7j2LrbzvMFtOLGj91GA2a+BAf/4jgwFGcOnEmXZrBI/vSul1L8ud3pkKJWsbtn/buRPuO75OU%0AlMydqDsM6juGG9dvmTP7Ly03x5+bYweJf9zUoTRorI9/UJ/Rmcb/ftt3yJ/fmYolaxu3f9qrI+2e%0AxB99l8E5JP6hk4LwbuTFo/hHjO4/ib9PnkuXpkLl8kz8bBT2Dvbs3b6f6aPmGF9r37UNbTu3RqdL%0AZve2fcyduJAixd1Zu3sFly9eAeDk4dNMGjoz3XGFyIly5UgMRVFaKooyzNL5+DdeDWtRrFRR2np3%0AZMbQEAZNHZBhukFTg5g+ZDZtvTtSrFRRajeoCcAfuw/TsWEXApp049qla3Ts8xEADd+uj62dLZ0a%0Af0qXpj1p9fE7uBcrbLa4sqp2w5oUK1WMj7w7MXNoCAOn9s8wXfDUAcwYEsJH3p0oVqoYtQzx//P3%0AZUZ1G8vxAydSpddqNYz+fDizh80hoGFX+n0QTFKi5W/gaTQa+k4KZESnUXRt2I0GrRpQomyJVGma%0AtfMn5l4sAT6f8PPS/9FtRFcASpQtgW9LXz5t1J3hHUfSb3IfNBoNycnJLJ64hK6NutO3VX9aBbxj%0APGbwzAEsnbaMbk16ErYljA97tjF7zCnVbFiDYqWK0sn7E0KGzqX/1H4ZphswtS8hQ+bQyfsTipUq%0ASs0GNQD9jdwjYUcJ8PmEI2FHaR/YFoBbV8MJajOIbo178P1nPzJwhr4eXb90nR7+vejh34tezQJJ%0AiE9g7+Yw8wT7DBqNhh6TejE+YCx9GvXGp2V9ipctnipNk7Z+xN6Po2e97qxb+isBwzsDcOXsFYLf%0AHkBQs36M7zSGXlMD0Wg1JCYkMrrdCAY07cuApv2oWr8a5aqUt0B0WVOrYU2KlSpKB+8AZg+dQ1Am%0AdT9oan9mDQmhg3dAqrLwz9nLjOk2jhMHT6ZK/zjhMctmLmfRROu6gWmKup+YkMigtkP0ZbxpL2r4%0AVqdCldcB2L52B5/4fkq3xj2wc7CjeftmZo/5WXwaeVGiVHGa1/6AcYOmMnrGkAzTjZ4xhHHBU2le%0A+wNKlCqOd0MvAAZ1H0WbRp1o06gToRt+Z9uGncZ9rl25YXzNGjswfBrVoWSp4jSr3YZxg6YxJpPY%0Ax8wYwtjgqTSr3YaSaWJv3agjrRt1TBW7f8tG2Nrb8Z5vBz70C+DDju9SpLiHucLKEo1GQ+CkQEZ3%0AGk2Phj3wbeWbrh74tfMj9l4sXX268svSX+gyogugr9vfzfqOpZOWpkofHxdPn6Z9jD+R1yMJs4Lz%0AfEZMce5/YlTbEQQ16/ef6MAAeLd5ExaHTLJ0NrKdV8NaFC9VjA/qdmDqkNkMmZrx5zVkWhBTB8/i%0Ag7odKF6qGF6Gdu/3i1byceOudGryKWHb9tMlKACANp3f5Z9zl+nY5FN6tx5AvzG9sbG1rufYTHXu%0A2/DzFuP2YX3Gcf3qTavswKjXqA4lSxenaa3WjA2eypgZQzNMN3bGUMYET6FprdaULF0cnyfxj+nL%0AgllLeb/hx8yb/gWDxvQ17qPRaAge3Zd9Ow+aJZaX1aCxD6++VpJ61VswLGg8k2ePyjDdti27aNm4%0Afbrtp0+coUXDdvj7tGbDulBGjB9o6ixnq9wcf266yBKdAAAgAElEQVSOHST+Bo29KVW6JPVrvM3w%0AgROYNCvz+Fs1+Sjd9tMn/+btRu1pWq8NG9eFMnyc9bd5vBt5UaJ0Md7x+pAJg6YzavrgDNONmj6Y%0A8cHTeMfrQ0qULkbdhvrOmxp1q+Lr78MHjTrxfv2P+XbR0weTr1+5QdvGnWnbuLN0YFgpFcWqf6xV%0AruzEUFV1naqq0yydj3/j7V+HzWtCATh95Az58ufFpVDBVGlcChXEKZ8jp4/oe6k3rwnFp2ldAA7t%0A/pPkZJ1x/0IebgCoKjg45kGr1WCfx57ExETiLPwEfka8/euyZc1WAP46coa8mcTvmM+Rvwzxb1mz%0A1Rj/lQtXuXbxerrj1qhfnYtnLnHxr0sAPLj7AJ3O8jPSlfcsz83LN7l1NZykxCR2rttJXT+vVGnq%0A+Hmx1VAmdm/YQ5W6ngDU9fNi57qdJD5OJPxaBDcv36S8Z3nuRN7hguEJ9vi4eK5euIaruysAxUoV%0A48QB/U3ew7uP4tPM21yhZqiuXx1jbGeO/E1eZycKpvm8CxYqiGNeJ84c+RuArWtCqetfBzC8N6v1%0A+29d/XT7X4f/IvZ+rP7/R87g5uGa7m9X8a7CzSu3iLwRaZrgnkNZz3KEX75FxNUIkhKT2LN+NzX9%0AaqdKU8uvNjvWbAcgbONeKtd9C4DHjxLQGeq8rb2dvrIbPHr4CACtjQ1aG22q16xNXb86bDGUhb+O%0AnCGvc94My4JT3pR1PxRvf33dv3rhKtcupa/7j+IfcfKPUzxOeGziCJ6PKeo+PP3MbWxssLHRoho+%0A80O//2E87tljZ3HNoE5YUoOm9Vi3eiMAJw6fJp9zXlwLuaRK41rIBae8Tpw4fBqAdas30rBZvXTH%0AatqyERvXhpo+09mkYdN6rFu9CdCPFMnnnO8ZsZ8CYN3qTTRqVj/dsfxbNmbDWv01VFXB0dEBrVaL%0AvYM9iYlJxMXEmTia51POsxw3L98k3FAPdq3bRe005z4vPy+2rdkGwJ4Ne/A01IOE+ARO/3H6mXW7%0AaKmivOL6CqcOnjJdEC/BVOf+/6LqnpXI75zP0tnIdvX867JxzRYATh/5K9N2r1M+J04f0T9lv3HN%0AFuo11bffUo6mdcjjYCwHqqri6OQI6EcnPbgXY3Wj70x17kup+Xt+bPrFOq8HDZvV49ef9Ne944dP%0A4Zw/H25p4ncr5ELefE4cN8T/608badRcH7+qQt58TgDkdc5LZHiUcb+PP/2Q0A07iI66a45QXppf%0A8wb8vHIdAEf/PIGzcz4KFU7fTjn65wkiI6LSbd+/9w8exT8ypvEoYn0P6j1Lbo4/N8cOEn+TZg34%0AedV6wBB//v9+/A38fVj/k35k5Mkjz/7Oc/KI/jvP+p8207Cp/jvPBwHvsWzedyQ+1s8ocieHnOeF%0AeBkW6cRQFKWToignFEU5rijKd4qivKMoykFFUY4qirJNUZTChnTjFEX5RlGUPYqiXFEU5X1FUWYo%0AinJSUZTNiqLYGtJdTrH9kKIoZQzbMztuZ0VR5hv+/5qiKAcM+05SFCXWsN1XUZSdiqKsURTlb0VR%0AflAUxazdUW7urkTefHpTNfLWbdzcXdOnuXXb+PvtDNIAtGjXjP2/HwLg9w27ePQwnl+PruF/h1aw%0AYvFPxNyLMVEUL87V3ZXIm6ljc00Tm6u7K7dTxR+VLk1axUsXQ0Vl1g/TWLp5Me17tc3ejL8gV3eX%0ANPFG4ZImFhd3V24b0uiSdcTFxOFcwBmXdO9VFK7uqS+AhYsVpswbr/H3UX0HwOVzV6jjr79RWu9t%0AH9yKuJkkrqxydXcxxgYZx+Dq7pLq845KkaaAawHuRN4B4E7kHQq4Fkj3N5q1a5rqBu4TDVrWZ8ev%0Av2dLHC/Lxd2FqBTvQ/StKFwKp34fCqZIoy8HD8lXwBnQ3wict20Bn2+dz6IRC403tjQaDXM2fc63%0AR7/n2N5jnDuWfqiqtXBLUc4h4/Oam7srt29FPTNNTmGquq/RaFi8eSFrjq3i8J6j/H0s9dQUWhst%0Ajd9vxB87/zRVaC+ksIcb4Sk6FCNuRVLYwy1dmogU54KIm+nTVKvtSfTtO1z955pxW9ESRVi97Ru+%0AXruQqrXeMlEEL66QhxvhNyKMv2ce+9P3J/xmpPEhhSfSxr51/XYePnzEzhMb2HZkHcsX/cD9ew9M%0AGMnzc01T76NuReGS5hqgPz/q670uWcfDmIc4G859/6Z+y/rsXr87+zKczUx17kdVGf/9BGZvmIvf%0AR/7mCUa8EDd3t1Tn88ibt3Fzd0uXJmU7KG2ankO78uufP+H/fhOWzFwGwJqv1/Jq2ZL8dvRnftjx%0ANXPGzDN2alsLU537UmraqjEbM+jcsAaF3QsRfvNp/PrYCqVKU8ijUKr4I25GUthdn2bqqBAGje3H%0AjqPrGTKuH3Mm66fXLOTuRuPmvqz4+mczRJE93D0KcetGuPH38JsRuKd5L7Kq7cfv8/u2vdmVNbPI%0AzfHn5thB4nf3KMTNNPEXfuH432PnduuPv5CHGxE3U177bqe7rhVKc+2LuPX02leydHGq1n6L7zd+%0AyVdrF/CGZwVjuqIlPFgVupyv1i6gihV+5xHiRZm9E0NRlDeAUUBDVVXfAvoDe4HaqqpWAVYCKccQ%0AvwY0BFoC3wO/q6paCYgHWqRId9+wfT4w17DtWcd94jPgM8O+aR/drQIMACoCpYG6mcTUXVGUPxVF%0A+TM87mYW3gXz6tSvA8lJyWz9n/7pxYqer6NL1tGq6ge0qd2B9j0+pEgJ65pWwpS0Wi2Va7zJxD5T%0ACHy3Pz7NvKnqXcXS2TIpB0cHxn4xmoXjFhuf1Js1KISWnd5h4Yb5ODrlISkxycK5zF5pv6B71nmL%0AZu2a8uXk1NON2NjaUMfPi92/We/Nredx7tg5+jYOZNA7QbQO/ABbe1sAdDodQc360bVWZ8q9VY4S%0A5UpaOKfC1HQ6HT2b9qZdzQ687lmeV8un/sz7T+7LiYOnOHXIOp9Mf1nN3/NLNQrjdkQUTaq24oPG%0AAcwc+xkzFk3AKa+jBXNoOvrYn96sq1TlDXTJyTR4qwX+Nd4joOdHFCtZxII5NL/6Leuz89f/s3ff%0A8TXdfxzHX+feLLFDSILYWnvPICEIarSoUXvX3ltQo1Yb2qr1K7VatGrUFmITtPamakWG3CSykdzz%0A++NekRu0VnJvms/z8eij3PO9x/d99j3f8/2eA+auRqp51bF/bOsxDP9oKFO7TKZpl2aUqlbazDUV%0AqWnx7GW0rNKW3Rt9adPjEwCqe1Tj+qWbNKvYmi4NezFyxhDsM8ix75mylUoTHxfPzau3zFCr1Ne+%0AW2tmTZpH/YrNmeU9n+nzDcOwjJs+nK+nLbC4Rqu08MmnzShXsRRLvvvR3FUxi4ycPyNnB8n/yacf%0AUbZCaZZ8t8LcVUl1VlZWZM+RjU5NezNv6gLmLp0GwMNgHV6VP6Fdw258NflbZi2c8p/9zZOe6S38%0AP0tljgFR6wO/qqoaCqCqapiiKGWB9YqiOAM2wN/Jyu9UVfWpoigXAC3w7E10F4BCycqtTfb/Z2+6%0Ayf8P832mJvCx8c8/A18lm3ZSVdX7AIqinDX+ey806aqquhRYCuCWr/47XSW26tqSFh0NbTNXzl4j%0Aj8vz1uc8zo48DDLtOvcwKNSktdYxRZmmbb1wa1CDwW1HJn3W8BNP/A+cIjEhkQhdBOdPXeTD8iV4%0AcNf8Lz76pGtLmnVsCsDVs9fI42KaLTRF/tCgUBxN8ud+oUxKIYGhnDtxgUfhhqdQ/f1OUKJMcU4f%0AOfO+YryV0CBdiry50aXIogsKxdHFsBw0Wg2Zs2YmMjwSXVDoC98NDdIBhqetpyz1Zt9mP5N3Ptz7%0A6x5jO44HDMNsVPesTlpr2bU5TT8zrO9r566Z9AZJnuGZ0CCdyfrOnaxMeGg4DnkcCAsJwyGPAxG6%0AiKRyRUoWZsScYYzrPIHIFL2OqtWryo0LNwkPjcAS6IJ05E62HHI550YXbLocwoxldEE643ZgT1S4%0A6VPV92/eJz4mjoIfFOTm+ecvxY6JjOHC8fNU8qjE3et3UjfMG/i4awuaGbeFq+eup9gWXn7sSz40%0A2MvKpBepte8/ExMZw9lj56jqUZXb1wzrvPPQjmTPlZ15Y79JxWSvr3331rTp1BKAi2ev4JTv+bkv%0Ar3Mek14XYHhSKflTunldTMtotVoafORB24Zdkz57+uQpj4zdrS+fv8a92wEUKurKpXNXUyXT6+rQ%0AvU2y7Jdxyve8+/ursz9fPk4ueUx6ZBqy1zPJ/lErL474+Rtf9hjOmVPnKV2+JPfvWM6DF6HGbfyZ%0A3M650aXYlg3Hx9xJ+4F9Vnsiw/+9R0nhkoXRWGm4eeHmv5Y1l9Q69ocZ5/FI9wj/3ccpUaEEl09e%0ASv1A4rW07vYxLTs2A+DK2asmx/M8Lo48DDLd/x8GPTS5DnpZGYDdm/bis3o2P3y1gmbtGrNqwc8A%0A3L8dwIO7gRQq5srls//9Y98zTT9uaHG9MD7r0YY2nQw/QS+euYxTsqFPDNlMhzgNCQwxyZ/XJQ/B%0AQYYyH7f7KOkl37t+38u0eYbr+zLlS/L1EsP7Y3LkykFdz1okJiayb+fB1Av2Frr0bE+HLq0BOH/m%0AIs75nJKmObnkJSjwzYZ7re1eg4EjetO2WXeeGM/7liwj58/I2UHyd+nZjvadn+W/hEuK/MFvmN/N%0AvToDh/embfMeFpu/XfdWtOrYAoBLZ6+S1yX5uc/R5LwGhtFYTI79zs/PfcEPQti3w3A8v3jmCnq9%0ASs5cOQjXRST95rly/hr37gRQsKgrl838m0eI98FS3onxHbDA2BuiL2CXbNpjAFVV9cBT9fmjJHpM%0AG2HUl/z5n+b7Oh4n+3MiadDos3HlFro16kO3Rn04tPsIjds0BKB0pZJER8agMw6X84wuJIyYqFhK%0AVzJ0HWvcpiFHdh8DoLpHVT7r144x3SbyOP55lOCAECq7GXoe2GWyo3Slkty5+WK3a3PYtHILPRv1%0ApWejvhzefRSvNo0AKFWpJDGvyB8bFUspY36vNo04svufX9p58uApinxYGFs7W7RaDRVqlOP2DfPf%0AzL127hr5CuXDqUBerKyt8GjhwTFff5Myx3z9aWTcJup+VIezR88lfe7RwgNrG2ucCuQlX6F8XDMO%0AHTNy7nDu3LjHb//baDKvHLmyA6AoCp0Gf8a2NdtSO+ILtqzcmvRy7aO7jiVlK1npQ2KiYpKGh3om%0ALCSM2OgYSlYyvKC4UZuGHN1j2N6P+frT6FPD9xt92pBje44Dhh/4U/43iZlD5nD/74AX6lC/ZT2L%0AGUoK4Ma56zgXdiGPcTuo07wuJ31NX8Z40vcE9dt4AuDWtDbnjxleXp+nQN6kl7k65nMkf7H8BN8L%0AIZtDNjJnM4yVbGNrQ/k6Fbn/kvfFmNPmlb/Ty+tzenl9zpFdR/EybgulKpV85bYQE51833++LaQ3%0AqbHvZ3fI/nyd29lQuW4l7hqP803aN6aKexVmDJxpMU9nrvvxt6QXbvvtPEiLTw0NWuUqlyY6KprQ%0AkBQNmiE6YqJjKFfZ8FR5i0+bsn/X895UNepW5daN2yY3wXLmyoFGY9g/8hd0wbVIfu5ZwE38tT9u%0ASHrx7L6dh2jxqeFF6+Uql/mX7GUAaPFpE/ySZa9Ztyp/37ht8sMvMCCI6rWrAJDJ3o7ylcrw903z%0An/eSu37uOi6FXMhr3A/cW7jjn2I/8Pf1p0GbBgDU+agO54z7wb/xaOnBwS2WddMupdQ49ttmsiVT%0A5kwA2GaypWKdity5ZlnrPaP7bcVmujTsRZeGvTi46whN2xiG/CpdqdQ/XPfHULpSKQCatvHikPG6%0At0DhfEnl6nq5cefmXcBw3V+1TmUAHHLnxLVoAQIs4MGltDj2geE616uFp8W9D+Pn5RtoVb8Trep3%0AYt/Og7Rsazjvla9chqjIaB6myP8wREd0VAzljflbtm2K305D/pCgh1StVQmAGnWqcueW4XzfsOrH%0ANKhi+G/PVj+mjpljcQ0YAKuWraOJ+6c0cf+U3dv9aN3ecIOvYpVyREVGv3T8+1cpXfZDZvpMoudn%0Ag9CFhv37FyxARs6fkbOD5F+1bD1NPdrS1KMte3b40bpdc+BZ/qg3z//1JHp2HGzR+df/uDHphdv7%0Adx2iedvGgKHHYHRUzCvPfWUrGX7zNG/bmP27DwOwf9chqroZjv0FixTA2tqKcF2EyW+efK4uFCxc%0AgPt3XrwPIkR6ZI6eGH7AJkVRfFRV1SmK4gBkB57tVS8+PvN62gGzjP8/bvzsdebrD7QG1gPt3/Lf%0AThXH952gZv3q/HJ0DfFx8Xw5fE7StBV7ltKtUR8Avh4/nwnzxmBrZ4v//pMc9zP86B0+fTDWttbM%0AXzcXMLwkcO7Y+WxcsZnx88awxm85KLBj/W7+umJ53av9jfnXHl3N47h4Zg6fmzRt2Z4l9GzUFwCf%0A8d8wbt5obO1sObH/JP5+hnd/1GnsxpDpg8jhkJ3Zq77k5qWbjOw4luhH0axfuoGlOxaiqir+fifx%0A33fipXVIS/pEPd95f8+sNV+i0WrYtX4Pd67foeuILlw/f53jvv7sXLeLsfNHs/Lwj0RFRDFjwJcA%0A3Ll+h4PbDrHMbymJCYl8O3EBer2eMlVL07BNA25ducXiXQsBWD77R07uP0W9lvVo2dVwoXBk51F2%0ArTfvE2on/E5SvX41Vh9ZQXz8Y+YOf94pasnuRfT16gfAN+O/Y7TPKGztbDh54BQn/QzvuFi3YB3e%0AiyfSpH1jgu8HM63fDAA6D+tEthzZGPLlIAASExLp/9FAwNCIV7luJeaNnY+l0CfqWeq9mCmrp6LR%0Aati33pd71+/y2fCO3Lxwg5O+J/Fdv4dh80ew+NBSoiKi+WrgbABKVS1F6/5tSHiaiKrXs3jCIqLC%0AIyn4YSGG+gxDo9WgaDQc3XaYP/a9+G4QS+Hvd4Lq9avx05FVPI5/zOxk+/4PuxfTy+tzAOaP/5ax%0APqOwsbPl5IGTnDDu+7UbuzFk2kCyO2Rn5soZ3Lz0F6M7jQVg3fE12Ge1x9ramtpeboz8bAx3btxN%0A+5DJpMa+75DHgTHzRiat84NbD3HCeJwbOnMwwQHBfLvZsN0f2XmUNd/8ZLb8KR3ae4w6nrXYeWID%0AcXHxeA+ZnjRtw75VtPHsAsD0MXOZ/q03dna2HN53nMP7jieVa/JxQ3ameKF35RoVGTi6NwkJCej1%0AKlNHzyHSwt4LcWjvUep61mLnid+Ij4tn4pBpSdN+27ea1p6dAZg2Zg4zvp2ErZ0tR/Yd5/C+5w14%0ATV7yxPHa5RuY/o03Ww6uRVEUNq3bxvXLltUrQZ+oZ5H3IqavmY5Wq2XP+j3cvX6XziM6c/38dU74%0AnmD3ut2Mmj+KZYeXERURxawBs5K+v+LYCuyz2huGCPSqxYSOE7hr3LfrNKvDpK6TzBXttaTGsT+v%0Aa17GLTUMK6O10nBo80HOHDxtzpjvxajJszh15jwREZF4ftyJ/j0707p5+n/fx7F9/tTyrM6GYz8R%0AH/eY6cNmJ01b5fsDXRr2AmDuuPl4zx+LrZ0Nx5Nd9/cf3wfXoq6oej1BAcHMHuMDwPL5q/CeP5Y1%0A+5ajKAoLZyzlUdijtA/4D1Lr2AdQpWZFgh6EWFTPs5QO7j1K3Qa12H1yI/Gx8YxPln+j3xpa1e8E%0AwNQxc5j57SRsM9lyeN8xDhnzTxrxJeOnD0drZcXj+MdMGjHTLDneBz/fw9RrWJfDf+4gLi6ekQMn%0AJk3befBXmrh/CsD4KcNo2eYjMtnbceLiXtat/o15sxcx4YsR2Ge2Z9GPhp4pD+4H0rPjYLNkeRsZ%0AOX9Gzg6S35C/Dof+2G7IP8g7adqOA7/Q1KMtAOMmD6Nlm6ZksrfD/4Iv61ZvZP6cRYz/Yjj2me1Z%0AuNxwD+HB/SB6dbLs/If3HqO2Z022+f9KfFw8k4bOSJq2fu8K2jXoBsCMsV8x7ZuJ2NrZctTvOEeM%0Av3k2rd3G1HkT+O3AGp4+eYr3YMNvpko1KjBgdC+ePk1A1atMHz3nhdEohPlZ8pBNlkwxx1OYiqJ0%0ABUZh6N1wBtiEYQiocAyNHFVVVfVQFGUKEK2q6lfG70WrqprF+OekaYqi3MbQCNEEQ++JDqqq3lQU%0ApeUr5tsNqKKq6kBFUYpjeNdGJgxDVXVUVTWfoigewEhVVZsZ/70FwB+qqq74p2zvOpxUeqYlTd97%0AbnFsNOZoE7QclvJEtzlk0diYuwpm9Ugfb+4qmJWVojV3Fcwq6Ill3QxLSyoZ97gH4GrjYO4qmJVN%0ABt/3N5z+1txVMKs65XqYuwpmE5UYZ+4qmJU+A1/zAsQkZOz1L0RGpSgZ+35PDuss5q6CWZ0LOpax%0AN4D3bEfe9hZ9MdE0eJ1Frm+z3HVVVXUlsDLFx1teUm5Kir9nedU0YK6qqmNSlN/yivmuAFYY/xqA%0A4eXfqqIo7YEPjGUOAAeSfWfgKwMJIYQQQgghhBBCCCGEEOK9y9iPjhtUBhYohmblCCDjPlYlhBBC%0ACCGEEEIIIYQQQliQ/0Qjhqqqhd7hu4eB8u+vNkIIIYQQQgghhBBCCCGEKTWDD8f/tjTmroAQQggh%0AhBBCCCGEEEIIIcTLSCOGEEIIIYQQQgghhBBCCCEs0n9iOCkhhBBCCCGEEEIIIYQQwpLpZTSptyI9%0AMYQQQgghhBBCCCGEEEIIYZGkEUMIIYQQQgghhBBCCCGEEBZJhpMSQgghhBBCCCGEEEIIIVKZHhlP%0A6m1ITwwhhBBCCCGEEEIIIYQQQlgkacQQQgghhBBCCCGEEEIIIYRFkuGkhBBCCCGEEEIIIYQQQohU%0Appq7AumU9MQQQgghhBBCCCGEEEIIIYRFkkYMIYQQQgghhBBCCCGEEEJYJBlO6j3La5XF3FUQZhKn%0Af2ruKpiVolHMXQWzufsk3NxVMKtc1hn7uKeqGbszaOVM+cxdBbPKyE+D3E2IMncVzEqrZOS1D3XK%0A9TB3Fczq8Pnl5q6C2VyqPNTcVTArp4KR5q6CWW2/VcLcVTCrLIkZ+7ovI0tQMu7vXQBNBh8A54FV%0Axl7/4v3Sm7sC6VTG/vUlhBBCCPGW5CJKCCGEEEIIIYRIffL7WwghhBBCCCGEEEIIIYQQFkmGkxJC%0ACCGEEEIIIYQQQgghUpk+gw9P97akJ4YQQgghhBBCCCGEEEIIISySNGIIIYQQQgghhBBCCCGEEMIi%0ASSOGEEIIIYQQQgghhBBCCCEskrwTQwghhBBCCCGEEEIIIYRIZaq5K5BOSU8MIYQQQgghhBBCCCGE%0AEEJYJGnEEEIIIYQQQgghhBBCCCGERZLhpIQQQgghhBBCCCGEEEKIVKY3dwXSKemJIYQQQgghhBBC%0ACCGEEEIIiySNGEIIIYQQQgghhBBCCCGEsEgynJQQQgghhBBCCCGEEEIIkcr0irlrkD5JTwwhhBBC%0ACCGEEEIIIYQQQlgkacQQQgghhBBCCCGEEEIIIYRFkuGkLFhF90r0mNwLjVbL3nV72LToN5PpVjZW%0ADPEZRpGyxYgKj+TrgXN5eD8kaXpul9x8s/d7fpm/li1LNyd9rtFomLPNh7AgHV/2mJZmed7U+85v%0AbWvN9F9mYm1jjcZKy/EdR1k/b21ax3ptlT0q8/mUz9FoNexau4tfF/5qMt3axpoR80dQvGxxIsMj%0Amdl/JiH3Q8iaIysTlkygRPkS+P7qyyLvRUnfmf3LbBzyOPA4/jEAEzpO4JHuUZrmeh2V3SvTd0pf%0ANFoNu9ftfiG7lY0VI+eNpFjZYkSFRzFzgCF7xToV6Ta2G9bW1jx9+pTlM5Zz7tg5bO1sGbdoHM4F%0AndHr9ZzYe4IVs1aYJ9xrGj19KG6eNYmPi2fykBlcvXD9hTIly33AF99MwNbOlqP7jjNn4nwA+o7s%0AQauOLQjXRQCwYOYSjuw7jpWVlkk+4/iwbAm0Wi3bf93F8u9Wp2muV6nqUYX+Uz5Ho9Wyc+1O1i38%0AxWS6tY01Y+aPStrep/f/kuD7wQB0GNCOxu0bo09M5PvJi/jj4J84OjsyZv4ocubOgarC9p93sGn5%0AZpN5tunTms+9+9Cq3KdEhkemWdZXGTC1P9XrV+Vx3GPmDPuKGxdvvlCmeNnijJ43Els7G074neL7%0ASQsByJojK94LJ5C3QF6C7wUztd90oh9FU6tRTbqP6oper5KYkMjCKYu4eOoSAHlcHBkxdziOLo6g%0AqozrMjFpmZpTWfcKdJzUA41Ww8H1+9i+aJPJdCsbK/r4DKZQmSJER0SxcKAPofcforXS0mN2PwqW%0ALoLWSsvRjQfYtvD5dxWNhi+2ziY8KIx5PWemdaw3Vsa9Ap8Zl8Oh9fvY8ZLl0NtnMAWNy2HRQB90%0A9x+itbai65d9KVy2KHpV5ecvlnPN/5KZUrye1Nj2CxQtwGifERQrU4zlc1bw65INAOQvkh/vRROS%0A5uvs6sSKr1axcdmmF/7NtFbJvTJ9pvRBo9WwZ90eNrzk3Dd83oikc9/sAbMIuR9ChToV6Da2O1bW%0AViQ8TWD5jGWcP3be5Lveyybh5JqXAQ0HpGWkNzZ82iBq1q/B47h4pg2bxbULN14o80HZEnjPH4ut%0AnS3H/fzx8f4OgD6jelDXyw29qhIeGs60obMIDdaROWtmvlgwgbwuedBaaflp8Xq2r9+V1tHem4lf%0A+nDo6EkccuZg85rF5q7Oe5fVvRL5JvdC0WrRrdtDSIrr/2eyN6lJ4cXjuNZsOHEXbqLNkZVCi8dg%0AX644YRv8CJi0JI1r/n7YVKtGtsEDQaMlbvt2Yn762WR6psaNydr/cxIfhgIQu3ETcdu3A5Bz7hys%0AS5XiyYULRIwdl+Z1fx/yeZSjxhed0Wg1XFt7gPPfbzWZXqZ3E0p08EBNTCReF8XhEUuJDtABkNkl%0AF3Xm9iKziwOqCnu6zCX6fqg5Yrw1p3rlqDi1M4pWw62fD3B1gWn+En2bUOSzeqgJiTzWRXJy+P+I%0ANWYsN6E9Lg0qAHBp3mbu/e6f1tV/Jxk5O0AhvJkAACAASURBVICzRzmqTOuMotFwc+0BLqfI/2Gf%0AJhT7zAN9QiKPdVH4D19KjHHbrzixPS6eFVA0CoGHLvKnt2X8vnsTzh7lqGTM/9faA1xJkf+DPk0o%0Aalz/8bpITgz/H7EBhvVfYWIHXDwrgEYh6NBFTnuvMkeEd1LIvRz1phi2/4vrDnByoWn+yr2aULaD%0AYf3HhkWxe+RSogJ0OJZypcGM7thkzYSaqOfEgi1c23rCTCnEm9Aj40m9jQzRE0NRFA9FUbaZux5v%0AQqPR0HtaX6Z3/YIhDQZQp0Vd8hcvYFKmQbuGRD+KZoB7X7Yu+50uY7uaTO/u3ZMzB06/MO+PejTn%0A/s17qVr/d5Ua+Z8+fsrkDhMZ3mQII5oMoaJ7JUpU/CBN8rwpjUbDgOkD8O7iTd/6ffFo6YFrcVeT%0AMo3aNyI6IpqedXqy+YfN9BjfA4Anj5+w+qvV/DD9h5fOe87gOQxsPJCBjQdaZAOGRqOh//T+TOo6%0Aic89P8e9hTsFUqx7r3ZeRD+KplfdXmz6YRM9xhmyPwp7xBc9vqB/o/74DPNhxPwRSd/ZuHQjfev3%0AZVCTQZSqUooqHlXSNNebqO1ZE9ci+WlZsx3TR85h/OyRLy03fvZIpo2YTcua7XAtkh+3+jWSpq1Z%0Aup72DbrRvkE3juw7DkCD5vWxsbGmbb0udPTqQesuLXEu4JQmmf6JRqNh0PQBjO8ykZ71e1OvZb0X%0Atvcm7b2Iioima53u/PbDRnqP7wmAa3FXPFp40MuzD+M6T2DwjIFoNBoSExNZPG0pPT37MKjlEFp2%0AbW4yT0dnR6rUrWQRN+0BqtWvSv7C+ehSuzs+Y+YzZObgl5YbOnMQPqPn0aV2d/IXzke1elUBQ0PO%0A6aNn6FqnO6ePnqHDgHYAnD5yht4NP6evVz++Gvk1I+YOT5rXmG9G88viX+lRrxf9mw0iIjQi9YP+%0AC0WjocvU3nzdbQbjGg6lRovauBTLb1KmbltPYh5FM9pjILuXbaPt2M4AVG1aEysbayY2Hs7kZqPw%0A+KwRufM7Jn2vUfePeHAzIE3zvC1Fo6Hz1N7M6zaDCQ2HUv0ly6GOcTmM9RjInmTLwb19AwC8Gw/n%0Aq05f0H5CVxTFci+SU2vbj4qIYsGkhUmNF8/cv3Wfvl796OvVj35NBvA47jFHdh1N3ZCvQaPR0G96%0APyZ3nUx/z364t6j7wrmvUTsvYh5F06dub7b8sJlu47oDEBkWydQeXzCw0QDmpTj3AdRsXIu4mLg0%0Ay/K2atavToHC+fnUrSMzR3/N6JnDXlpu9KxhzBz1FZ+6daRA4fzUrFcNgDWL1tGpQU+6NOzF0b3H%0A6THMcF3YptvH/H39Np0b9qJ/66EMntQfK+v0+xzXx00bsthnurmrkTo0GvJP68utrl9wtcEAcrao%0Ai22K/QBAkzkTjt1bEHP6WtJn6uMnBH31Ew9m/JiWNX6/NBqyDRtC+KgxhHbpip1nfbQFC75QLM5v%0AP7qevdD17JXUgAEQs3Ydj2bMSMsav1eKRqHW9K7s6TyH3+qNpkjLGuQo7mJSRnfpNluaerOp4Xj+%0A3n6SqhM6JE1z/+Zzzi/ezm/1xvB7s0nEhZr/AZU3oWgUKn/ZjUMd57DLfTQFP65JthL5TMpEXLiD%0Ab+OJ7PYcx71tJyk/0ZDf2bMCOcsWYneD8fg2ncyH/ZpilSWTOWK8lYycHQz5q37Zlf0d57DNYzSF%0AWtYgW4ptP/zibXY28WZHg/Hc3X6Sit6G/LmrFMexagl2eI5je72x5CpfhDw1S5ojxlt7tv4PdJzD%0ADo/RFGxZk2zFTdd/+MU77G4ykZ0NxnFv+0kqJMufu2oJdnqOZWe9Mek2v+f0rmzsOocVnqP5oEUN%0AHFKs/5BLt1nzkTervMZzY/tJ3Mcb8ifEPWHnsMWsbDCW37rMwWNyZ2yz2ZsjhhBpIkM0YqRHxSoU%0AJ/B2IMH3gkl4msCRrYep1rC6SZmqDauz/zc/AI7vOEpZt/JJ06o1qk7wvWDuXb9r8p1cTrmoXL8K%0Ae9f5pn6Id5Ba+eNj4wHQWmmxsrZCVdVUTvJ2SlQowYPbDwi6G0TC0wQO/n6QGo1qmJSp2agmezfs%0ABeDw9sNUcDM8ffI47jGXTl3iyeMnaV7v9yFl9kNbD1GzUU2TMjUa1UjKfmTHEcob1/2tS7cICw4D%0A4M71O9ja2WJlY8Xj+MecP254KjXhaQJ/XfyLXM650jDVm3H3qs22XwxPiV44fYms2bKSO49pfXPn%0AyUXmLJm5cNrwhPW2X3bh0bjOP89YVbGzt0Or1WJrZ8vTJ0+JiYpJlQxv4oMKH/Dg9gMCjev8wO8H%0AcEuxzms1qsmeDYbj1qHth6lo3N7dGtXkwO8HePrkKUH3gnlw+wEfVPiAsJAwbhqf5o6LiePuzXvk%0AdsqdNL9+k/uydMYyizkGuDWqlZTvyumrZMmWGYc8DiZlHPI4YJ8lM1dOXwVgzwZf3LxqAcbl86vh%0A+3t+ff75s2MegF0mu6S8BYu7otVq+fPw6aRyz3pomVORCsUIvhPEw3vBJD5N4MTWI1RqVNWkTKVG%0A1Tjy2wEATu04TqlaZZOm2WayQ6PVYG1nQ+KTBOKiDDduczo5UL5+JQ6u25tmWd5FkQrFCEm2HE5u%0APULFlyyHo8bl8MeO45Q0LgeX4vm5cuwiAFG6SGIjYyhUrmia1v9NpNa2H6GL4Nq56yQkJL7y365Y%0AuyIP7gQSEhDyyjJppUSFEgTefkBwsnNfyvN+jUbV2bdhH/DP5z4b47kPwM7ejo97f8z679alYZq3%0AU9fLjR0bdgNw6fRlsmTPQq4U20KuPA5kzpqZS6cvA7Bjw27qNq4NQGx0bFI5u0x2YDzeqaqKfWbD%0AD/pMmTMRGRFF4j9sF5auSoWyZM+W1dzVSBX2FYrz+HYgT+4Foz5NIHzrYbKnuP4HcB7RkZDFv6Em%0Au9bVxz0m5o8rJp+lN9YlPyQxIIDEwEBISCB+nx92td1e+/tPTp9GjbX8BstXcaxQlMjbwUTdfYj+%0AaSK3tvjj2qiySZnAY1dIjDes44enb5LZ2XCMyFHcBUWr4cFhw/kvIfZxUrn0wqFiUaJuBxNjzH93%0Aiz/5vEzzhxy7TGKcIZfu9E3sjfmzlcjHwxNXURP1JMY9JuLyPZzrlUvzDG8rI2cHyGXMH23Mf2eL%0APwVS5A8+diUpf2iy/KgqGltrNDZWhv9ba4l/aHkPKv4Th4pFiU6x/vO/5vpXVRVtsvxKOszvVKEo%0AEbeDeWTMf22rP8VSHPvuHb9CgvGYFnjmJlmM+cP/DiLituGhvJjgCGJDH5HJ4b95jSAE/AcaMRRF%0AKaQoylVFUX5SFOWKoigbFEWxVxSlsfHz00CrZOWrKYpyXFGUM4qiHFMU5QPj54cURamQrNwRRVHK%0AK4ririjKWeN/ZxRFSZMjQi6nXOgCn3d/1QWG4uCU68UyDwxl9Il6YqNiyJozK3b2dnzSrzW/zH/x%0AB2uPyb1Y9eUKVL0+dQO8o9TKr9Fo+HrHfH48vZpzh89y4+yLQ/RYgtxOuXn44GHS30MDQ8n1kvyh%0AJvljyZYz27/Oe9jXw1iwawEdhnT417LmkDwXGLPnfTH7s+XzquxuTd24efEmCU8STD7PnC0z1RpU%0A49zRc6mU4N3lcXYk6MHzm2rBgSHkcXZ8oUxIYPIyD03KtO/RmvV+K5k8bxxZsxsOW3u37Sc+Nh7f%0A81vY+edGVi1aS2REVCqn+Xe5nXIRkmx7fxgYSq5kDQ4AuZLtE/pEPTFRMWTLmY1cTrlf+G7uFPtK%0A3vx5KVa6KFfPGG6A1mpUk9CgUG5duZVakd5Y7mTbNLw8R26nXDwMND0uPCuTM3dOwkIMNzHDQsLI%0AmTtnUjm3xm78eGAZM1ZN46sRXwOGIXViIqOZ8r9JLN61kD4Te6PRmP+SIGdeB8KS7f9hgWHkTLH/%0AJy+jT9QTFxVLlpxZObXjOI/j4vnm5A/MO7aEnf/7nZhH0QB0nNSDX2autphGq3/zOsshxyuWw70r%0Ad6jYoAoarYbc+fNQqGxRHJxN9ydLkprb/r+p18Idvy3736X6743hvPZ+zn1/Xfwr6dzXaWRnNi/d%0AxOM48zdS/htHJ0eT43nIg4c4Ojm+UCb5tpCyzOdjerLlj1/watWQpXOXA7Dhx00UKl6QbWd+4ye/%0AH5k36bt0cyzIaKydcvE02fX/08BQrFMcDzKVKYK1S24i/f5I6+qlOk1uRxJDnm/fiQ8fonF0fKGc%0AnXtdcv24jBxTv0CT58Xp6ZW9c05iAsOS/h4bFEZm51cf00t0cOf+fsP1fPYizjyJjMXzf0P4eNd0%0Aqk7sgKKx3F6IL5PJyYE44/BAALGBYWRyenX+Ih08CDTmj7h8F2eP8mgz2WDjkIU8bqWwd7HcB7ZS%0AysjZATI55ST2QbJtPzCMTP+w7Rft4M4DP0P+0D9vEnzsMq3OLKDVmQUEHrhA5M0HqV7n98neyYHY%0ABynW/z/kL9LBg0Bjfp0x/8dnvufjM98TdOB8usufxSknUcnWf1RgGFnyvjp/mXbu/L3/xXsZTuWL%0AoLW2IuKO+R/OEf9OtfD/LJX571i8Hx8AC1VVLQlEAsOB/wHNgcpA8vFSrgJ1VFWtCEwCvjR+vgzo%0ABqAoSgnATlXVc8BIYICqqhWAOsALj7coitJHUZQ/FEX54+/oO6kQ7820G9aBrT9sMXkCF6By/So8%0A0j3i1sW/zFSztPGq/AB6vZ4RTYfSu0YPilUojmsJ15fM4b9rzuA59G/Yn1GtR1GmWhk8W3uau0qp%0AwrWEKz3G9eC7cd+ZfK7Rahjz3Rh+//F3gu4Gmal2qe/XFZtoXr0t7T27ERqsY/iUgQCUrliKxEQ9%0Ajcq35KNqbej8eQfyubr888zSOTt7OyYv8WbhlMXERsdia2dLh4HtWfl1+hsr9U0kv0F3dNdRunv0%0AZFLPL+g2yjC8itZKS5lqZVkybSn9PxqIs6sTXm0bmau670WR8sXQJ+oZWr03I+r0o3Gv5jgWyEv5%0A+pWJ1D3i9kXLabRKTYd/2UdYkI7JW+fw2eTu3PzzGnoLf3DhfXrdm9NW1lbUalSTQ9sOpXKN0o5r%0ACVe6jevOAuO5r3CpIjgXdOb47uNmrlnaWTx7GS2rtGX3Rl/a9PgEgOoe1bh+6SbNKramS8NejJwx%0ABPssMtRCuqQo5JvYkwfTl5u7JmYTf+wYD9u2R9e9J4//+IPs49Pnuy/eVdFWbuQuV4Tziw3DaSlW%0AGpyqfcDJaT+z5aNJZHV1pHjbumauZeop2NoNh/JFuLrQMGJ28MELPPA7i+fvU6i5cCC6P29Y/EOL%0AbysjZwco1MqNXOWKcHmRYdvPUigv2YvlY1PlwWyqNIi8bqVwrGaZQ2a/D4VaueFQrghXFhnWf5ZC%0AeclWzIUtlQexpdJA8rqV/k/nL/mJG3nLFeGPJdtNPs+cJwdN5vdj98ilST1RhfgvSr8Dwpq6p6rq%0AswGN1wCDgb9VVb0BoCjKGqCPcXp2YKWiKMUxNDBZGz//FfBWFGUU0ANYYfz8KOCjKMpPwEZVVe+n%0A/MdVVV0KLAVoVbDFezli6IJ05Er25GQu59yEBeleLOOSG12QDo1Wg33WzESFR1G8QglqNqlFl3Hd%0AyJwtM3pV5cnjpzjkzUXVBtWo5FEZa1sb7LPaM2T+cL4Z6vM+qvxepUb+nSufH+hjI2O4eOwCFT0q%0AcTfFkFOWIDQo1PCyXaPczoacyemCdOR2yU1oUKgxv/2/vpz42TziYuLYv3k/JSqUYN9v+95/gHfw%0ALNczuZ1zowt+Mbuji2Oydf88ey6nXHgv9ebrYV8TdMe0oWLwrMEE3A5gy7ItqR/kDbXt3opWHVsA%0AcOnsFZxc8iRNy+uch5BkT54ChAQ+JI9z8jKOSWXCQsOTPt/40+98u3ouAE1aNeTYfn8SEhIJD43g%0A7KnzlKrwIQF3zfu0SmiQjjzJtndH59zogkxfxKgz7hPPtvfMWTMTGR6JLij0he+GGrdzrZWWKUu9%0A2bfZL2nMe5dCzjgVcGLJ7kXG8o4s3vk9A5oPJvxhOGmpZdfmNP2sKQDXzl0z2eeT53gmNEiHo7Pp%0AceFZmfDQcBzyOBAWEoZDHgcidC++3+LCiQs4uzqTLWc2HgY+5K/LfxFobMw7uvsYpSqWZOd7T/lm%0AwoPDcEi2/zs4OxCeYv9/ViY8KAyNVkOmrPZEh0dRo2UdLhw8S2JCIlG6SG78eZXC5YpSsHRhKjao%0ASrl6lbC2tSZTFnv6zhvMkmHfpnW81/Y6yyHiFcsBYN20FUnlJvw2g+BblvVEWlpv+y9TrV5Vbly4%0ASbgFvAsGnp3X3u3cN2HpRHySnfs+rPQhxcoVY9nR5WittGTPlZ2Z62cyrp3l3PRs3e1jWnZsBsCV%0As1dNjud5XBx5GGR67nsY9NBkW3hZGYDdm/bis3o2P3y1gmbtGrNqgeHlyPdvB/DgbiCFirly+ezV%0A1Igk3sHTIB3Wya7/rZ1z8zTZ8UCTJRN2HxSk2DrDex+sHHNSZNkEbvWcQdyFm2le3/dNH/oQbbKe%0AFVpHR/QPTbdvNfL5tX7ctu1k/bxvmtUvtcUGhicNDwWGp7NjAl+8NnOpXZoKg1qwvc0M9MZeZzGB%0AYegu3yHqrmF53d39J44ViwEH06Tu70NcUBiZ8j3vQWDv7EBc0Iv589YpTakhLfH7ZHpSfoAr32zh%0AyjeG3zg1vh9A1F+BqV/p9yQjZweICwrH3iXZtu/sQNxLtn2nOqUpM6QFvq2eb/sFmlQh9PRNEmIN%0APS4f7D+HY5ViPDx57YXvW6rYoDCT3jOvyv9s/e9r9Xz9529SBV2K/LmrFE9X+aODwsmabP1ndXYg%0AOvjF/K61S1N9YAvWt51BYrLt3yZLJj75cSRH5v5C4Jn/9gPLQvxXemKkbDjI/g9lpwH7VVUtg6Gn%0Ahh2AqqqxgC/QEmgL/GT8fBbQC8gEHFUU5cP3W/WXu3nuBs6FXchTIC9W1lbUbl6HU74nTMqc2nuS%0Aeq3rA1CzqRsXjhnG/J/46Tg+r92bz2v3ZtvyrWz8/ld2rtzOT3NW0btGDz6v3RufQXO5cOy8RTZg%0AQOrkz+aQDftsmQGwsbWhfJ0K3L/5QpuURbh+7jouhVzIa8zv3sIdf19/kzL+vv40aGN4gWudj+r8%0A6/BIGq0madgJrZWW6p7VuXPN/D2HUrp+7jouhZ9nr9u87gvZT/ieSMpeu2ltzhvXfeZsmflixRf8%0AOOtHLv9x2eQ7XUZ2IXPWzCydsjRtgryhX37cmPQi7v27DtGsbWMAylYqTXRUNKEhKW7qheiIiY6h%0AbKXSADRr25iDu48AmLw/o34Td/66angCPSggmKq1DeNr2tnbUa5yaW7fMP82cO3cNfIVyoeTcZ17%0AtPDgWIp1fszXn0ZtGgJQ96M6nDVu78d8/fFo4YG1jTVOBfKSr1A+rp01XLSOnDucOzfu8dv/NibN%0A5++rt/m0Yjs61epKp1pdeRj4kM+bDEjzBgyALSu3Jr1g+OiuY0n5Slb6kJiomKQhcp4JCwkjNjqG%0AkpUMp6FGbRpydM8xwLh8PjV8v9GnDTm2x/DktUuh5z1tipcpho2tNZHhkVw7e50s2TKT3cFwuqxY%0AqwJ3LGBb+PvcTfIWciZ3/jxora2o3rw2Z3xNhww543uK2q09AMPLvJ+9/0H3IJRStcoAYJPJlqIV%0ASxD4VwC/zvmJYTX7MLJ2PxYNmseVYxcsugEDDMshT7LlUO0Vy8HNuByqJFsONnY22GSyBaBU7XIk%0AJuh5YGHnurTY9v9N/Zb1LGYoKXh27stncu47keK654TvCTzbGHpQpjz3TVkxhRWzVnDljytJ5Xeu%0A2UHXql3o6daD0a1H8eDvAItqwAD4bcVmujTsRZeGvTi46whN23gBULpSKaIjY9Cl2BZ0IWHERMVQ%0AulIpAJq28eLQbkMjdYHCz18CWtfLjTs3DQ+pBAeEULWO4dznkDsnrkULEHA3fd3gyihiz93AtrAL%0ANgXyolhbkbN5HSKT7Qf6qFguVuzE5dq9uVy7N7Fnrv1nGjAAnl69hjZ/frTOTmBlhZ1nfR4fPWZS%0ARpPr+Y0uW7daJNyxvIex3tbDc7fIVtiJLAUc0VhrKdKyBnd9T5uUyVW6IG6zeuDbw4d43fMGndCz%0At7DJZo+dcSx451qlibgRkKb1f1dhZ2+RtbATmY35XVvWIGD3nyZlcpQpSJU5PTnc9WseJ8uvaBRs%0AcmYBIHvJAuQoVYCggxfStP7vIiNnB9ClyF+wZQ3u7zHd9nOWKUi12T042M3HJH9sQCh5an6IotWg%0AWGnJW6Mkj25Y1sMr/+Zl6//+HtP1n7NMQarO7smhbl+nyK8jT82SSfnz1PiQR+ls3w86d4schZ3I%0AZsz/QfMa/JXi2JendEEazuzB5p4+xCXLr7HW0uJ/Q7m88TA3dpxK66oLkeb+Kz0xXBVFqamq6nHg%0AM2Av0FdRlKKqqv4FJB/8Pzvw7KjWLcV8fgC2AodVVQ0HMM7jAnBBUZSqwIcYhqRKVfpEPT9MWsKk%0AVVPQaDXs+2Uv927co/3wz/jr/E1O7T3JvvW+DJk3nO8PLiE6IgqfgXNTu1ppJjXy58zjwCCfoWg0%0AGjQahaPbjvCnhY6nq0/Us8h7EdPXTEer1bJn/R7uXr9L5xGduX7+Oid8T7B73W5GzR/FssPLiIqI%0AYtaAWUnfX3FsBfZZ7Q3DZXjVYkLHCQTfD2b6mulYWVuh0Wg4c+QMu37eZcaUL5eUffV0NFpNUvZO%0Awztx48INQ/b1uxk5fyQ/HPqBqIgoZg+cDUDzrs1xKeRChyEdkt75MbHTRKysrWg/uD13b9zl2x2G%0Am5fbVm5j97rdZsv5T47sPU5tz5r87v8L8XHxTBn6ZdK0dXtX0L5BNwBmjv2aL76ZgK2dLUf9/Dmy%0Az3Dzboh3fz4oUxxVVQm8F8T0UXMAWL98I198M54NB9egKLBl3Q5uXDH/0xr6RD3feX/PrDVfotFq%0A2LV+D3eu36HriC5cP3+d477+7Fy3i7HzR7Py8I9ERUQxY4Bhmdy5foeD2w6xzG8piQmJfDtxAXq9%0AnjJVS9OwTQNuXbnF4l0LAVg++0dO7rfMi7sTfiepXr8aq4+sID7+MXOHf5U0bcnuRfT16gfAN+O/%0AY7TPKGztbDh54BQn/Qx51i1Yh/fiiTRp35jg+8FM62d4SrVu09o0bN2AhIREnsQ/Tvpcr9ezZNr/%0A+Gr9bFAUbpy/wfafzd0Pw7AtrJ70A6NWeaPRajj0ix8BN+7xybD23L5wkzN7/+DQL/vo4zOYOQcW%0AEBMRzcJB8wDYt2oXveYO4Ms980GBw7/u595V8zfMvA19op6fJv3ACONyOPyLHw9u3ONj43I4m2w5%0AzDIuh8XG5ZA1d3ZGrPRGVVXCg8L433DLbrBJrW0/p2NOFu1YgH0We1S9Suten9CjXm9io2Oxy2RH%0A5bqVmDd2ftoHfgV9op7F3ouYunoaGq0G3/W+3L1+l47Gc99J3xPsWb+HEfNHsvTQ/4iOiGL2QMOx%0AvVnXZjinOPd5d5rII136erHlsX3+1PKszoZjPxEf95jpw2YnTVvl+wNdGvYCYO64+XjPH4utnQ3H%0A95/kuJ/hJnf/8X1wLeqKqtcTFBDM7DGGB3WWz1+F9/yxrNm3HEVRWDhjKY/C0teySW7U5FmcOnOe%0AiIhIPD/uRP+enWnd3Mvc1Xo/EvXcn7SEIqumoGg1hP2yl/gb93Aa/hmx528SuffkP3691JH/oclq%0Aj2JtRfZG1fmr82Qe37iXRpV/DxITiZz/DTm/mgsaDXE7dpJw+zZZenTn6bVrPD56DPvWrbF1qwWJ%0Aiegjo3g08/n1v8N332JV0BUlUyYcN/zKo9lzeHLKMq97XkZN1HPceyWNfxqNotFwff1BIq4HUGlk%0Aa0LP/c1d39NUndgB68x21F88GIDoAB17e/ig6lVOTltLk/XjQFEIPf831362nIbq16Em6jk9fgXu%0Aa8egaDXcWneQyOsBlBnVmrBzf/Ngz2nKe3+GVWY7ai0dAhhuYB/p5oNibUX9zZMASIiKw3/gItTE%0A9DOkUkbODob8f0xYSf2fR6NoNfy17iCPrgdQblRrdOf+JmDPaSp6d8Aqsx21lxq2/dgAHQe7+XB3%0A20nyupXmI7+ZoMKD/ecJ8D1j5kRvxpB/BR4/m67/ssb1H7DnNBW8P8M6sx21jes/JiCUw918uLft%0ABHndStHEbxaoELj/HA/SYX4/75W0Xj0ajVbDxfUH0V0PoNbw1gRf+Ju/fE9Td0IHrO3taL7IsP6j%0AHujY3NOHD5rVIH+1D8iUIwul2xiG0Ns1YgkPL/93Grj/q/Tp67VNFkNJ7y+2UxSlELAL+APD+y8u%0AA52BusB8IBY4DBRVVbWZoig1gZVADLAd6KSqaqFk87sKDFVVdZfx798B9QA9cAnopqrqK9+O+L6G%0AkxLpT5z+qbmrYFaKknGPwoFP0u/NkPchl3UWc1fBrNL7efRd5bfKau4qmM1/pTvr27qbEGXuKphV%0AJo31vxf6DwtNiDF3Fczq8PmM+16GS5WHmrsKZuVU8J+Hb/2v234rv7mrYFZZEjP2dV9GlpCBf+8C%0AaCz6db+p74FVxl7/I+6uydgL4D1bla+TRe9QXQIsc33/V3piJKiq2inFZ7sw9JowYeytUSLZRxOf%0A/UFRFBcM9yT2JCs/6P1WVQghhBBCCCGEEEIIIYQQr+O/0ojxzhRF6QLMAIarqpq++h8KIYQQQggh%0AhBBCCCGEsGhy0/ntpPtGDFVVbwNl3sN8VgGr3rlCQgghhBBCCCGEEEIIIYR4LzL6cM5CCCGEEEII%0AIYQQQgghhLBQ6b4nhhBCCCGEEEIIIYQQQghh6Sz6rd4WTHpiCCGEEEIIIYQQQgghhBDCIkkjhhBC%0ACCGEEEIIIYQQQgghLJIMJyWEEEIIIYQQQgghhBBCpDK9Yu4apE/SE0MIIYQQQgghhBBCCCGEEBZJ%0AGjGEEEIIIYQQQgghhBBCCGGRZDgpy5yRXAAAIABJREFUIYQQQgghhBBCCCGEECKV6c1dgXRKemII%0AIYQQQgghhBBCCCGEEMIiSSOGEEIIIYQQQgghhBBCCCEskjRiCCGEEEIIIYQQQgghhBDCIsk7Md6z%0A7Iq1uatgNlHqU3NXwaysFK25q2BWiRl4VL/IhDhzV8GsnG2ym7sKZvWERHNXwazK6jOZuwpmFa2o%0A5q6C2dxTos1dBbN6ombsfT8qMWOf+y5VHmruKphN6T/nm7sKZpV45ai5q2BWTcYsN3cVzMoma8b9%0AzZPR6RPMXQNhTuuvFzB3FcR/iJxJ3o70xBBCCCGEeAsZuQFDCCGEEEIIIYRIK9KIIYQQQgghhBBC%0ACCGEEEIIiyTDSQkhhBBCCCGEEEIIIYQQqUxVzF2D9El6YgghhBBCCCGEEEIIIYQQwiJJI4YQQggh%0AhBBCCCGEEEIIISySDCclhBBCCCGEEEIIIYQQQqQyvbkrkE5JTwwhhBBCCCGEEEIIIYQQQlgkacQQ%0AQgghhBBCCCGEEEIIIYRFkuGkhBBCCCGEEEIIIYQQQohUJsNJvR3piSGEEEIIIYQQQgghhBBCCIsk%0AjRhCCCGEEEIIIYQQQgghhLBIMpyUEEIIIYQQQgghhBBCCJHKVHNXIJ2SnhhCCCGEEEIIIYQQQggh%0AhLBI0oghhBBCCCGEEEIIIYQQQgiLJMNJWbAy7hX4bFIPNFoNh9bvY8eiTSbTrWys6O0zmIJlihAd%0AEcWigT7o7j9Ea6Wl++x+FCxdBI2VlmMbD7B9oeG7c48sIj46Dr1eT2JCIlNbjDFHtNdSwb0S3Sf3%0AQqPVsm/dHjYv+s1kupWNFYN8hlGkbDGiwyPxGTiXh/dDcMyfh/n7vufBXwEA3DhzjaUTFgHQYVQn%0A3FvVI3P2LHQu1S7NM72tSu6V6D2lDxqtBt91e9iwcIPJdCsbK4bPG07RssWICo9izoDZhNwPoXj5%0AEgycNRAARVH4ed7P+O8+bo4Ib6Sye2X6TumLRqth97rd/LrwV5PpVjZWjJw3kmLGvDMHzCTkfggV%0A61Sk29huWFtb8/TpU5bPWM65Y+cAmLpqKg55HNBaabl08hILJy5Er9ebI947m/TlKDwa1CYuLp7R%0AgyZz6fzVF8qMGD+AT9p9RLbs2ShXqLYZavn2UmP9dxnVBc/WnmTJnoXWJVubI9YLqnpUof+Uz9Fo%0Atexcu5N1C38xmW5tY82Y+aMoXrY4keGRTO//JcH3gwHoMKAdjds3Rp+YyPeTF/HHwT//cZ4V3SrQ%0AZ0IvFI2G+Jg45oz4mge3H9Do04b0mdCL0CAdAFtW/M7OdbvScCn8s0Lu5ag/pTOKVsOFdQc4uXCr%0AyfTKvZpQroMH+oREYsOi2D1yKZEBhiytV43GuWJRAv64zqbuX5uj+u+kmHs5Gk/ujEar4fS6AxxZ%0AZJq9YLUPaTy5E3k/dGXDoAVc3nEyaVrDcR0oXr8Cikbh1uGL7JyyKq2r/1ZSY58A0Gg0LNz+HaFB%0AOiZ2n5Smmf5NFY/K9JvSD41Ww661u1j/ksyj5o+keNniRIVHMqP/zKTM7Qe0w6u9F/pEPQsnL+LP%0Ag3+Sv0h+Jiwcl/R9J1cnVn29mk3LNid91rpPK/p696FNubZEhkemTdDXNG7GcOp61iIuLp4Jg6dx%0A5cK1F8qUKvchM771xs7OlkP7jjFzgg8AXy2dTuGiBQHImi0LUZHRtPbszEetvejRv1PS90uUKsan%0ADbpw9dKNtAn1FrK6VyLf5F4oWi26dXsISXEN/Ez2JjUpvHgc15oNJ+7CTbQ5slJo8RjsyxUnbIMf%0AAZOWpHHNU9/EL304dPQkDjlzsHnNYnNX5707evEvZq/djV6v8kmdCvRs6mYyPVD3iInLfycqNh69%0AXmVI6/rUKVeM7f4XWLnbP6nc9fvBrPPuxYeuTmkd4b2xrV6V7EMHglZL7NbtRK9eazI9U1Mvsg34%0AHP3DUABifttE7NYd5qjqe2NdpRqZPx+EotUQv3M7cb/8bDLdtmFjMvfqh173EIC43zfxeNd2NHny%0Akm3SdNAoYGVF/JaNxG//3RwR3lpGzg5gU7UaWQYMAo2G+B3biV1nmt/OqzFZ+vQjMdSYf8sm4nds%0Ax6poMbIOHY5ibw96PTE/rebxgf3miPBOMnp+V49y1DX+5rm89gB/pvjNU6F3E0q390CfmEicLop9%0AI5cSFaAja75cNP3fMBSNgsZKy/kVe7i4xs9MKcSb0CvmrkH6lCEaMRRF2QF8pqpqhLnr8roUjYbO%0AU3vzVaephAXpmPT7bM76nuLBzftJZeq09STmUTRjPQZSrbkbbcd2ZtFAH6o2rYmVjTXejYdjY2fD%0AjL3f4P/7EXT3DQf82R0mEx0eZa5or0Wj0dBrWl+mdpxEWJCOWb9/zR97T3L/xr2kMp7tGhLzKJpB%0A7n1xa16HTmO7Mm/gXACC7wQxqunQF+b7x95T7Fy5ne8OpJ8fPRqNhs+n98O740R0gTp8ts7jhO8J%0A7iVbFo3aNSL6UQx96/ahTvO6dBvXjTkD5nD32h2GNRuKPlFPzjw5+XbXd5zcewJ9ouXevNdoNPSf%0A3p8JHScQGhjK/K3z8ff1N8nr1c6L6EfR9Krbi7rN69JjXA9mDZjFo7BHfNHjC8KCwyhYoiDT1kyj%0AS7UuAMzsP5O46DgAJiyeQO2PanNo6yGzZHwXHg3cKFTElfrVWlKhclmmzh1Ha6+uL5Tbt/sQq5at%0AZ9+JzS+Zi+VKrfV/Yu8Jtq7cyg8HfzBXNBMajYZB0wcw5rNxPAwM5ftt33HM15+7N+4mlWnS3ouo%0AiGi61umORwt3eo/vyfT+X+Ja3BWPFh708uxDrrwOzFk7i251ewK8cp5DvhzEpJ5TuHvzHi26NKPj%0A4A7MHW64sX9g6yEWeH9vluXwTxSNQoPpXfm14yyiAsPotHUqf/n+ie7Gg6QyIZdus/ojbxLin1C+%0Akyd1x3dg24AFAJxash2rTDaU71jfXBHemqJRaDqtG6s7ziQyKIzev0/j2t7TPLwRkFTm0YNQNo9Y%0AQq0+H5l8t0Dl4hSoUoJFXmMB6PHbZArVKMlt/ytpGeGNpcY+8ayh+pOeH3P35j3ss9ibK95LaTQa%0ABk4fwNjPxhMaGMp3277leIrMjdt7ER0RTfc6PfBo4U7P8T34sv9MXIu74t7CnT6efcmV14FZa2f+%0An737jo6i+vs4/r67aZQE0gsd6UiTTiiREkAF9cECiIpYKYIUQZAm0kQpFqrYUYr6U+kQeu9dgRAh%0AQEhPCCmQtjvPH7skuwlNJdkN+b7OyUl2587kfmZ2ZmfmztyhX9vXiDgfQf8uA3Om/9PBJexevydn%0Aet7+XjRu2zinIcSetOnQikpVKtC1xTPUb/ww42eMpFfXV/OVGz9jJBOGT+PE4VMs+Gk2rdu3ZNeW%0AvYx4Y2xOmXcnDiY1OQ2ANb9uYM2vGwCoXvshPvt2hl03YKDTUf7DN/n7hfFkRSdQY+VMrm06QIbF%0A9yCArlQJvF/pTtqR3IYeLSOT6E9+xKVmJVxqVirsmheKpx7rRO8e3Rnz4Se2rsp9ZzAamfrjOhYO%0AewFfdzd6T/6KoIY1eCjAO6fMl2t20blJHZ57tDF/R8Yx6NNlrKv/No+3qMfjLeoBcC4ilnfmrijS%0ADRjodJQZMYSEIe9iiI3D+6sFpO/cQ3b4Rati6Zu3cm3WZzaq5H2m01F64DtcGz0cY3wcZT9fSOa+%0A3RguWWfO2LGFtLmfWr1nTEwgaegAyMoClxK4L/yGzL27MSYmFGaCf684ZwfQ6XAd/A5XRw7HGBeH%0A+7yFZOzdjeFins/7ti2kfm6dX8tIJ3n6FAxXrqDz9MR9/pdkHjyIlpZamAn+m2KeX+kUQZNf5vfe%0A00mNSuT51ZM4H3KYqxbHPHGnwlluPuZ5+MUOBL7fi/UDviAtNomfn5qIMTMbx5LO9N40nQshR0iL%0AKTKnPoX4R4pcd1JKKf0/HUfTtMeKUgMGQNWG1Yi9GE3c5RgMWdkcWLWLRsFNrco8EtyM3b9uA+DQ%0A2r3UbmXacdUA5xIu6PQ6HF2cyM7MJj3lRiEn+G+qNaxOdHgUsZdjyM7KZveqnTTt1NyqTNNOzdn2%0Aq6mVee/a3dQLbHDX6Z47epak2KsFUueCUr1hDaLCo4i5ZJoXO1btoHlwC6syzYNbsPmXzQDsXruL%0ABuZ5kZGekdNg4eTshKbZ/+ODajSsQWR4JNGXonPytgxuaVWmRXALNv2yCYBdFnnP/3mexJhEAC6G%0AXsTZxRkHJ1Nb7c0GDL2DPue9oqhj1yB+W7EagGOHT+JWxhVvX6985Y4dPklcTHxhV+8/K6jlf/bo%0AWa7a0bpfs2FNIsMjiTLn3LZyG4F5crYKbsnGX0IA2LFmJ40CGwIQGNySbSu3kZWZRfTlGCLDI6nZ%0AsOYdp6lpWs4J3FKupUgwzyd75tfwIa6Gx3DtUhzGLANnVu3joeDGVmUu7z1NdnomAFFHw3D198gZ%0Admn3n2Slphdqne+Xcg0fIjE8hquX4zBkGTi1ah81O1lnT4qIJ+bMZTSj9XZd0zQcnB3ROzrg4OSI%0A3kFPavy1wqz+v1IQ6wSAl58Xzds3Y+3SdYUb6B6YMkflbO+2r9xOqzyZWwa3JMS8vbPM3Cq4JdtX%0AbrfIHJWT+aZGrRsSdTGK2CuxOe+9NeFNFk9ZjD3uDrTv0paVP5uW04nDp3B1c8XLx9OqjJePJ6VK%0Al+LE4VMArPx5HR26tss3rc7dO7Lmt4353n/s6WDW/R5SALW/f0o2rE5GeBSZl2PQsrK5umonZfLs%0AAwP4D3+B2AW/omVk5rxnvJFB2qHTVu89aJo0rEcZN1dbV6NAnLoQSQUfD8p7u+PooKdLs7psOxaa%0Ar1xqeobp940MvMvmnxfrDpyiS9O6BV7fguRYpxbZEZEYIqMgO5sbm7bg0ibw7iMWYQ41a2OIvIIx%0A2pQ5Y9sWnFre493U2dmmk/iAcnQEXdE6zVOcswM41KpN9pUrGKPM+bduwbnVveU3RERguGK6yMWY%0AkIAx6Sq6smUKsrr3XXHP79vwIZLCY0g2H/OErtxH1TzHPFcsjnmij4RRys90zGPMMmDMzAZA7+SI%0A0snl/eLBZldbeKVUZaXUGaXUj0qp00qpX5RSJZVS4Uqpj5RSR4BnlVLBSqm9SqkjSqmflVKllVJd%0AlFI/W0wrSCm12vx3uFLKy/z3MKXUKfPPOxb/95TFuCOUUhPNfw9WSv2llDqhlFpWWPPC3deDxMjc%0AE5CJUYm4+1ofyJW1KGM0GLmRcp3S7q4cWruXjBvpzDmwmJl7FrL+y5WkXTO1RGuaxogfxjNh1Qza%0A9epUWHH+MQ8/T+KjcvMnRMXj4eeZv4xF/uspabi6m3bkfSr48vHaOXywfCq1m9YpvIoXAE8/T+Ij%0A43JeJ0TF45nns2BZxmgwkpZyHTd3N8B0Unjuprl8vvEL5o2ZZ9d3YcDNLLnLPv42eeMs8l63yHtT%0A4GOBhJ0KI9v8pQ7w4Q8f8tPRn7iReoNda3YVYIqC4+vvQ+SV3CtooyNj8fP3vsMYRUtBLn974uXn%0ASazFeh0XFY+nn3VjlKefl1XOtJQ03Nzd8PTzyjeul5/nHac5c+Qcpn4/maUHltDx/zqwbO7ynHJt%0AugayaON8xi8Yi7cdfZZc/dxJicxtbEmNSsTV1/225es9344LW48XRtUKnJufB8lRuVcQJkcl4uZ3%0A++yWIo6EEb73L0YcnMvwg3MJ23GC+LDIu49oYwWxTgAMmPgWX05dnK+xxx54WWzL4GZmz9uWsc5s%0APW68Reab2nVvx9Y/tuW8bhncgvjoBM6fvlAAaf47H39voi2+32KiYvHNs03y9fcmJiq3USY6Mhaf%0APGUat2hIQlwily5Y37kA0OXJjqy9ReOGPXH08yTLYh84KyoexzzLtsTDVXEM8CJ5y6HCrp4oQLFX%0AU/Cz2J/xcXclJs/d8/27t2XNvpN0evdTBn66jPd6dc43nQ0H/6JL86LdiKH39sIQk7uuG+Li0Hvn%0Av2jHJagt3t8vxn3KRHQ+9rMP82/oPL0wxuVmNsbHofPKn9k5sB1l53+N69gP0HnnZtZ5e1N2/td4%0ALPmZGyt+KlJ3IhTn7AB6rzz5426Tv007PL78GrcJ1vlvcqhZC+XgiCHS/vf7LBX3/KX83EnNc8xT%0A+g77/XV7tuPittxjntL+HvTaOJW+Bz7l8PzVcheGeKDZVSOGWU1gnqZptYFkYID5/QRN0x4BNgFj%0AgY7m14eAYeb3myulSpnLPw9YNToopRoDrwDNgRbA60qpRnepz3tAI03T6gNv/ddwhaFKg2oYDUaG%0ANn+dd9v0p/Nr3fCu4AvA1GfGMvGJd5nVdzLtX+pCjWZF+wT/rVyNTeStlq/y7mPv8N2HXzHks+GU%0AKF3C1tWymdBjoQzsOJBh3Yby7MBncXR2tHWVClzFGhXpN7ofn4/+3Or9cS+Oo0+TPjg6OeZcvS8e%0APLdb/sVZj9eeZsxLY+nVrA8bVmzkrfFvALAvZB99Wr3MG8H9ObzzCCNnj7BxTf+d2k8H4lu/KgcX%0ArrF1VWzOo5IvXtUCmNXibWY1H0SVVnWp2LTm3Ud8ADXv0JykhCTOnQyzdVUKnYOjAy07tWDHmp0A%0AOLs402tQT76bWTSej/JfPPZ08C0bKuo9Upf0G+mEnTlvg1rdR0pRbuyrRE7+2tY1ETaw7sCfdG/V%0AgJCPhzB3SE/e/+oPjBaNtCfOX8HFyZHq5XxsWMvCkb5rLzE9ehH30mtkHDiM+7j3bF2lApe5bw+J%0ALz9PUv9+ZB05ROkRY3KGGePiSOrfj6uv9Ma5UxdU2Xu7+KGoKM7ZATL27iHhhedJfL0fmYcP4TZq%0AjNVwnYcHbqPfJ/nj6djl7Zb/UXHPf1PNpwPxqV+VIwtyj3lSoxJZGjyGH9oMp/YzbSjh5XaHKQh7%0AYbTzH3tlj40YlzVN223+ewlw8z6ym5eNtgDqALuVUseAl4FKmqZlA+uBbkopB+Bx4I88024N/KZp%0AWpqmaanA/4A2d6nPCeBHpVQf4JaX9Cql3lBKHVJKHTqbcn+ubrsak4hHQG7rs4e/B1djrK8oSLIo%0Ao9PrKOFaktSrKbR4sg0ntx/DkG0gJSGZsMNnqFz/oZxxAFISkjmyYT9VG1S7L/W93xKjE/Dyz83v%0A6e9FYnRC/jIW+Uu6liLlagrZmdmkJpmuWjp/6m9iLkYTUKVc4VX+PkuITsDLoi9cT38vEvJ8FizL%0A6PQ6SrmWzPewzoiwCG6k3aCSnfeRnGCxXAG8bpPX2yJvSYu8nn6ejFs0jplDZxJ9MTrf9LMystgb%0AspcWnVrkG2av+vR7jlVbl7Jq61LiYuIIKOebM8wvwIfoqLg7jF20FPTytxfx0Qn4WKzX3v5eJERb%0Ad/+VEB1vlbOUaymSryaTEB2fb9z46ITbTrOMRxkeqlOVM8dM/aZvW7Wduo1NDdjJSSlkZZpuwV+3%0AdD016lUvmMD/Qkr0VVwDcruHKu3vQUpM/i7BKrauS4tB3fn91VkY7PTOm38qOToRN//cK6/d/D1I%0Ajr637tBqdWlCxNEwMq9nkHk9g7Ctx6nwiP0s19spiHXi4SZ1aNmpBUv2fMf7c0fTMLAB7306snAC%0A3YN4i20Z3MyccNsy1pmtx/UyZ76p6aNNCDsVRlK86Wo8/8r++FXwY8GG+Xy/5zu8/b2Yt+4L3L1t%0Ae6Kn1yvP8OvmH/h18w/Ex8TjZ/H95uvvQ0ye77eYqDh8/XNPzvoF+BBrUUav19Px8UdZ/8emfP/r%0Asac62f1dGABZ0Qk4WuwDO/p7kWWxbHWlS+BSsxLVlk2hzq4vKdmoJlW/ep8S9exzn17cOx93V6It%0A9t9jr6bg627dXdRvu47RuWltABo8VJ6MrGyupl7PGb7hwJ90bVa078IAMMTFo/fNXdf13t4Y4qy/%0AE7Tk5JxuhK6vWoNjzRqFWsf7zZgQj847N7POyxtjfJ7MKbmZ09evwaF6/szGxAQM4RdwfLh+wVb4%0APirO2QEM8Xnye98iv8XnPX2tdX5VsiRlpn5E2teLyT79V+FU+j4q7vnToq9SOs8xT+ot9vsrtK5L%0Ak7e7s7rfrJwupKymE5NEwtkIApoVz4uXRPFgj40YeZtNb75OM/9WQIimaQ3NP3U0Tbv51L9lwHNA%0Ae+CQpmn3+vTqbKznhYvF348Dc4FHgIPmBhLrCmraIk3Tmmia1qSma5V7/Jd3duF4GD6V/fEq74Pe%0A0YFm3VpzNMT6lvGjIQcJ7BEEQJPHWnJ6j6lHrMTIeGq3ehgApxLOVG1Ug6i/r+BUwhmXUi457z/c%0ApgERoZewR2HHz+FfJQCfCr44ODoQ2K0NB0P2W5U5tOkAQT1MD2xt+Vggp/acAMDNww2duS9Mnwq+%0A+FUJIOaS/Z7MvJtzx0MJqBKAr3letO3WlgN55sX+kP10eKYDAIGPteaEeV74VvBFpzfNC+9y3pSv%0AVp7Yy7HYs9Bb5N0Xss+qzP6Q/XR8piMArS3ylnIrxQfffsA307/hr0O5OzAuJV1w9zGdqNHpdTRr%0A34zLf+fvZsJeLfl6Bd0e7UW3R3uxce02nn7uCQAaNq5HSnJqkXz2xe0UxPK3R2ePn6Vc5XL4mXMG%0AdQ9iT56ce0L2EfyMqdu/to+34dju4znvB3UPwtHJEb8KvpSrXI6zx87edpop11Io5VqKcubG3Efa%0APMKlMNPn38Mnd4e5ZXALLoXZz3dC9PHzuFfxo0wFb3SOemp1a8HfIUesyvjUrUTwtH789uosrick%0A32ZKRU/k8fN4VvGjbAVv9I56Hu7WgrMhh+9p3GtXEqjcvDY6vQ6dg55KLWoRF3bl7iPaWEGsE199%0A9A29mvWhT6uXmTJwGsd2H2f6kBmFnu12TJkDcjK3696OvXky7w3ZRyfz9s4y896QfbTr3s4icwBn%0Aj+U+4PnRJ4OsupIKPxPOc4168lKrl3mp1cvERcUzoOsgrsbZ9llBS7/5hR4dXqRHhxfZvG4H3Z/t%0ACkD9xg+TmpJKfGyeRp3YBNJS06jf2LSf2/3ZrmxZvyNneMu2TblwLtyqyykApRSdu3ew++dhAFw/%0Afg7nKgE4VfBFOTrg3q0NyRb7fcaU65xq1Ie/Wr/OX61f5/rRs5x/dQo3iuEdRw+aupUDuBSTSETc%0AVbKyDaw/8CftGlifqPX3KMP+0+EAnI+MJzMrGw9X0zOvjEaNDYdO0+UBaMTIOn0Gh/Ll0Pv7gYMD%0AJTq2J33XHqsyOs/cfRiX1q3IDreffZh/I/vsGfTlyqPzNWV2DmpP5r7dVmWUR25mpxaBOQ++1nl5%0Ag5OTqUzp0jjWrYchougc6xTn7ADZZ87gUK48Oj9z/kfbk7HHOr/OMn/L3Pw4OFDmg8mkb9xAxo7t%0AhVnt+6a45485fp6ylf1wMx/z1Ojeggt5jnm86lbi0en9WN1vFjcsjnlK+XmgdzH1tOFcpiT+TWuQ%0AdD6qUOsvRGGyx6fbVlRKtdQ0bS/QG9gFWHb5tA+Yq5SqpmlamLn7qHKapoUC24GvgdfJ05WU2U7g%0AW6XUdEyNIU8DLwIxgI9SyhNIBZ4A1iuldEAFTdO2KqV2AT2B0kCBdzJnNBj5cfxihn8/Dp1ex84V%0AW4g8d5mnhvYk/GQYxzYdYseKzbwxazDTt31BWlIqC96eDcDm79fz6scDmbxxDijY9fNWIs5cxLuC%0AL4MWma5A1Ov17PtjJ6e2HyvoKP+K0WBk8fiFjP1+Ijq9ji0rNhFx7jLPD+vN3yfCOLTpAJuXhzB4%0A9jA+376Q1KQUZg/6GIDazevSc9gLZGdlo2kai8bMI9X8TJA+o/vS5sm2OJdwZuG+r9m8LIQVc5ba%0AMupdGQ1GFoxbwAc/TEKn17FpeQiXQi/xwrAXOHfyHAdCDhCyfCPD5gxn4Y5FpCalMmPQRwDUaVqH%0AZwY8Q3aWAc1oZMH78/PdoWFvjAYj88fNZ/IPk9HpdWxcvpFLoZfoM6wP506eY3/IfjYs38CIOSNY%0AvGMxKUkpfGTO2+3lbgRUDqDXkF70GtILgLF9xqKUYsJXE3A0P+zqxJ4TrF2y1pYx/7VtIbsI6tia%0ALQf/IP1GOqMGT8wZtmrrUro9aso9asIQuvXoQomSLuw6sY4VS37nsxkLbVTre1cQy/9awjX6jelH%0A0JNBOJdw5vv937Nh2QZ+nP2jTXN+Pm4u05dMRafXsX75Ri6GXuTl4S8ReiKUvSH7WLdsPe/NGcl3%0AO78hJSmFKQOnAqaHlm9fvYOvtizCkG3gs7FfYDSabvq81TQBZo2aw8RF4zAaNVKvpfDJiFkAPP3K%0Ak7Ts1BKDwUBKUgozhs20zQy5Bc1gZPO47+jxw0h0eh0nl28nIfQKgcN6EH3yAn+HHKHd+71wLOlC%0A9/mDAUiOTOD3V03Zev4yDo+H/HEs5cKb+z9jw7tfEr7jpC0j3TOjwcja8d/y4vejUHodR1dsJ+7c%0AFR4d1oPIExc4u+kIAfWr0nPRUFzKlKRGx0YEDe3BvE6j+Gvtfqq0qkP/jdNBg7DtxwndfNTWke6q%0AoNYJe2Y0GPli3DymLpmCTq9jgznzS8NfJPTEOfaF7GP9svWMmjOSb3Z+TUpSClMHTgNMmXes3sGX%0AWxZiyDbyxdi5OZldSjjzSJtHmPPeZ7aM94/t2LSbth1asW7/r6TfSGfskA9zhv26+Qd6dHgRgA9H%0AzWDKZ+NxdnFm1+a97Nyce2Kz623utmjSshHRkbFEXCwC/WQbjESMX0jV7yei9DoSV2wi/dxl/Ib1%0A5vqJMJI3Hbjj6HV2fYnOtSTK0YEywc35+8UJZJwrWif07uTdCdM5ePQESUnJdHiqDwNefZEe3fI/%0AF6IoctDrGN27C/3nLMVoNPJUYEOqlfNm7u/bqFs5gKCGNRj+XEcmfbeGJSH7UUoxqV83lDI9yPVw%0A6EX8PNwob+M7rO4Lg5Frsz7Dc/YM0Ou4vnod2RfCcX3tFTLPnCVj1x5KPft/uLQOBIMBY3IySVOm%0A27rW/43RQOrcOZSZ+gnodKTerqlmAAAgAElEQVRvXIvhYjglX+pHdugZMvftocSTPXBqac6ckkLq%0ATFNmfcVKuL0+ANP1n4rrvyzHEF6Eus4rztkBjAZSPp9D2Y8+Qel03Fhnyl+qbz+yzp4hc+8eSjzd%0AA+dWgWgGA1pKCskzTPmdgx7FsX4DlJsbLp27AJAyYzrZfxehhu1inl8zGNk+7ju6LzEd8/y1fDuJ%0AoVdoPrwHsScucCHkCK3NxzxdF5iOeVIiE1jTbxYe1QNoPa63qQstpTi6cC0JZyJsnEjcC/s/UrFP%0ASrOj/uKUUpUxdQl1CGgM/IWpkeEvoImmafHmcu2BjwBn86hjNU1baR72BdAX8NE07br5vfCb4yul%0AhgH9zOMt1jRtjrnMYGAIcAU4D4QDU4CtQBlMjR5LNE27497RK5V72M8MLWQpWpatq2BTGVrx3gwZ%0AivFm+Oz1onunz/1Qs6SfratgU5mawdZVsKkuqmg/SPO/SFXF9isfgF3GB+cusH9Dh7J1FWzqSqZt%0A7+KwtR9dfO9e6AFV9/AcW1fBpgynd9+90AMscVTxfh6Lk2vxPeYp7owPRq+l4l9aHlrB1lWwqbcv%0ALyneO7732cyKfez6QHL4Jftc3vZ4J0a2pml98rxX2fKFpmlbgKa3GlnTtEHAoDzvVbb4exYw6xbj%0AfQbc6pK11rd4TwghhBBCCCGEEEIIIYQQBcweGzGEEEIIIYQQQgghhBBCiAeKXd+GYcfsqhFD07Rw%0A4GFb10MIIYQQQgghhBBCCCGEELans3UFhBBCCCGEEEIIIYQQQgghbsWu7sQQQgghhBBCCCGEEEII%0AIR5ERrt8bLb9kzsxhBBCCCGEEEIIIYQQQghhl6QRQwghhBBCCCGEEEIIIYQQd6WU6qKUOquUClNK%0AvXeL4cOUUn8ppU4opTYrpSr91/8pjRhCCCGEEEIIIYQQQgghRAEz2vnP3Sil9MBcoCtQB+illKqT%0Ap9hRoImmafWBX4AZ9zZ3bk8aMYQQQgghhBBCCCGEEEIIcTfNgDBN085rmpYJLAOetCygadpWTdOu%0Am1/uA8r/138qjRhCCCGEEEIIIYQQQgghRDGnlHpDKXXI4ueNPEXKAZctXkeY37udV4F1/7VeDv91%0AAkIIIYQQQgghhBBCCCGEKNo0TVsELLof01JK9QGaAO3+67SkEUMIIYQQQgghhBBCCCGEKGCarSvw%0A310BKli8Lm9+z4pSqiPwPtBO07SM//pPpTspIYQQQgghhBBCCCGEEELczUGgulKqilLKCegJrLQs%0AoJRqBCwEumuaFns//qk0YgghhBBCCCGEEEIIIYQQ4o40TcsGBgEbgNPACk3T/lRKTVJKdTcX+xgo%0ADfyslDqmlFp5m8ndM+lOSgghhBBCCCGEEEIIIYQoYMYHoEMpTdPWAmvzvDfe4u+O9/t/SiOGEOK+%0A0KFsXQWb0R6ALyDx72la8V7+jsV31cddUySr4r38RfFlLObbPr9Kybaugs0YTu+2dRVsSl870NZV%0AsCml+9rWVbApzWjrGghbUcW8H5Pi/tkvU8zzC2EPivlmWAghhBDi35EGDCGEEEIIIYQQouDJnRhC%0ACCGEEEIIIYQQQgghRAGTG3v+HbkTQwghhBBCCCGEEEIIIYQQdkkaMYQQQgghhBBCCCGEEEIIYZek%0AOykhhBBCCCGEEEIIIYQQooDJkxX/HbkTQwghhBBCCCGEEEIIIYQQdkkaMYQQQgghhBBCCCGEEEII%0AYZekOykhhBBCCCGEEEIIIYQQooAZbV2BIkruxBBCCCGEEEIIIYQQQgghhF2SRgwhhBBCCCGEEEII%0AIYQQQtgl6U5KCCGEEEIIIYQQQgghhChgRmXrGhRNcieGEEIIIYQQQgghhBBCCCHskjRiCCGEEEII%0AIYQQQgghhBDCLkkjhhBCCCGEEEIIIYQQQggh7JI8E8OOPdyuIb3H90On17Fj+WbWzv/NariDkwOv%0AzxpMpYerkpqUwvxBs0iIiEPvoOeVj/pTqW5VdA569vxvG2vmmcb9eNd80lNvYDQaMWQbmNR9lC2i%0A3ZOG7R7hlQmvodPr2bxsI7/P/9VquIOTA2/PGkrVetVIvZrMrEEfExcRmzPcK8CL2Zvm8vOcpaxc%0A9DsAj73SjY69glFKsWnpRtZ8vbJQM/0Tj7R7hNcnvoFOryNk2UZ+mfeL1XAHJweGzR7GQ/WqkXI1%0AhRkDPyI2IpbqDWowaPogAJRS/DT7J/Zt2AvA4I+H0LRDU64lXGNQp4GFnulePdKuMW+Ys29ctpFf%0A5v1sNdyUfTjVzNk/Gjid2IhYGrZpSN/3XsHB0YHsrGy+nvIVJ/acAGDa8mm4+3iQmZ4JwLg+Y7mW%0AcK3Qs/0b46eOJKhjIOk30nn37Qn8eeJMvjLDxwzk6eefoEwZN+pVDsx5v2nLRxg3ZQS16lRnyOuj%0AWbdqU2FW/V9p3K4xb058E51ex4ZlG/j5Fst/xOwROct/2sBpxEbE0qhNI/q+1xdHR0eysrL4esrX%0AHN9zHICX3n2JDj06ULpMaXrU7mGLWLc0cNIAmrdvSsaNDGYM/YRzp8LylalerzojZ4/A2cWJ/VsO%0AMnf8PABcy7oybt77+FbwJeZyDJP6Tyb1Wuodp7vx4jounAkHIPZKLOP6TQCgUWBD3hz7Okqn40ba%0ADWYM+4TI8MhCmAN3VqldfdpNfBGl1/Hnsm0cmrfKanij17pSt1cQWraBG4kphIxYRMqVBFzLefLE%0AoqEonULnqOf4txs5uWSLjVL8Ow+1q0/nCabsR5dtY8986+wVm9UieEIffGtV5H9vf8HptQdyhnUY%0A3Yvq7RuidIrzO0+xYeL3hV39e9Y0qAkDJr6FTq9n3dJ1LJu3wmq4o5Mjo+a8S/V61Um+mszkAVOJ%0AiYgBoNfA5+nSswtGg4G5E+ZzaPthHJ0dmf3LTBydHNHr9exYu5PvZ/0AwPCPh1Kjfg2UgojzV5gx%0A7BPSr6cXeubbaRLUmP4T+6PT61i/dD3LbzEv3p0zgur1qpNyNZkpA6blzIueA5+nc8/OGA1G5k2Y%0Az+HthwH4v9eepkvPLoDGhTPhfDJ8JlkZWYUd7Z6NmTKcth1bkX4jnTFvT+Kvk2fzlalTvxbTPhuP%0Acwlndmzaw9T3ZwJQ6+HqTJzxHk4uzqZ93FEfcfLoXznjPdywNkvXfsXwN8aycbX9bg+cmjXDbfAg%0A0Om5sWYNaT/+ZDW8RJcuuA54C0NcPADX//cbN9asAcD94xk41qlD5smTJL03utDrfj/sPvU3Hy3d%0AgNGo8XSbhrz6WKDV8KiEa4z9eiUp19MxGjWG9GhPm/rVWLPvJN9t2JdTLjQihmXjXqNWRb/CjlBg%0Axk6dxY7dB/BwL8vvSxbYujoFzrl5U9yGmNaF66vXkLZkqdXwEl074zrgLYzxpnUh7dffuLF6rS2q%0Aet84NmlG6QFvm/bH1q3hxnLr9d85uAulX++PMSEOgBt//Eb6ujXofHxxmzgZpVOgd+DGH/8jfbX9%0AHufeSnHODpLfqWkzSg98G3Q60teu4foy6/wunbtQ+o3+GOIt8q9dg8ND1XB9ZxiqZEkwGkn78Qcy%0Atm21RYT/JCCoPk0nvYjS6Qhbuo1Tc633+2u/0ZXq5mOe9MQU9gxbRNqVBHxb1abpxD455co85M+O%0AAXO5vOFwYUcQ/5ARzdZVKJKKbCOGUioIyNQ0bY+t61IQlE7Hi5Ne55M+k0iMTmD8yo84FnKQyLCI%0AnDJtnutA2rVU3gsaRLNugTz33ovMHzSLpo+1xMHJkXFdhuHk4sSUTZ+yb+UuEiJMG/yPek0g9WqK%0AraLdE51Ox2sfvsmkF8aTGJ3A9JUzObTpABHnLueU6fB8J9KupfJ2uzcJ7NaGPu+9zOxBH+cMf3nc%0AqxzbdiTndYUaFenYK5j3ug8nOyubsd9P5PDmg0RfjCrUbPdCp9Px1uT+jHthLAlRCcxaNZv9Ifu5%0AbJE/+PlgUq+l8WbbN2jTrS19R/dlxsAZXDp7kaFPvIPRYMTdx53P1n/OgU37MRqMbP55E2u+W83Q%0A2cNsmO7OdDod/Sf3Z+wLY0mIimf2qtnsD9mXJ3tn0q6l8kbb12nbrS19R7/CjIEfkZyYzKR+H5AY%0Ak0ilGpWYtGQSLzd7OWe8T4Z8TNiJ/CeJ7VlQx9ZUrlqR9s2epGHjenz48Rj+r/NL+cpt3rCD779a%0Azpb9f1i9HxkRxchBE3htYP5x7JFOp2PA5AG8/8L7xEfFM2fVHPblWf6dn+9M6rVUXmv7Gm27taXf%0A6H5MHzida4nX+MBi+X+45ENeambKvX/TflZ9t4rF2xfbKlo+zdo3pXyVcrzU+hVqP1KLIdMGM6jb%0A4Hzl3pn2NrNGzub0kTNM+2EKzR5tyoGtB+k18HmO7D7KsrnL6TnweXoNfJ4vp351x+lmpmfyZuf+%0At/gfgxnXbwKXwi7T/aVu9BncmxnDPinweXAnSqcImvwyv70wndSoRHqumsT5kMMknsttXIn7M5xl%0Aj48jOz2Ten060HpML9YN/IK02CRWPD0RQ2Y2jiWd6RMynfMhR0iLSbJhonundIouH/blxxemkRyd%0AyGsrPyR00xHiz13JKXMtMp6VwxfS8o3HrcYt37g6FZrUYGHn9wDo++sEKrWozcV9pwszwj3R6XS8%0APXkgo3qPJi4qnrmrP2dPyD4unbuUU6Zrz86kJKXycptXCOrejtfHvMrkAVOpWL0iQd2DeK3DG3j6%0AejBj6XT6tn2VrIwsRjw/kvTr6egd9Mz53ywObj3I6aNnmP/BQq6nXgfgrfFv8FTf7vkaTWxFp9Mx%0AaPJA3us9hvioeD5f/Rl788yLLj07k5qUyitt+hHUvR2vjunH1AHTqFi9Iu26t+ONDm/i6evB9KXT%0A6Nf2Ndx93HnqlSd5rcMbZKZn8v68MQR1DyLk5xAbJr29th1aUalqBbo070GDxg8zfsYoenbtl6/c%0AhBmjGD98KscPn2Lh0jm0ad+SnVv2MmL828z9ZDE7t+ylbYdWjBj/Ni8/bdre6XQ6ho97mz3b9hd2%0ArH9Gp8Nt6BCuDhuBIS4Oz0ULSN+1G8PFi1bFbmzZSsqcT/ONnrZ0GcrFmRLduxdWje8rg9HI1B/X%0AsXDYC/i6u9F78lcENazBQwHeOWW+XLOLzk3q8Nyjjfk7Mo5Bny5jXf23ebxFPR5vUQ+AcxGxvDN3%0AxQPVgAHw1GOd6N2jO2M+tO33c6HQ6XAbNoTEoe9iiI3Da/ECMnbtITvcel1I37KV5Nmf2aiS95lO%0Ah+vb75A0ajjG+Djcv1hI5t7dGC5ZZ87YvoXUL6zXf2NiAklDBkBWFriUwOPLb8jcuxtjQkJhJvj3%0AinN2kPw6Ha6D3+HqyOEY4+Jwn7eQjL35v/vSt20h9XPr/FpGOsnTp2C4cgWdpyfu878k8+BBtLTU%0AwkzwnyidovmUlwnpNZ3rUYk8tnYSlzce5prFMU/iqXDWdB2HIT2TGi91oPHYXuzo/wUxe06zOvh9%0AAJzKluLpXTOJ3H7SVlGEKHBFuTupIKCVrStRUKo2rEbsxWjiLsdgyMrmwKpdNApualXmkeBm7P51%0AGwCH1u6ldivTjrsGOJdwQafX4ejiRHZmNukpNwo5wX9TrWF1osOjiL0cQ3ZWNrtX7aRpp+ZWZZp2%0Aas62X01X0u1du5t6gQ1yhwU3J/ZyDJdDcw/+y1erwLljoWSmZ2I0GPlr/58079KycAL9Q9Ub1iAq%0APIqYS6b8O1btoHlwC6syzYNbsPmXzQDsXruLBub8GekZGA1GAJycndC03BbePw/8SUqSfTdg1WhY%0Ag6jwSGIuRedkb5Ene4vg5jnZd1lkP//neRJjEgG4GHoRJxdnHJyKbFstAB27tuO3FasBOHb4JG5l%0AXPH29cpX7tjhk8TFxOd7/8rlKM78dQ6j0Vjgdb0fajSsQWR4JNEWy79lsPV62iK4BZt+Md1Rcqfl%0A72yx/M8ePcvV2KuFmOTuAoNbsfEX08nE00fOUNqtFB4+HlZlPHw8KFm6FKePmO6+2fhLCIGdTV99%0ArYJbstF8MnLjz7nv38t089I0jZKupQAo5VqKhBjbH/j4NnyIa+ExJF+Kw5hlIHTVPqoGN7YqE7H3%0ANNnmu6uij4ZR2t+U05hlwJCZDYDeydF0dVoREtDwIa6Gx5B02ZT9z1X7qNnJOvu1iHhiz1xGM1pf%0AxaNpGg7OjugdHdA7OaJz0JMWb593ndVsWJPI8EiizOv7tpXbCMyzvrcKbpnzed6xZieNAhsCEBjc%0Akm0rt5GVmUX05RgiwyOp2bAmQM7dFQ4ODjg46HO+B282YAA4uzij2dEFUKZ5EZWz7du+cjut8syL%0AlsEtCTFv+yznRavglmxfud1iXkTlzAu9gx5nFyd0eh3OJZxJtIN1+3bad23LHytMV1EfP3zK9H3n%0A42lVxtvHk9KupTh++BQAf6xYS4fH2gGgaVDavB0r7Vaa2Ojc78Q+rz1HyJotJMTb1/dAXo61a2G4%0AcgVDVBRkZ5O+eQsurQPvPqJZ5pEjaNeL1j6/pVMXIqng40F5b3ccHfR0aVaXbcdC85VLTc8w/b6R%0AgXdZ13zD1x04RZemdQu8voWtScN6lHHLn/dB5Fi7FoaISAyRpnXhxqYtOP+DdaEocqhZG0PkFYzR%0A5vV/2xacWrW+t5Gzs00nsQHl6Ai6onWapzhnB8nvUKs22VeuYDR/92Vs3YLzPeY3RERguGK6yMeY%0AkIAx6Sq6smUKsrr3nWejh0gJjyHVfMwT/sc+KnS23u+P2XMag/mYJ/5wGCX98x/bVXq8GVe2Hs8p%0AJ8SDqNC3cEqpykqpM0qpH5VSp5VSvyilSiqlOiiljiqlTiqlvlZKOZvLhyulvMx/N1FKbVNKVQbe%0AAoYqpY4ppdoopXyVUr8ppY6bf1qZxxmmlDpl/nknTx2+VUqFmuvSUSm1Wyl1TinVzFyulLkuB8x1%0Ae7Kw5pO7rweJkbkHX4lRibj7Wh/IlbUoYzQYuZFyndLurhxau5eMG+nMObCYmXsWsv7LlaSZuxjR%0ANI0RP4xnwqoZtOvVqbDi/GMefp7ER+XmT4iKx8PPM38Zi/zXU9JwdXfFpaQLT/Xvwc9zllmVvxR6%0AkdpN61C6rCtOLk40erQxngH5TwbbA08/T+Ij43JeJ0TF45ln+VuWMRqMpKVcx83dDTCdCJ67aS6f%0Ab/yCeWPm5TRqFAWefp7EWXz242+TPc4i+3WL7DcFPhbI36f+Jtt8IhPgnU+G8tm6z+k5uGcBJri/%0A/Px9iLoSnfM6OjIGP38fG9aoYHlarNfw35Z/2Kkwq+Vvb7wscgDERcXjlWc75+XnSVxUbpl4izLu%0AXu4kxpoabRJjE3H3cr/rdJ2cnZi35gs+X/lpTqMHwMx3ZzPt+8ksO/gjnXp0YOnc5fc57T9X2s+d%0AlMjEnNepUYmU9nW/bfm6z7cjfOvx3PH9PXhhw1T67f+UQ/NXF5m7MADc/DxIjso92ZwclYir3+2z%0AW7pyJIzwvX8x9OBchh6cy/kdJ4gPs33XYLfi5edJbJ7Pqqef9feyp5+X1fqelpKGm7sbnn5e+ca9%0A+TnX6XQsWD+PX44t5/DOo5w5ltsl0YiZw/n5yDIqPFSB37+xvnPNlm613nreantwy3lhPe7N7URC%0AdAI/L/yFJft+YNnhn7ieksbhHUewV75+PkRHxuS8jo6MxSfP952Pvw8xUbldh8ZExuLrZyozbews%0ARkwYzJajqxg5cTCzp8w1jePnTcfHglj6jXW3pPZI5+WNITZ3WRri4tB5e+cr59KuLZ7ffEXZSR+g%0A88k/vKiKvZqCn8X3uY+7KzF57h7v370ta/adpNO7nzLw02W816tzvulsOPgXXZo/eI0YxYne2wtD%0AbO66boyLQ++d/7jNpV1bvL5dTNkPJxb5dUHn5YUhziJzfBx6r/yZnVq3w33h17iN+8Bq+6Dz9sZ9%0A4dd4/vQz15f/VKSuxC/O2UHy6728MMZZr++6W+R3btMOjy+/xm3CB7f8bnSoWQvl4Igh0j73e2+n%0ApJ87aRbHPNejEil5h/3+ar3accXimOemyk+24MIfewukjuL+0+z8x17Zqpm2JjBP07TaQDIwDPgW%0AeF7TtHqYurnK39+FmaZp4cACYLamaQ01TdsJfAZs1zStAfAI8KdSqjHwCtAcaAG8rpRqZJ5MNWAm%0AUMv80xtoDYwAxpjLvA9s0TStGfAo8LFSqtR9mQMFqEqDahgNRoY2f5132/Sn82vd8K7gC8DUZ8Yy%0A8Yl3mdV3Mu1f6kKNZnVsXNv777mhvVi9+I98/VxfCYvg9wX/Y9ySDxj7/QeE/3mhSJ3c/ydCj4Uy%0AsONAhnUbyrMDn8XR2dHWVSpUFWtUpO/oV/hi9Oc5730y+BMGBQ9k1DMjqdOsLu17tLdhDUVBqlij%0AIv1G9+Nzi+VfHGj3cFl57xZ9GPD4IKYOmsaAiW/hX8kfgB6v/x+jXxpLz6YvsH7FRvpPeLOgq3tf%0A1Xw6EJ/6VTmycE3Oe6lRifzYeQzftR1O7WfaUNLL7Q5TeHC4V/LFq1oAc1q8zZzmg6jcqi4Vmta0%0AdbUKldFo5K0uA+jZ7AVqNaxJ5ZqVcoZ9MnwmzzfpzaWwSwR1b2fDWha80mVK0yq4JS+16kuvJi/g%0AUtKFDk8/uN99Pfv2YPr42bRv1I3p4+Ywec5YAEZPHsbMD7+4p21kUZC+Zw9xz/Uk4ZVXyTh0iDJj%0AiuazL/6tdQf+pHurBoR8PIS5Q3ry/ld/YLS4I+3E+Su4ODlSvdyDe8GHMEnfvZfYZ3sR3/c1Mg8d%0Apuz779m6SgUuc+8eEl98nqtv9iPzyCFc3x2TM8wYF8fVN/uR2Lc3Lp26oMre28UPRUVxzg6SP2Pv%0AHhJeeJ7E1/uRefgQbqPGWA3XeXjgNvp9kj+ejl3danufVfm/QDwbVOXP+Wus3i/hUxb3WhWI3CZd%0ASYkHm60aMS5rmrbb/PcSoANwQdO0m/cLfwe0/YfTbA/MB9A0zaBp2jVMjRK/aZqWpmlaKvA/oI25%0A/AVN005qmmYE/gQ2a6ajm5NAZXOZYOA9pdQxYBvgAlTM+4+VUm8opQ4ppQ6dTbnwD6t9a1djEvGw%0AuEvAw9+Dq3m6AEiyKKPT6yjhWpLUqym0eLINJ7cfw5BtICUhmbDDZ6hc/6GccQBSEpI5smE/VRtU%0Auy/1vd8SoxPw8s/N7+nvRWJ0Qv4yFvlLupYi5WoK1RvW4MXRfZm360se79eNpwc+S5eXTX2Gb1ke%0AwqgnhjH+udGkXUsl6sIV7FFCdAJeFv3/evp75evexbKMTq+jlGtJkq8mW5WJCIvgRtoNKlmcwLF3%0ACdEJeFt89r1uk93bIntJi+yefp68v2gss4bOJPpi7h0MN6dxI+0G23/fTo0GNQo6yr/2Yr/nWL11%0AGau3LiM2Jh7/crl9OvsF+BJtcRXqgybBYr2Gf7f8xy0ax8w8y99ePPlyNxZumM/CDfNJiE3MyQHg%0A7e9FfJ7tXHx0At7+uWW8LMpcjb+a002Uh48HSQlJuePcZro3f0ddiub43hNUf7gaZTzK8FDtqpw5%0AauqyatvKbdRtbPsG7tToq7gG5N4qXdrfg9SY/F3BVGhdl2aDurPq1Vk5XUhZSotJIuFsBAHNis6J%0A/OToRNz8c6/Cd/P3ICX63rrBqdWlCVeOhpF1PYOs6xmEbT1O+UeqF1RV/5P46AR88nxWE6Ktu8VL%0AiI63Wt9LuZYi+WoyCdHx+cbNu/6kJadxbM9xmgZZd8dpNBrZunIbbbreY1cNheBW623CrbYHt5wX%0A1uPe3E40at2I6MsxXEu8hiHbwK51u6nTpHbhBLpHvfs9w/+2LOF/W5YQFxOPX4BvzjC/AB9i83zf%0AxUbF4mtxd4ZvgA8x0aYyTz3/OCGrTQ/zXL9yE/UambZjDzeozcyFk9l06HeCu7Vn/Ecj6dDVPhuw%0AjPFx6C2uJtd7e2OMi7MqoyUn53QdcmP1Ghxr2O/+zD/l4+5KtMW+bOzVFHzdrbtP+m3XMTo3NX2O%0AGzxUnoysbK5adBW34cCfdG0md2EUdYa4ePQ+ueu6zts752H2N1muC9dXrcGxZtFeF4zx8ei9LTJ7%0AeWOIz5M5JTdz+ro1ONxi/TcmJJAdfgHHevULtsL3UXHODpLfEB+Pztt6fTfmzW+xvqevXYND9dz8%0AqmRJykz9iLSvF5N9+q/CqfR9dD36KqUsjnlK+ntw/Rb7/f5t6lJvcHe29p2FMc8xT6Vuzbm07hBa%0AtqHA6yuELdmqESNv0+id+njIJreeLvexDhkWfxstXhvJfeC5AnqY7/ZoqGlaRU3T8j0ZU9O0RZqm%0ANdE0rUlN1yr3pXIXjofhU9kfr/I+6B0daNatNUdDDlmVORpykMAeQQA0eawlp/eY+gdOjIyndquH%0AAXAq4UzVRjWI+vsKTiWccSnlkvP+w20aEGHxzAh7Enb8HP5VAvCp4IuDowOB3dpwMMT6YYyHNh0g%0AyHw1fcvHAjm15wQA454dzYDWrzOg9eus+XoVv839mfXfmVqq3TxN/SN6BXjRvEtLdv6xoxBT3btz%0Ax0MJqBKArzl/225tOZAn//6Q/XR4pgMAgY+15oQ5v28FX3R60yrjXc6b8tXKE3u56Jz0Dj0eSkCV%0AclbZ998he2uL7KXcSjHx24l8O/1bTh/KXVV1el1Od0N6Bz3NOjblYqj1g8LsyQ9fr+CJR3vyxKM9%0ACVm7laefewKAho3rkZKcestnXzwoQm/x2d8Xss+qzP6Q/XR8piOQf/l/8O0HfDP9G/46ZJ87sH98%0At4o3O/fnzc792b1+D8HPmLr1q/1ILdJS0nK6h7opMTaR66lp1H6kFgDBz3Ri98Y9AOwJ2Ufws6bx%0Ag5/txJ6NptuH92zce8vpli5TGkcn011Zbu5u1G1al4uhF0m5lkIpt1KUr1IOgMZtG3MxzPbfDTHH%0Az1O2ih9uFbzROeqp0a0F50Osu8LxrluJ9tP6serVWdxIyD3xVdrPA735DjTnMiUJaFqDq39HFWr9%0A/4vI4+fxqOJHWXP2uukb3J0AACAASURBVN1aEBpy+J7GvXYlgYrNa6P0OnQOeiq1qEV8mH022J89%0AfpZylcvhZ17fg7oHsSfP+r4nZF/O57nt4204tvt4zvtB3YNwdHLEr4Iv5SqX4+yxs5TxKEMpN9NN%0As04uTjRu+wiXwi4DEFA5IGe6LTu15NLflwsj5j0xzYuAnHnRrns79uaZF3tD9tHJvO2znBd7Q/bR%0Arns7i3kRwNljZ4m7EkutRrVwdnEGoFFgQy6ds5/MAD99/Qv/174P/9e+D5vXbefJ5x4DoEHjh03f%0Ad7HWDTlxsQmkpqTRoLFpP/fJ5x5jyzrTvlxsdBxNWz0CQIs2Tbl43pS1U9On6NjE9LNx1RYmjZrB%0A5nXbCyviP5J15iz68uXR+/uBgwMuHdqTsXuPVRmdZ+6JDufAVmRftP32+n6pWzmASzGJRMRdJSvb%0AwPoDf9Iuz0Un/h5l2H86HIDzkfFkZmXj4VoSAKNRY8Oh03SRRowiL+vMGfQVyuWsCyU63mVdaF30%0A14Xss2fQlyuPzs+8/ge1J3PvbqsyOo/czE4tA3Me/Kzz8gYnJwBU6dI4PlwPw2X72t7fSXHODpI/%0A+8wZHCzyOz/anow995YfBwfKfDCZ9I0byNhhn9/td5Nw7DyuVfwobd7vr/xkCy5vtD7m8ahbiRbT%0A+7H1lVmkJyTnm0aVp1pKV1JFjNHOf+yVrZ54W1Ep1VLTtL2YunE6BLyplKqmaVoY8CJwcwsUDjQG%0A1gE9LKaRAlj2DbEZUxdUc5RSeqA0sBP4Vik1HVODxNPmad+rDcDbSqm3NU3TlFKNNE07+g+z/itG%0Ag5Efxy9m+Pfj0Ol17Fyxhchzl3lqaE/CT4ZxbNMhdqzYzBuzBjN92xekJaWy4O3ZAGz+fj2vfjyQ%0AyRvngIJdP28l4sxFvCv4MmjRSAD0ej37/tjJqe3HCiPOP2Y0GFk8fiFjv5+ITq9jy4pNRJy7zPPD%0AevP3iTAObTrA5uUhDJ49jM+3LyQ1KYXZgz6+63TfXfAepd1dMWQZWDx+AdeT0wohzT9nNBhZMG4B%0AH/wwCZ1ex6blIVwKvcQLw17g3MlzHAg5QMjyjQybM5yFOxaRmpTKjEEfAVCnaR2eGfAM2VkGNKOR%0ABe/Pz7lKfcTn71KvZT3c3N34Zv+3/DTrR0KWh9gyaj6m7POZ9MOH6PQ6QnKy9zFn38/G5RsZPmcE%0Ai3Z8SWpSCh8NmgHAEy8/gX/lAHoN6UWvIb0AGNdnLOnX05m05EP0Dnp0eh3Hdx1jw08bbBnznm0N%0A2UVQx9ZsPbiS9BvpjBw8MWfY6q3LeOJR0/M9Rk0YQvceXSlR0oXdJ9azYslvfDpjIfUb1WH+d7Mo%0AU8aNDp3bMmTUW3Rp/YyN0tyd0WBk/rj5TP5hMjq9jo3LN3Ip9BJ9zMt/f8h+NizfwIg5I1i8YzEp%0ASSl8ZP7sd3u5GwF5lv/YPmO5lnCNfmP6EfRkEM4lnPl+//dsWLaBH2f/aMuo7N9ygObtm/HDrm9J%0AT8/g42Gf5AxbuGE+b3Y29ar46ZjPGTnrXZxdnDiw7SAHthwEYNkXyxi3YCxde3YhJiKGD/tPueN0%0AK1aryNCPhqAZjSidjmVzl3PxnOmAf+bIOUz4cjya0UjKtVQ+GT6zMGfFLWkGI9vGfcdTP4xE6XX8%0AtXw7iaFXaDGsBzEnL3Ah5Ait3++FU0kXHps/GICUyARWvToLj+oBtBnbG03TUEpxZNFaEs5G2DjR%0AvdMMRtaP/5be349C6XUcX7GduHNXaDesB1EnLhC66Qj+9avy3KKhuJQpSfWOjWg3tAcLOo3i9Nr9%0AVG5Vh7c2TkfT4O/txzm3uVB2Xf4xo8HI5+PmMn3JVHR6HeuXb+Ri6EVeHv4SoSdC2Ruyj3XL1vPe%0AnJF8t/MbUpJSmDJwKgAXQy+yffUOvtqyCEO2gc/GfoHRaMTDx4NRs0eg0+tQOh3bV+1g/+b9KKUY%0AOWsEpVxLglKc/+s8n46xny7njAYjX4ybx9QlU9DpdWwwz4uXhr9I6Ilz7AvZx/pl6xk1ZyTf7Pya%0AlKQUpg6cBpjmxY7VO/hyy0IM2Ua+GDsXo9HImWNn2bl2J/PWfYHBYCDs1N+s/WmdjZPe3vZNu2nb%0AsRUbDvyP9OvpjBnyYc6w/21Zwv+17wPApFEzmPbZeJxLOLNz8x52bDad2Bw/fCpjJg9D7+BARnoG%0A44dPs0mO/8RgIHnOp7h/8jHodNxYu47s8HBK93uFrLNnydi9h5I9euAc2AoMBozJKVybNj1ndI/P%0AP8OhUkVUiRJ4//Iz1z6aQebBgzYM9M846HWM7t2F/nOWYjQaeSqwIdXKeTP3923UrRxAUMMaDH+u%0AI5O+W8OSENN6PalfN5RSABwOvYifhxvlvR+8rlQA3p0wnYNHT5CUlEyHp/ow4NUX6dEt/zNBHggG%0AI8mzPsNj1gzTurBmHdkXwin96itknTGtC6We+T/Tw74NBozJySRNmX736dozo4HUL+ZQZtonKJ2O%0A9A1rMVwMp+TL/cgOPUPm3j2UeKoHTi3NmVNSSPnYlFlfsRJl3hxg6kZHKW78vBxD+HkbB/oHinN2%0AkPxGAymfz6HsR6b8N9aZ8pfq24+ss+b8T/fAuVUgmsGAlpJC8gxTfuegR3Gs3wDl5oZL5y4ApMyY%0ATvbfYbZM9I9oBiMHxn5Hx59GonQ6wpZv51roFRqM6EHC8QtEhByh8bheOJRyod1C0zFP2pUEtr4y%0AC4BS5b0o5e9BzN4ztowhRKFQhd0/rPmh3OsxNVw0Bv7C1LDQEvgEU8PKQaC/pmkZSqk2wFeYnp2x%0ADWiiaVqQUqoG8AumRqK3gVBgEVAVMJjH36uUGgb0M//7xZqmzTHXYbWmaQ+b6/St+fUvlsOUUiWA%0AOUArTHeDXNA07Yk75Xulco8HtwO+u0jRsmxdBZvK0Oy5vbLgaXb9+J+C9df1ovXwsPutVkl/W1fB%0ApjKM9vvw8MLQXVd8+x1PVsV3uwew3fjg3hV2L3QoW1fBpi5nJN690ANsa62Stq6CzZSd8qqtq2BT%0A+tqBtq6CTcU/VbyXv0OJ4n3MJ4qvYn66g/VnKti6Cjb10pUlxXvH9z4bXbm3XR9ITgv/yS6Xt63u%0AxMjWNK1Pnvc2A43yFjQ/tDtfh3/m52fk7ezvyVuUmwXMyvNeOPCwxeu+txqmadoNoGg93VQIIYQQ%0AQgghhBBCCCGE3TEW44uA/wtbPRNDCCGEEEIIIYQQQgghhBDijgr9Toy8d0EIIYQQQgjx/+zdd3gU%0A1RrA4d/sJiGQEEhv9KYoJZSABJAamoIVKVIFlBYxNJFeRRFBpEtRrKBYQOm9Qwi9SychvQGpJLtz%0A/9glySbBS0t2A997H5+bnTmz+33M2TOzc+acEUIIIYQQQggh8mKu6aSEEEIIIYQQQgghhBBCiGeG%0ATCb1aGQ6KSGEEEIIIYQQQgghhBBCWCTpxBBCCCGEEEIIIYQQQgghhEWSTgwhhBBCCCGEEEIIIYQQ%0AQlgkeSaGEEIIIYQQQgghhBBCCJHP9OYOoJCSkRhCCCGEEEIIIYQQQgghhLBI0okhhBBCCCGEEEII%0AIYQQQgiLJNNJCSGEEEIIIYQQQgghhBD5TI9q7hAKJRmJIYQQQgghhBBCCCGEEEIIiySdGEIIIYQQ%0AQgghhBBCCCGEsEgynZQQQgghhBBCCCGEEEIIkc9kMqlHIyMxhBBCCCGEEEIIIYQQQghhkWQkxhPm%0ATRFzh2A2NxVzR2BeWnTmDsGsnuUHE924HWXuEMyqjl0Zc4dgVmlkmDsEs3rFPtrcIZhV/K1i5g7B%0AbLYrenOHYFYltUXNHYJZJWWkmDsEs1p3pYq5QzCbth8vN3cIZqVonu38Xf5aZu4QzEpNuWPuEISZ%0AqKlJ5g7BrJSixc0dgll515lq7hCEeOZJJ4YQQgghxCN4ljswhBBCCCGEEEI8vGf7VrBHJ9NJCSGE%0AEEIIIYQQQgghhBDCIkknhhBCCCGEEEIIIYQQQgghLJJMJyWEEEIIIYQQQgghhBBC5DP1GX6m7OOQ%0AkRhCCCGEEEIIIYQQQgghhLBI0okhhBBCCCGEEEIIIYQQQgiLJJ0YQgghhBBCCCGEEEIIIYSwSPJM%0ADCGEEEIIIYQQQgghhBAin+nNHUAhJSMxhBBCCCGEEEIIIYQQQghhkaQTQwghhBBCCCGEEEIIIYQQ%0AFkmmkxJCCCGEEEIIIYQQQggh8pke1dwhFEoyEkMIIYQQQgghhBBCCCGEEBZJOjGEEEIIIYQQQggh%0AhBBCCGGRZDopIYQQQgghhBBCCCGEECKfyWRSj0Y6MQqJyk1q0G58DzRaDUdW7WD3wr9N1per9zzt%0AxnfH/fky/BowlzMbggAo3+AF2o3rllnOpaIXvwbM49zm4AKN/1FUa+JD1/HvodFq2L1qG+sX/mmy%0A3srGin6zPqRstQokJtxh4eBZxIZGo7XS0vvzAZR9sQIaKy37/9jJugWGbVv1eZWXO7VEVVVCL9xg%0A2Yh5ZKSlmyO9/6tmk1r0mtAXjVbD9pVbWLPwD5P1VjZWDJr1ERWqV+RO/B3mDJ5JdGgUrqXcmLVt%0ALmGXwwC4eOwCS8csAqDBqw15Y3BHNFoNR7cF8/Nn3xd4Xg/Cp0ktek/oh0arYdvKLfy18HeT9VY2%0AVgTMCszMffbgLzJz/2rbPMIu3wTg32P/smTMQsM21lb0mfw+L7xUDVWv8svMHzm04UCB5/YoZs+a%0ATNs2zUlOSaFPn0COHT9tsr5oUVtW/fINFSqWRafTsW7dFkaPmQ5A40b1+fLLSdSoXpWu3Qbyxx/r%0AzJHCQ8mP/T9mxQRKujmitdJyLugsy8YtRq/XF3hu/2XQ5IHUb+5LWkoaMwJncvH0pVxlKlevzMjZ%0Awylia8Oh7YeZP34BAMVLFmfcgjG4l3YnMiSSyQOmkngrkRZvNKfzwHdAUUhJTOarT+Zy5dwVAIbP%0AHMpLLV8iISaBvi3fL9BcH1SxRnVx+aQ/aLXcXr2BhKW/5lnOzr8RnnPGEdJxMGlnLmLl5U6Zf5aQ%0Afi0UgNQT54me9HVBhv7YHJrWoszkPigaDdG/bCVivukxwLV7a9x6tgW9Hl1SKtdGLiD1YiiKtRVl%0AP++PXY1KoOq5MX4Zdw6cMVMWDyZg8kDqN69Hakoanwd+kWfdr1K9Mh/PHmGs+0HMzVb3xy8Yg0dp%0ADyJCIphkrPs1G9Rg6rLJRIREALBnw16+/+pHAN7u+yavdGmLqqpcOX+Nz4d9QboFnAv4NKlN7wl9%0A0Wi1bFu5+T/avkokxt9mlknbNz+z7bt47ALfjFmIja0NwxZ+jEcZT/R6PcFbg/jpc8s87udl0vRR%0ANPNvTEpKKsMGjeX0yXO5yowYE8BbnTtQooQDVcvUz1zed2APunR/k4wMHXExcQwPGM/N0PCCDP+R%0AeTetwUuTuqPRarjwy05Ozjc956/Wry1VujRF1elIjb3DnmHfkHgzFgA7L2caf9EXOy8nVBU29/iC%0AxNAYc6TxRBSp70uJjwaDVkvy3+tI/OEXk/VF27XGYVB/9NGGHJN+/5Pkv9ebI9R8UaS+Lw5DBoNG%0AS/I/60j6MUf+bVtTfGB/9DFZ+af88/Tkn9PYT2exe18QTo4l+evHReYOJ1/sDTrO5wu+RafX82bb%0AFvTt8rrJ+rDIaMbPXEhcwm1KFLdn+icBeLg6E3T8NDMWrsgsd/VGGDPGDqFFw3oFncIje5ZzB9h7%0A5BSff/Mzer2eN1u9TJ+Or5isD4uKYfxXy4m/fYcS9nZ8Ovx9PFycAPDp8B6Vy5YCwMPVmbnjhxR4%0A/I9rb9AxPp9v3P/tWtC3yxsm68Mioxn/xXzD/newZ/onQ/BwdQZg1uIf2H3oCHpVpUGdGowa9B6K%0AopgjjUfm1KwmVab2QtFqCPtpO9fnrjFZ792jJaXea42qM5z3nx/+DUn/3sS2tCsv7ZlFsvHaz60j%0AF7kwcqk5UhCiQEgnhpGiKCWBrqqqLjB3LDkpGoX2k3vzbbfp3I6Ipf/aqZzbcpToSzczyySExfD7%0A8EU06veqybZXD5xlfrvRABQtYUfgrtlc2n2yQON/FIpGQ/fJ/ZjZbTJxEbGMX/s5x7ccJuxSaGaZ%0Axu+0IOlWIqOaDqZe+4a8M6o7CwfPwrddA6xsrBnXZig2tjZM2zqHg2v3okvX0bJXO8a0/Ij0tLsM%0AmDeM+u0bsW/1DjNmmjdFo+G9KR8w7d0JxEbEMn3tFwRvDeLmxaz8m3fyJ+lWIkOaDMCvfSO6jurB%0AnMEzAYi8HsHH7QJN3tO+ZHG6je7FqFeHcSfuNgO//JBqDWtwep9l1QeNRkOfKR8w5d0JxEXEMn3t%0ATIK3BhF6MSSzTPNO/iTeSiSgSX/82jem26iezB78BQAR1yMYkSN3gDcHd+RW7C2GNBuIoijYl7Qv%0AsJweR9s2zalcqTzPv9CI+vVqM3/edPwatc9VbtbsRezctR9ra2u2bFpFm9bN2LhpBzdCbtKnbyBD%0AA/ubIfqHl1/7f9agGaQkpgAwbNHHvPRKQ/b/vadgknoA9Zr7Uqq8Nz0a9aZq7ecZMv1DBrf/MFe5%0Aj6YHMGvkbM4dPc/0H6ZRr5kvQTsO02VQJ47uO8bK+avoPKgTXQZ1Ysmnywi/EUHg28NJvJVIvWa+%0ADJ3xUeb7bvptC2u+W8vHX40s6HQfjEaD69hB3Oz7CRmRMZReNZekHQdJv3zDpJhSrCglu79O6gnT%0AC5zpIeGEvDmwICN+cjQayk57n3+7TORueCwvrJ9BwuYgUrMdA2L/3E30D5sAKOnvS5kJvfm32xRc%0Au/oDcKblR1g5l6DKj+M4224EqJZ5v0/95vXwLu9Nt0a9qFq7KoHTP2RgnnX/Q2aOnM25o+f4LFvd%0A72qs+7/MX0WXQZ3oOqgz33xq+PF2KugUo3uNM3kfFw9n3nzvdXo178vd1LtMWDiW5h2asem3zQWS%0A7/1oNBr6TvmAye+OJy4ils/Wfpmr7WthPO4HNPmAhjnavsjrEYxo91Gu9137zV+cOXAKK2srJvw8%0AhVpNa3Ns59ECy+tRNWvZmHIVy/Jy3VeoVbcG074cy2v+7+Yqt3XTLlYs/YVdh0076M+cPMcrzTuT%0AmpJKt97vMHrSUAb1GVFQ4T8yRaPgN7UnG7t+RlJ4HB3WTebG5iMkXAzLLBN75hpr2o1Dl3qX57u3%0AwHdMF3YMnAdAkzn9Of71GsL2nMaqWBFUvWV+7x+IRkOJ4UOIHTICXVQ0rssWkbpnPxnXrpsUS922%0Ag1uzClcn9QPRaHAYOoS4QEP+LksXkbY3j/y37+D27Kcw/zy83s6frm91YPSUmeYOJV/odHqmzV3G%0AN5+PxcPVmc6DPqGZX10qGi9OA8xc/APt/V/mtVZNOXTsNHOW/cz0UQHU86nG6sWG48Gt24m06xmA%0AX52a5krloT3LuYMh/08X/sA3U4fj7uxEl8DJNK3vQ8Uy3pllvly2ivYt/HitRSMOnTjL1ytW8+kw%0Aw01IRWxs+G3uZHOF/9h0Oh3Tvl7KNzPG4+HqROeBo2jWoC4Vy5XOLDNz0Qra+zfltdZNOXTsFHOW%0A/sT0Tz7k+JnzHDtznt+XfAlAjyHjCD5xBl+fauZK5+FpFJ777D2OvTONtLBYfDdNJ2ZTMEn/Zl3v%0Ai/hjHze/3wqAS+s6VJ7Ug+NdDDctplyPJKjFx2YJXYiC9lQ+E0NRFO19lv9Xp01JwCKvdpTyqUTs%0A9UjiQ6LQpes49fcBqraqY1ImITSGyPMhqOr97yx+sV19Lu48QXrq3fwO+bFV8KlE1PUIokMi0aVn%0AEPT3Xmq18jUpU7tVPfb9vhOA4PUHqOpXHTAMyypS1BaNVoO1rQ0ZdzNIvWO4eKnVarGxtUGj1WBT%0A1IaEyLiCTOuBVfKpTOS1cKKM+e//ey++/vVNytT1r8eu3w0dMAfX76dawxr/+Z7uZdwJvxbOnbjb%0AAJzae5L6bRvkTwKPoZJPZSKuRRAVEklGegb7/t5DXX/TO2l8/euz6/ftABxcv+//5g7Q7J2W/Dl/%0ANQCqqnIn/s6TDz4ftG/fmh9+MsR9KOgoJUqWwMPDzaRMSkoqO3ftByA9PZ2jx07h7e0JwPXroZw6%0Adc7iRh3cT37t/3sdGForLVbWVhZ3QbdhKz82r94CwLmj57F3sMPJzcmkjJObE8Xs7Th39DwAm1dv%0AoWFrPwD8WjVg82+G7Tf/lrX87JGzJN5KNPx99Byuni6Z73fq0CluJ1ju98C2+nOk3wgjIzQC0jNI%0A3LAT++a52yznD3sSv/RX1DTLP7Y9KLtalUm7Fk7ajUjU9Azi1uzFsbXp90BvrNMAmmJFMqu0bZXS%0A3Nl3CoCM2FvobidhV7NSgcX+sBq2asDm1YYfZeeOnsPOwT7Pum9nX4xzRw0dVZtXb6VRZt33Y5Ox%0A7m/KVvf/i9ZKSxHbImi0GooULUJsZOyTTOmRGNq+cJO2L+dx39e/PjuNbd+B9fuo3vC/L9LcTb3L%0AmQPGupCewZXTl3H2cPnPbSxFq3bN+H3lWgCOBZ/EwaE4bu65Yz8WfJKoyNwjDQ7sPUxqSmpmGU8v%0A9/wN+Alx9anI7WuR3LkRjT5dx5U1BymT45w/fP85dMZz+eijl7DzNHxfSlb2MtzBuccwWjMjOS2z%0AXGFk/cLzZISGoQsLh4wMUrZux7ZxQ3OHVWCsqz6PLkf+RRo9O/nnpa5PdUo4FDd3GPnm1IVLlPHy%0AoLSXO9bWVrRt6seOfYdNyly5Hkp948XZej4vsmN/7tkVNu8+SCPfWhS1LVIgcT8Jz3LuAKf/vUIZ%0ATzdKebhhbW1Fm5frsePgMZMyV0LCqF+jKgD1alTNtb4wO3X+EmW87+1/a9o2a8iO/Xns/1r39n+1%0AbOsV0u6mk56Rwd30DDJ0GTg7lizgDB6PQ+1KpFyNJPV6FGq6jsi/9uPSxvTaly7beb+2WBFUC/st%0AKx6eHtWi/7NUj9yJoShKN0VRghRFOa4oymJFUbSKoiQqivKFoihnFEXZqihKPUVRdiqKckVRlA7G%0A7XopirLGuPyioigT8njvNoqi/JbtdVNFUf4x/r1QUZRg42dMylbmmqIonyuKchTomG15L0VR1iqK%0Ash3YpiiKvaIo2xRFOaooyilFUV4zFv0MqGjM5wvjtiMURTmsKMrJ7J9V0BzcHbkVlvUD+3Z4HA7u%0ATv+xRd5qtG/AybX7n2Ro+cbR3Ym4sKwfpXHhcTi6O5uUKZmtjF6nJ+VOMvaOxQlef4C0lFS+ClrK%0Al/sXs3HJWpJuJZIQGcfGJWuZuX8RXwUtJeVOMmf2nCjQvB6Uk4cTseFZ+ceGx+Lo4ZS7TLb8k+8k%0AU9zRcGLvWtqdz9bPYsKqqTzv+wIAEdfC8arghWspNzRaDb6t6+PsaXkXM5w8nE1yjwuPxdnDOUcZ%0AJ2JMck/KzN2ttDsz1s9m0qppmbkXc7ADoPPwd/l83SyGLhhJCZcSBZHOY/P28iA0JOsOzJuh4Xh7%0Aedy3fIkSDrz6ij/bd+wtiPCeuPzY//eM+X4iS49+T2pSCgfXW1Zb6OLhTHRYdObr6PAYXHLk7eLh%0ATHR4VpmYbGUcXRyJizJ0ysZFxeHo4pjrM9p2bkPQjsO5llsqrbsz6RFZ+WZExKB1M22zilSthJWH%0AK8m7g3Jtb+3tQenf5+O94gts6xSiu7EAGw8n7mY7Bt4Nj8U6R30AcOvZlur7FlJ6bE9ujDeMPkg5%0Ae5WSreqBVoNNaTeKVa+IjVfubS2Fi4cLUWFRma8N9dolV5nobO1CdHh0ZhmnHHXfKVvdf6HOCyzd%0AvIjPfphGuSplDe8fEcuvi1ez6tBP/H50FUl3kgjefSTf8ntQTh7OxJgc92NwytX2Of9n2/fF+q+Y%0AtOpTquZo+8BwHKzbsh4n91nmeU9OHp5uhN+MyHwdERaJh6fbf2xxf526vcmOrYXjmFjM05Gk8Kwb%0AbJIj4rDzzN2e31OlSxNCdxj2aYkKnty9nUyLJUN4feNUfMd2QdEUruk0stO6uqCLzGobdNHRaF1z%0An7faNn0Z1++X4jhtIho314IMMV9pXV3QRWXlr79f/k1exuW7pZSc8nTl/yyKionDwy2r3Xd3dSYy%0A1vSGuyoVyrJ1r+GcZ9veIJKSU0i4ZXpDysad+2jXvHB1eD3LuQNExsbj7pr1W9/dxYmo2HiTMlXK%0Al2brfsP5yrYDR0hKSSXhtuFGpbt30+n80STeHTaF7Qcsf7RlTlExcXhka9/cXZ2JjMmx/yuWY+ue%0AQwBs23soc//7vPgc9XxepHnHfjR/px8N6/pQIdsInsLA1sOJ1GzX+9LCYinikfvYX6p3KxocmkOl%0Ace/y75jvMpcXLeNKva2fUfvPCZSs/3xBhCyE2TxSJ4aiKFWBTkBDVVV9AB3wLmAHbFdV9UXgDjAV%0A8AfeALKPb6sHvAXUADoqilI3x0dsBeorimJnfN0JWGn8e4yqqnWN2zZRFCX7LbixqqrWVlV1JaZq%0AA2+rqtoESAXeUFW1NtAM+FIxTJg3CrisqqqPqqojFEVpBVQ2xuoD1FEU5eWH/KeyGPauJXF/rjQX%0AC8FUUo+rfM1K6HV6Auv3Y0TjAbTu2x7X0u4Uc7Cjlr8vIxsPJLB+P4oUs6XB64V2l95XfFQcgxr0%0AY1S7oXw/5VsCvh5KUfuiJN1OYumYxQyZN5xJqz8lOjQKva5w3J3/oOKj4hjQoC8j2wWyYspyhnw9%0AjKL2RdFqNbh4uXDhyHk+fmUo/x49T48xvc0d7hOn1Wr56Yf5zJu/nKtXb/z/DZ4y99v/90zrMZH3%0AfXthZWNNNePIradVzrtzfPxq0rZzG5ZMe4rmSFUUXD5+n5gZ3+RalREdx7UW3Qh5axAxny/GfcYo%0AFLtiZggyf0Wt2MCphgMImfY9XkMM929Er9zG3fAYXtwwkzKT+pAYfB71KWvr/8u9un/x1CU613+X%0Avq368+e3a5iyzHAvin0Je/xaNaBLg+68XacztkVtaflmC3OG/Njio+Lo36API9p9xIopy3K1fRqt%0AhsC5w1n/7T9EAMqJiwAAIABJREFUhUSaMdKC90bHV6lR6wUWz/3W3KE8cRXfbIhLjQqcXGSYSkux%0A0uBR7zmCpvzMmlfGU7yMK5XfefrOc7NL3XuAyLe6EN2jL2lBR3AcN8rcIRWo1H0HiOrYhZhefbkb%0AfISSY56t/J9Fwz/oTvDJs3T8YCTBJ8/i5uKERpt1SSc6Np6LV2/gV7dwTaf0IJ7l3AGGvdeJI6cv%0A8M6HEwg+dQE3Z0c0GkP+G5fPZOVXE/h8xAfMWPIzIeFR/+fdCp/hH/Qg+OQZOn4wnOATWfv/xs1w%0Arty4ydZVi9m2ajGHjp3myMmz5g43X4R+u5kD9YdwaerPlA98E4C0yHj21h5EUMtRXJzwPS8uDECb%0A7RxQiKfNoz4TowVQBzhsfGBOUSAKuAtsNJY5BaSpqpquKMopoFy27beoqhoLoCjKH0AjIHM8oKqq%0AGYqibATaK4qyGngFuDdp9zuKorxvjN0TeAG4d2V+1X3i3aKq6r2uXAX41NghoQe8gbzGmLcy/ndv%0AnJ49hk6N3TkLGuN5H6Ctky+1iz/ZaRtuR8ZTIttdlA6eTtx+yGmQqr/6Emc3BaPP0D3R2PJLfGQc%0ATl5ZvfFOnk7E55juIcFYJj4iDo1WQ9HixUiMv8NLrzXm1K7j6DJ03Im9zaUj5ylXoyKqqhIdEpU5%0AndKRjQepVOc5DvyVa5eaXVxEnMkoCWdPZ+Ij4nKX8XIhLiIWjVZDseLFMqdISrxr+P+rpy8TeT0C%0Az/JeXDl1maPbDnN0m+FO7BZdWllkJ0ZcRKxJ7k6ezsRGxOYoE4eLSe52uXK/cvoykdfD8SzvzZVT%0Al0hNTs18kPeBdftp3sm/gDJ6eAP696RPH8Pc38HBxylV2itznXcpT26GReS53aKFM7h46Spfzy28%0AF6rza//fk56WzuHNQfi2qs/Jvea9I/m1nu1p17UdABdOXMDVK+sOSldPF2Jy5B0TEYurZ1YZl2xl%0A4mPicXJzMtyJ7uZEQmxCZrkKVcszbEYgn3QfY9HTR+Wki4zF2iMrXysPF3RRWXeqa+yKYlO5HN4r%0AZgCgdXHCc/4kwgdNIO3MRfS3DA9qTjt7iYyQMGzKeZN25mLBJvGI7kbEYZPtGGjj6Ux6xP2nPIpb%0As5ey0z8wvNDpCZmYdcG26prppF4Ju8+W5vF6zw68Yqz7509cwM3LDTA8fNxQr02nB4qJiDGZCs3V%0A0zWzTFyOuh9vrPvJicmZ5Q9tD+KjaQE4ODpQy8+HiJAIbsXdAgwP/K5W5wW2/rEt3/J9EHERsbiY%0AHPcNbVyuMg/U9kXgVd6by8a2r/9ngwm/Gsa65WsLKJtH06NPZ7r0eAuAk8dO4+mdNerQw8udiIe8%0AKNOoyUsMHtaPd17tzd275n9w+4NIDo/PnB4KoJiHE0nh8bnKeTV6EZ+ADqx7exr6uxkAJIXHEXv2%0AOnduGEaw3dh0BNdalYBdBRL7k6aLjkHrnjX6Ruvqii7atG1Qb9/O/Dv573U4DHq/wOLLb7roGLRu%0AWflrHiD/4gOenvyfRW4uTkREZbX7kdGxuDs75Srz1cThACSnpLJlzyEc7O0y12/adYDmDethbVW4%0AHn36LOcO4O7sSGR01m/9yJg43JxN78R3c3Zk9pgAwJD/1v1HcLA33KDjbhyFWsrDjbrVn+fc5euU%0AfsTRi+bg5uJERLb2LTI6FneXPPb/JMMlweSUFLbsOYiDvR2/r9tKjaqVKVbUcOG+Ub1anDj7L3Vq%0A5B6VaqlSI+KwzXa9r4iXM2kRuY/990T+uZ/nP+8LgHo3g4y7hhE5d05eJeVaJMUqenLnxJX8DVo8%0ANsu7Elc4POp0UgqwwjhqwUdV1edUVZ0IpKtZt3/qgTQA1fCghuxHk5wTbOU14dZK4B2gORCsquod%0ARVHKA8OBFqqq1gDWAbbZtkm6T7zZl78LuAJ1jKNIInO8R/Ycp2fLsZKqqsvyenNVVb9RVbWuqqp1%0An3QHBsDNE5dxLueBYylXtNZaqrdvwPktDzf1QY0ODTj5t2VNn/Jfrp64hFs5T1xKuaG1tqJe+0Yc%0A22I67+WxLYdp+FZTAOq2a8C5/YY5gOPCYqjqZ5g6xKZoESrUqkL45ZvEhcVQsVYVbGxtAHihYXWT%0AB4VbkssnLuJR3hPX0ob8/do3IniL6XQpwVuDaPJWMwBeaufHmf2Gea+LOzmgGO/KcCvtjmd5TyJv%0AGO68dHA2TKFk52BHq+5t2b5yS0Gl9MAunbiIZ3lP3Eq7YWVtRcP2je+Te3MAXmrXkNP7Df2YDk4O%0AmXekGHL3IuqG4YL/ka2HebGBoV5Ub1jD5GGplmbhohXU9W1FXd9WrF27ie7vvg1A/Xq1uX3rNhER%0AuS/kTJ40khIlijN0WK4Z+gqV/Nj/tsVsKelmOLnXaDXUaV6Xm5fN/91fs+JvPmg9gA9aD2Dfxv20%0AetvQsVa19vMk3UnKnCLnnrioOJITk6ha2zBMuNXb/uzbbGjX9285SKuOhu1bdfRn/2ZDh52blysT%0Al4xn+pAZhF69SWGSevoC1mW9sfJ2B2sr7Ns2JWnHwcz1+sRkrjZ8h+v+Pbnu35O0E+cyOzA0jiXA%0AWBesSnlgXdab9NC8O/8sUdLxixQp74lNaTcUayucXmtE/GbTqcCKlPfM/LtEyzqkXQ0HQGNrg6ao%0AYS5oh8Y1UTN0Jg8EtwR/rVhLv9b96de6P/s27qPV2y0BqFq76n3rflJiMlVrG+aCbvV2S/YZ6/j+%0ALQdobaz7rTv6s9/4nXB0zfrx/7zPcygaDbfjbxMVFsULtapSxDhfdu1Gtbh+yfwj1wxtnxdupd0z%0A277DWw6ZlAneGkRTY9vX4D/aPo/yXkQaj32dh79LseLF+HaS5Xduf79sJW2bdKRtk45sWredtzp3%0AAKBW3RrcuZ2Y57Mv7ufF6s8zfdZ4+nQNIDbGMp9/lpfoE1dwKO+BfWlXNNZaKrz2Eje2mE4N4vxi%0AWRp+9h5b3ptFamzWReyY41ewcSiGrZNhijFPvxdJuFi42v3s0s+dx6qUN1pPD7CyomjL5qTuNf0t%0Ao8l2kdO2kR8Z18z/XX5S0s+fR1vaNP+0fffPv0gjPzKuPz35P4uqPVeR6zfDCQ2PIj09gw0799PU%0Az3TCivhbtzOfc7f0lz95o00zk/UbthfO6ZSe5dwBXqxSnuthUYRGRJOensHG3UE0rV/LpEz8rTtZ%0A+f+2jjf8GwNwOzGJu+npmWWOn71IxTJeFCbVnq9k3P+RpKens2HHPpr6mT4TwmT///wnb7QxnA95%0AurkQfPIsGTod6RkZHDl5hgplCtd0UneOXaZYBQ9sy7iiWGtxf92PmE2m176Kls+6scPFvxbJVwzn%0A/dbOxcE4daRtWTeKVvAk5fqzNepWPFsetZt6G7BGUZTZqqpGKYriBDzMU7b8jdukAK8D7+VRZhew%0AHOhH1lRSDhg6JG4piuIOtAV2PmTsJYAo4wiRZkBZ4/I7OXLYBExRFOUnVVUTFUXxxtBJU+Bj8/Q6%0APf+M/46e349Co9Vw5NedRF28SYvAt7l56grntx7Fu0YFui4OpGgJO55vUZvmgW8zt5Whp7pkKRdK%0AeDpz7eC5gg79kel1en4av5Rh349Do9Ww59fthF0M4fXAzlw7dYnjW4PZ/es23p/1IZ/tnEdSQiKL%0AAmYDsO37jfT5YhBTN38FCuz9bQeh568DELzhABPXzUSXoePGmavs+sXyLuKDIf/l45cw+vsJaLRa%0Adv66ldCLIXQc2oUrJy9xZOthdqzayuDZHzFn10ISE+4wZ/CXAFSt/yLvDO2CLl2HqupZMnoRScYH%0A+/aa0IeyL5QH4Pc5qwi/all354Ih92Xjv2HM9xPRaDXs+HUboRdD6DS0K5dPXiJ4axDbV20hYHYg%0Ac3ctIjHhDrMHzwQMuXca2hVdegZ6VeWb0QszH2r842crCJgdSK/xfbkdd4sFw782Z5oPbP2GbbRp%0A05wL5/aRnJJC375DM9cFH95MXd9WeHt7MvqTIZw7f5HDQZsAWLDgW5Z/+wt169Rk9W/LcHQswauv%0A+DNh/DBq+jQ3Vzr/V37s/xIuJfh46RisbaxRNApnDpxi848b/08kBevQ9iDqN6/HD3u/IzU1jS+G%0Azsxct3jTQj5oPQCAOaPnMnLWCIrY2hC08zBB2w0XtlfOW8m4RWNp27kNkaGRTBkwDYDugd1wKOnA%0AkE8Nd27pMnQMfGUwAGPmfULNBjUo4VSClYd/YsWXP7BhpQX9u+j0RE+bj9eSTw0XoP/czN1L13Ea%0A3IPUM/+SnK1DI6eidavjFNADMjJQ9XqiJn2N/lbhGYWCTs+NsUt47ucJoNEQs2obqf+G4DW8C8kn%0ALpGw5TDuvdrh0LgGaoaOjFuJXPnI0KZZuZSgys8TQK9yNyKWKx/OMXMy/+3g9iDqN6/Pj3tXkJaa%0AxufZ6v6STYvo17o/AF+NnsuoWcOxsS1C0M7DHNpu6Nz8Zd5KJiwaR7vObYkMjWTSgKkANHnlZV7r%0A/io6nY601LtMGWj4Tpw7dp5d6/fwzcYF6DJ0XDxzmX9+Wl/AWeem1+lZOn4xY41t33bjcT9727dt%0A1RY+nD2UubsWG9u+LwBD29d56LtkpGegqirfjF5A4q1EnDyceTugE6GXQpixznCOtPH7dWyzwBsY%0Actq+ZQ/N/F9mz5H1pKSkMnzw2Mx1G3b9RtsmhunTRk8M5LW3X6FoMVsOnd7Kyh9+Z/bnCxkzaRjF%0A7Iqx8FvDuVFYaDh93v3QLLk8DFWn58C4FbT5aSSKRsO/q3aR8O9Nag9/i5gTV7mx5Si+Y7tgbWdL%0A80WGfBJvxrL1vVmoepWgKb/QdtUnoCjEnLzKhZ93mDmjx6DTc2vW1zjPngFaDcn/bCDj6jWK9+3N%0A3fMXSNu7H7uOb2LbqCHodOhv3yZh2mfmjvrJ0em5PetrnGbNAI2GlHWG/O379Cb9/AXS9u3H7u03%0ADQ/7fhrzz8OICZ9x+NhJEhJu0+L1bgzs05232rc2d1hPjJVWy+iA9+g/aho6vZ432jSjUrnSzPtu%0AFS9WqUgzv7ocPnGWOct+RkGhTo2qjAnok7n9zYgoIqJjqFuI7kC/51nOHYz593+XAeO/RKfX87p/%0AYyqV9Wb+j3/yQuVyNKtfi8OnzvP1itUoikLtalUYM6A7YHjg9+R5K9AoGvSqnvc6vkLFMt5mzujh%0AGPZ/X/p/PNWw/9s2N+z/b1fy4nMVaebny+HjZ5iz7Cfj/n+BMR8aRiL4v/wSh46d5s2+Q1FQaOjr%0Ak6sDzNKpOj0XPllOrZWjQash/JedJF0IpcLIjtw+cYWYTUco3ac1jo2rG8/7kzj74QIASr5UlQoj%0A30HN0KHqVS6MXEJGwv3u7Rai8FMe9an2iqJ0Aj7BMJojHRgEbFVV1d64fiKQqKrqTOPrRFVV7RVF%0A6YWh46IEUAr4UVXVScYy64G+qqqGGV/PA3oBbqqqJhuXfQf4ASHALWCtqqrfKYpyDairqmqM8SHi%0AdVVVHW/8vLqqqg42bu8C/I1heqhg4CWgraqq1xRF+RnDszY2GJ+LMQToa0w5Eeimqurl//p3GVuu%0Aq+U+xj2f3TQMvHlmJauFY6qu/KLPc0DVs+HP8OD/X+gp9oZn4TpRfNLidCnmDsGsFjsU3gfHPq74%0AW0/fczYexkgl0dwhmJWz9tmeczjozlVzh2BWE4o9nfOuP4i2ZQrvCI8nQXnUuQyeEi5/5Tk5wTND%0ATSlEN0WIJ0pNfbYvDitFH+a+5afPnjpTzR2CWbWIXPXs/ujLB33LvW3RF9CWXlttkfv7kScMVFV1%0AFbmfQWGfbf3EHOXts70MVVX19Tzes12O14OBwTmW9bpPPOWy/b0WWGv8+zvgu2zrYoAG93mPrjle%0AzwEs+xZGIYQQQgghhBBCCCGEEOIp9YzfRyKEEEIIIYQQQgghhBBCCEv1yCMxHlXOkRFCCCGEEEII%0AIYQQQgghhBB5KfBODCGEEEIIIYQQQgghhBDiWaM3dwCFlEwnJYQQQgghhBBCCCGEEEIIiySdGEII%0AIYQQQgghhBBCCCGEsEgynZQQQgghhBBCCCGEEEIIkc9UVHOHUCjJSAwhhBBCCCGEEEIIIYQQQlgk%0A6cQQQgghhBBCCCGEEEIIIYRFkumkhBBCCCGEEEIIIYQQQoh8pjd3AIWUjMQQQgghhBBCCCGEEEII%0AIYRFkk4MIYQQQgghhBBCCCGEEEJYJJlOSgghhBBCCCGEEEIIIYTIZ3pVNXcIhZKMxBBCCCGEEEII%0AIYQQQgghhEWSTgwhhBBCCCGEEEIIIYQQQlgkmU7qCbNSFXOHYDaK8uzmLsBa+kSFeCYpz/BX38kx%0AmZg4O3OHYT5y2BfPMHvdszsNgE1xvblDMCv12U4fNeWOuUMwK6VocXOHIMxF+2xfPlOsbMwdglnZ%0AKjpzhyCeIs/uWeTjeYYvPQghhBBCPLpnugNDCCGEEEIIIYQoINKJIYQQQgghhBBCCCGEEEIIiySd%0AGEIIIYQQQgghhBBCCCGEsEjP9qR+QgghhBBCCCGEEEIIIUQB0MtTMR6JjMQQQgghhBBCCCGEEEII%0AIYRFkk4MIYQQQgghhBBCCCGEEEJYJJlOSgghhBBCCCGEEEIIIYTIZ6pMJ/VIZCSGEEIIIYQQQggh%0AhBBCCCEsknRiCCGEEEIIIYQQQgghhBDCIsl0UkIIIYQQQgghhBBCCCFEPtObO4BCSkZiCCGEEEII%0AIYQQQgghhBDCIkknhhBCCCGEEEIIIYQQQgghLJJMJyWEEEIIIYQQQgghhBBC5DM9qrlDKJRkJIYQ%0AQgghhBBCCCGEEEIIISySjMQoJCo1qUGbCd3RaDUcXbmTvQv/Nllftt7ztJnQDffny7A6YB5n1wdl%0ArvP/pAuVm/ugaBSu7DnNhonfF3T4j61aEx+6ju+NotWwZ9U21i/8y2S9lY0VfWcFULZaBZISElk4%0AeBaxodFora3o+en7lKteEVVV+XnSt1w4eMZMWTycmk1q0WtCXzRaDdtXbmHNwj9M1lvZWDFo1kdU%0AqF6RO/F3mDN4JtGhUbiWcmPWtrmEXQ4D4OKxCywdswhbO1sm/TY9c3snT2f2/rmLFZOXFWheD6JG%0Ak1r0mNAHjVbDjpVb+TuP3AfMGkL56hVJjL/D14NnEhMaTcPXX+aV91/PLFemalnGvDKM62ev8c6I%0Ad2n8ZlPsStjx3gtdCzqlxzJ71mTatmlOckoKffoEcuz4aZP1RYvasuqXb6hQsSw6nY5167Yweoxh%0AXzduVJ8vv5xEjepV6dptIH/8sc4cKTwUnya16D2hHxqthm0rt/DXwt9N1lvZWBEwKzCz7s8e/EVm%0A3f9q2zzCLt8E4N9j/7JkzEIAxqyYQEk3R7RWWs4FnWXZuMXo9Zb1OK1BkwdSv7kvaSlpzAicycXT%0Al3KVqVy9MiNnD6eIrQ2Hth9m/vgFABQvWZxxC8bgXtqdyJBIJg+YSuKtxMztnqtZhblr5jB10Kfs%0AXrcnc3kx+2Is37GEfZv2M3fs/PxP8iEVbVgXl1H9UbRabv++gYRlv+ZZzq5lIzy+Gkdop8GknbkI%0AgE2V8riO/xCNvR2qXs/NzgGod9MLMvzHUqJpLcpOeQ9FoyHql62Ez/vTZL1b91a492qLqtejT0rl%0A6oiFpFwMRbG2ovyM/tjVqIiqV7k+fhl3Dlj2cS9g8kDqN69Hakoanwd+kWfdr1K9Mh/PHmGs+0HM%0AzVb3xy8Yg0dpDyJCIphkrPud+nek5RstANBqNZSpXIY3anbEtqgtn8wZiaOLI6gq//y8nt+X/Znr%0A88zBp0ltek/oi0arZdvKzf/R9lUiMf42s4xt3z0uXi7M3jqf3776hbXf/IVXBW8C543IXO9exoNV%0As35m3fK1BZbT45g0fRTN/BuTkpLKsEFjOX3yXK4yI8YE8FbnDpQo4UDVMvUzl/cd2IMu3d8kI0NH%0AXEwcwwPGczM0vCDDf2QezWpQa3J3FK2GKz/v5Pw803P+Kh+0pULXZqgZOtJibxM0dAnJoTEA1BjT%0AGa+WPgCcmf0XIWsPFnT4j826bj3s+gegaDWkblhHyq8/m6wv4t8Gu74D0MdGA5Cy9k/SNq5D4+aO%0Aw/ipoFHAyorUNX+Quq5w1PXsrOvWw35gAIpGQ8qGdaSsypF/qzbY98uW/5o/Sd1gzH/iVBSNAlor%0AUtb8Qeo/hS//vUHH+XzBt+j0et5s24K+XV43WR8WGc34mQuJS7hNieL2TP8kAA9XZ4KOn2bGwhWZ%0A5a7eCGPG2CG0aFivoFPIN2M/ncXufUE4OZbkrx8XmTucAve057836Cifz1uOTqfnzVda0rfrmybr%0AwyKiGD9jPnG3jHV/zBA8XF0AmLXoe3YfPIJe1dOgTk1GBfRBURRzpPHI9h46wmdzvkGn1/PWq63o%0A262jyfqwiCjGTf/K8N13sOezccPxcDPmv/Bbdh84DMAHPTvTtsXLBR7/4yrZzIcKU3qDVkPkT9u4%0AOc/0epdHj1Z49G6NqjOc918asZiUf0NxfbMxXgM7ZJaze6EsJ/xHknTmWgFnIETBKHQjMRRFqaso%0AytdP4H36K4rSI4/l5RRFOZ3XNuaiaBTaTenFTz1nML/lSKp1aIBrZW+TMrfCYvhr2GJOrdlvsrx0%0AncqUrluFha1HscD/Y7xqVqDcS1ULMPrHp2g0dJvcl9m9pjHWP5D6HRrhVamUSZnG77Qg6VYSnzQN%0AYPOyf+g4qhsATTq3BGB8m2HM7DaZTmN6FIoDuqLR8N6UD5jeczJDWwbQsENjvCub5ty8kz9JtxIZ%0A0mQA65etpeuorOoceT2Cj9sF8nG7QJaOMZzkpSalZi77uF0gMTejCdp4oEDzehCKRkPvKe8zo+cU%0ARrT8EL8OjXLl3rRTS5JuJTG0yUA2LPubLsbc9/21m9HthjK63VAWBn5FdEgU189eA+Do1sOMe21k%0AQafz2Nq2aU7lSuV5/oVGDBjwMfPnTc+z3KzZi6hWvQl1fVvj18CXNq2bAXAj5CZ9+gbyy8q/8tzO%0A0mg0GvpM+YBpPScR2HIwDTs0plTl0iZlmnfyJ/FWIgFN+vPPsrV0G9Uzc13E9QhGtAtkRLvAzA4M%0AgFmDZjCi7UcM9Q/AwdmBl15pWGA5PYh6zX0pVd6bHo16M+vjrxgy/cM8y300PYBZI2fTo1FvSpX3%0Apl4zXwC6DOrE0X3H6Nm4N0f3HaPLoE6Z22g0GvqN7kvw7iO53q/3iJ6cPHQqf5J6XBoNrmMHET5g%0ALDc69MO+XTOsK5TJVUwpVpQS3V4n9US2C5xaDW6fjSR6ylxCXn+fsN4jUDN0BRj8Y9JoKPdpPy68%0AO5WTTYfg/FpjiuZoB2P/3MOpFoGc9h9G2IK/KDOxNwBu7xqOe6daBHK+8yTKTugFFnzcq9+8Ht7l%0AvenWqBdffvwVgfet+x8yc+RsujXqhXe2ut/VWPe7N+7F0X3H6DqoMwCrFv1Gv9b96de6P0s+W86J%0Agye5k3AHnU7HwsmL6d28LwM7fMhrPTtQtnLuelXQNBoNfTPbvkE06vByrravhfG4H9Dkg1xtH0DP%0AcX04vvNo5uuwKzcZ0e4jRrT7iI9fHUpaShqHNlnecT8vzVo2plzFsrxc9xVGBU5i2pdj8yy3ddMu%0AOrTskmv5mZPneKV5Z1o3fot1a7cwetLQ/A75iVA0CnU+7cXud2ewsclIyr7eAIcqpuf8Caeus6XN%0AWDa1+ISQf4KoOdaQv2cLHxyrl2NTy9FsaTeB5we0w8q+qDnSeHQaDfaDPuL22JHE9+tJkWYt0JYp%0Am6tY2u7tJAzsS8LAvqRtNNycoY+LJSFwoGH5hwMo+k5XNE7OBZ3B49FoKB7wEbdGjySub09s75f/%0Aru3E9+9LfP++pG7Ilv+QgYblAQMo1qkrGufClb9Op2fa3GUs+HQ0a5bNZsOOfVy+HmpSZubiH2jv%0A/zJ/LJlJ/+5vM2eZoZOnnk81Vi/+gtWLv2DZFxOwtbXBr05Nc6SRb15v58+iWVPNHYbZPM3563Q6%0Aps1ZwoLPxrLmuzls2LaHy9dCTMrMXLSC9q2a8sey2fTv8Q5zlvwEwPHT5zl2+hy/L5vFn8u/4vSF%0ASwSfsOybV3LS6XRMnbWQhTMnsfaHBazfuovLV2+YlJk5fxkd2rTgzxXzGNCrC18tNnRa7tp/mLP/%0AXmb18rn8vHgW3638k8SkZHOk8eg0GipM78uZrtM49nIgrm80omgV0/P+6D/2cLzZME60HMHN+Wso%0AP7Fn5vITLUdwouUILg6eS+qNKOnAKCRUC/+fpSpUnRiKolipqhqsqmrev3Afgqqqi1RVLRRDErx9%0AKhJ3LZL4kGh06TpO/32Q5/zrmJRJCI0h8nwIqt60sqmqilURa7TWVljZWKO10pIYc6sgw39sFXwq%0AEXU9guiQKHTpGRz6ex8+rXxNytRq5cv+33cCELz+AFX9qgPgVbkU5/Yb+qTuxN4m+XYy5WpULND4%0AH0Uln8pEXgsnKiQSXXoG+//ei69/fZMydf3rsev3HQAcXL+fag1rPPD7e5b3wsG5BOeCzj7RuJ+E%0AnLkf+HsvdfxN76Kq61+PPcbcD90nd78OjTnw997M15eO/UtCVHz+Bp8P2rdvzQ8/rQbgUNBRSpQs%0AgYeHm0mZlJRUdu4ydGCmp6dz9NgpvL09Abh+PZRTp85Z3KiD+6nkU5mIaxFEhUSSkZ7Bvr/3UDfH%0A/vf1r8+u37cDcHD9vgeq+ymJKQBorbRYWVuBalkH5oat/Ni8egsA546ex97BDic3J5MyTm5OFLO3%0A49zR8wBsXr2Fhq39APBr1YDNvxm23/xb1nKA13u/xp71e0iISTB5v8rVK+Po4siRXbk7NyxBkerP%0AkX4jjIzQCMjIIHHDTuyaN8hVzimgJwnLf0W9ezdzWTG/Otz99yp3L1wBQH/rDhSS7wCAfa1KpF4L%0AJ+1GJGp6BnFr9uLY2vR7oDPWaQBtsSKZdbpoldLc3mvomMqIvUXGrSTsalruca9hqwZsXr0VgHNH%0Az2HnYJ/uwxekAAAgAElEQVRn3bezL8a5o4aOqs2rt9Ios+77sclY9zflqPv3tHi9GdvXGI4ZcVFx%0AmSM9UpJSuHHxBi4eLvmT3EMwtH3hJm1fzuO+r399dhrbvgPr91G9YdYFOt9W9YkKiSTkX9Mf/fdU%0Ab1iDyBsRxNyMzr8knqBW7Zrx+0rDXeTHgk/i4FAcN/fc++lY8EmiImNyLT+w9zCpKamZZTy93PM3%0A4CfEqVZF7lyLJOlGNPp0HTfWHMS7tek5f9T+s+hSDO1d7NFLFPM0fF8cqngTfeg8qk6PLiWNhLMh%0AeDZ78HNDS2D1XFV0YTfRR4RDRgZpO7dj06DRg22ckQHphtF2irU1aArVz1wgd/6pO7dj4/fs5H/q%0AwiXKeHlQ2ssda2sr2jb1Y8e+wyZlrlwPpb5PNQDq+bzIjv3Bud5n8+6DNPKtRVHbIgUSd0Gp61Od%0AEg7FzR2G2TzN+Z86f4kyXp6U9vLA2tqats0bsWNfkEmZK9dCqV/bcI2jXq1qWesVhbS76aRnZHA3%0APYOMDB3OjiULOoXHcurcv5TxzpZ/i5fZvtd0JOHlayHUq204ptWrXYMdxvWXr92gbs0XsbLSUqyo%0ALVUqlmPvIcv8bXM/xWtVIvVqBGk3olDTM4j+ax9OrU2vd2U/79cUy7ttc3mjETF/7cvXWIUwtwc6%0Au1EUpYeiKCcVRTmhKMoPxtEK243LtimKUsZY7jtFUb5WFGW/oihXFEV527jcU1GU3YqiHFcU5bSi%0AKI3z+IydiqLMyVamnnH5RONn7gN+UBSlqaIo/xjX2SuK8q2iKKeMsbxlXN5KUZQDiqIcVRTlN0VR%0A7PP4vImKogw3/l3HmNsJYFC2MoGKoiw3/l3dGFexh/snfnwOHk7cDo/NfH07PA4HD8cH2jb06CWu%0AHTjL8MPzGXZ4Ppd2nyTmUlh+hZovSro7EReW9QM1PjwWR3en+5bR6/Sk3EnG3rE4Ieeu4dPSF41W%0Ag0spN8pVr4CTp+XfleTk4URseFbOseGxOHo45S6TLefkO8kUdzSc2LmWduez9bOYsGoqz/u+kOv9%0A/do34sA/e3MttwSOOXKPC4/FycM5Rxnn++Z+z0vtG7F/zR4KO28vD0JDsr6zN0PD8fbyuG/5EiUc%0AePUVf7bvsMz9+/84eTjn2v/OOfa/k4cTMSb7Pylz/7uVdmfG+tlMWjUtV90f8/1Elh79ntSkFA6u%0ANx21Zm4uHs5Eh2VdXIwOj8ElR94uHs5Eh2eViclWxtHFkbioOMBwkdbRxTFzm0ZtG7L2+39M3ktR%0AFPqPf59FU7/Jl3yeBCs3ZzIisvLNiIzBys30IqZN1UpYebiSvNv0h5512VKgqngunkapX+dRsrfp%0AkHRLZ+PhzN2wrOP+3fBYrD2dcpVz79WGmvsXUHpsD66NM0wNmHTmGiVb+YJWQ5HSbtjVqIiNl/kv%0A0t+Pi4cLUWFZUyIZ6rVLrjLR2dqF6PDozDJOOeq+k4vp+VER2yL4Nq3L7vW520T3Uu5UqlaJc8fO%0AP7F8HpWThzMxJsf9mFzHPicP5zzbPttitrw+4C1++2rlfd+/YYeX2bt2d/4Enw88PN0IvxmR+Toi%0ALBIPT7f/2OL+OnV7kx1bC8cxsaiHEyk3s777yeFxFP2Pc/4KXZoSvuMEAAlnb+DZtCbaojbYONnj%0A1vAFinlZ/jlvdhpnF/TRWe2BPiYajUvu9qtIwyaUXLic4mMnoXF1zdre1ZWSC5fj9ONvpPz6M/q4%0A2FzbWjKNiwu6HPlr88jfplETHBcvx2Fc7vwdFy/H+effSF71M/rYwpV/VEwcHm5Zddbd1ZnI2DiT%0AMlUqlGXrXsMxf9veIJKSU0i4dcekzMad+2jX3LJG3ArxX6JiYnPX/Zgcdb9iObbuNly437bnUGbd%0A93nxOerVqkbzt/rQ/O0+NPT1oUJZ07v4LV1UdCweblltmburC1Expu3Xc5XKs3W34ffb1t0HjPnf%0A5rlK5dl76CgpqanEJ9zi8NGTREQVjhs27rHxdOJututdd8NjKZLHeb9H7zbUPjiPcuO6c2VM7inB%0AXV7zI+avwnG+I8Sj+r+dGIqivAiMBZqrqloTGALMBVaoqloD+AnIPr2TJ9AIeBX4zLisK7BJVVUf%0AoCZw/D4fV8xYZiCwPNvyF4CWqqrmHC8+Drilqmp1YyzbFUVxMcbbUlXV2kAw8P/GkH8LBBjzy24O%0AUElRlDeMZT5QVTXX2DRFUd5XFCVYUZTgI4m553E2J6ey7rhU8mLWSwHMqj+Y8n4vUsb3OXOHVWD2%0A/Lqd+IhYxv/9OV0m9ObSkQuF5o70RxUfFcegBv0Y1W4o30/5loCvh1I0x3QCfh0as+8puMB/PxV9%0AKpOWkkbofe5IfVpptVp++mE+8+Yv5+rVZyt3MNT9AQ36MrJdICumLGfI18NM6v60HhN537cXVjbW%0AVDOO1npaqca78gdOHMCST5dmvr6nQ8/2BG0PMrloWugoCi4j3yf2izw6Yqy02NaqRuTHn3OzxzDs%0AWvhRtL5PwceYzyK/28gJv4GETPsB7yFvAxC9cht3w2OptvELyk5+j8Tg84VqFMrjylnX/fxf4vTh%0AM9xJML3IZVvMlsnfjGf+xIUkJxayaQdyeCewC/8sXUNqcmqe662srajbsh4H1j17d+e90fFVatR6%0AgcVzvzV3KE9c2bca4lSzAucXGDqpI3edImz7cVqsnUiDBYOJPXIR9Sn87t89uJ+4np1IGPAe6UeD%0AsR8+OnOdPjqahAHvEd+7K0X826CUfLCbvgqTuwf2E9e9E/EfvMfdo8EUH2Gaf/wH7xHXqyu2T2n+%0Awz/oTvDJs3T8YCTBJ8/i5uKERpt1SSM6Np6LV2/gV/fpmkpKiOEDehJ88gwd+w0j+MSZzLp/42Y4%0AV66HsvW3JWz7bQmHjp3iyEnLm23hcQ0f9B7Bx0/z9nsfEnz8FO6uzmg0GhrWq03jBnXpNmAEIyZ9%0AQc1qz6PVaM0dbr6I+HYjR18azLWpP1I68G2Tdfa1KqNPSSP5fMh9thaWRm/h/1mqB3mwd3PgN1VV%0AYwBUVY1TFKUBcO9JQz8AM7KV/0tVVT1wVlGUe2O3DwPLFUWxNq6/XyfGL8bP2K0oioOiKPfGwa1V%0AVTUlj/Itgc73XqiqGq8oyqsYOj32GZ99YAPcdwJg42eUVFX13u1pPwBtje+nVxSlF3ASWKyqap6/%0A/lRV/Qb4BmBi2Xef+BwltyPicMg2esDB04nbEQ82Lc7zbeoSeuwSd5PTALi04wSla1fmxuELTzrM%0AfJMQGYdTtrtIHT2diY+My7NMfEQc/2PvvsOjKN4Ajn/nLgkJAQJpJPQuNfQWgvSqYEGlqCACKkhU%0AqgpIs2BByo9eBRtgoyggEEJvCb1I7yGkE0hC6t3+/rgzySWhCCR3gffzPD5edmf35uXmZud2dmZ0%0Aeh1OhQsSf8N0w2L5p0vS0436/XPCL9j+wo4xYTG4eWfE7Obtxo2wmOxpSrgTExaNTq+jYOGCxJlj%0Ajk8x/f/i8fOEXw7Du3wJLhw7D0DZauXQ6XVcPH4+j6L5b25kid3V242YsOgsaaLvGDtA0y5+7FmT%0AfztpBr7Th379XgVg//7DlCpdIn1fyVLeXAsNy/G4uXO+5uy5i/xvxsI8yWduiAmLzvb5R2f5/GPC%0AYnC3+Pyds5X9C8fPE375Ot7lS3LhWEbncmpyKsEbg2jYvjFHdx7Jg4ju7Lk+XejcqzMAp4+cxqNE%0AxhNIHt7uRGWJOyosGg/vjDTumdLciLqBq6er6Ul0T1dio01TR1XxqcKYWaYbHC6uLjRq3QhDmoHq%0A9atTq1FNuvbugpOzE3b2diQmJLJw0mJsRVpENHZeGfHaFXcnLSKj00Xn7IRDpXKU+M7UBNG7u+I1%0AYwJh/uMwhEeSdOAYxthbANzeEUyB6pVI3Hen5odtSQmLxiHTE9QO3m6kXo+5Y/roVTspN+kt0x8G%0AI1fGZ9ywrb7mC5LO29YIzOf7dOUZc9k/deQ0niU8AdP8zaZybdm5FhUWhUemesHD2yM9TUyWsn8j%0A2nLatFbPtUyfSupfejs9E+ePI2BlIDvW28YTazFh0bhbXPfds137YsKic6z7KtepQpNOvrz+8Rs4%0AF3HGqGmkJKfy91LTXPl1W9bn4vHz3MwypZyt6d2vBz17dwPg6KHjeJfMGHXoVaI4Ydcj7nRojvxa%0ANGHwsAG88mxfUlJSH2lec0tiWAxOJTO++wW9XUnMoc1fvHkNqr//HIEvfIYxJS19+8npqzk5fTUA%0ATWa9S9x522/zZmaMjkLnkTHiRufugTHKsj7Q4m6lv076ey0F+7+T/Twx0RguXcS+pg8pO7flXoYf%0AMWNUFPos8RvuFv/6tTgPyCH+6GjSLl3EvpYPKTvyT/ye7q6ERWTUe+GR0RR3c82WZtr44QDcTkxi%0A0459FCnknL5/w7Y9tG7WCHu7+7nNIYRt8HR3y1723XMo+xM/BOB2YiKbtu+hSCFnfv9rEz7Vq1DQ%0AyfTgll+jehw5cZr6PtlnY7BVnh5uFqMnwiOj8HS3HEno6e7G9M9HA3D7diIB23ZTpLBpwpW3e3fn%0A7d6m9QBHTviGspl+O+cHKddjLEZNO3i7kXyXdn/Uql1U/GqAxTaP55sRtfLJe1hFPHlyY7LM5Eyv%0AFZg6JYCngWvAkpwW1DbL2gHw798J/+H9FbBJ07Q65v+qa5rW7z8cn1VlIB6wWk0YeuQCbuW9KFra%0AA729nppdmnB60/3N83fzWjTlGldDp9ehs9NTtklVIs9dy+UcP1oXj5yjeDlv3Et5ore3o3GXZhze%0AZDk/6uFN+/Ht1hKABp2bcsq8DoaDowMOTqY5A6v7+WBIMxB6znKBOFt0/shZvMp741HaFLNvFz/2%0Ab7KcLmV/QBAtupkWb27S2ZcTu01zoBd2LYIyz4PrWbo43uW9Cb8Snn6cb9fm7LbhG/xZY2/axY8D%0AWT7vAwHBNDfH3jhT7GCaJqfJs83Ys8Y2bkw9iDlzl9KgYXsaNGzPmjUbeP1V05MWjRvV49bNW4SF%0AZb+RM3HCSFxcCjN02Li8zu4jde7IWbzLe+NZ2hM7ezuadWl+h7LfGoAmnZtxfPdRAIq4FkFnUfZL%0AEHElDMeCjhT1ND2NqNPrqN+6AdfOW78eWL30T97uMJC3Owxk19+7af9SOwCq1atKQlxC+hQ5/4qJ%0AiOF2fALV6lUFoP1L7di10TSsevemvbR/2XR8+5fbsXujqe/+Nd/evNrU9N/2tTv43+gZ7Nqwm0n+%0AX9Kr8Wu82rQ38z6dz6bfA2yqAwMg+fhp7MuUxK5kcbCzo1CnliRsyZgf1xh/m0vNX+FKhz5c6dCH%0A5KMnCfMfR/KJs9zedQCHyuVQjgVAr8OxgQ8p5/PP6KT4w+dwLO9NgdKeKHs7XJ/z48ZGy3qwQHnv%0A9NdF29Yn6aLpZqXOyQGd+bpX5OnaaGkGEs9av7xntmrpmvRFt3f9vYv2L5kWI69Wr9ody35C/G2q%0A1asGQPuX2rLLXMZ3b9pDB3PZ7/ByO3ZvzJgqzrlwQWo38WFXlsWsR04exuVzV/h1we+5FuN/Zar7%0ASuBZunh63Re8aZ9Fmv0BQbQ0131NM9V9n7z8MYP8BjDIbwBrF//Jylm/pndgAPh1bZ4vppL6ftFy%0AOrV4mU4tXmbD2kC69egKQN0GPsTdis9x7Ys7qVGrKpOmjKVfL3+io+58I8DWxBy+QOHyXjiX9kBn%0Ar6fMc024tsGyzV+0ZlkafN2PHX2+JTk644a20ikciplu6LhUK03R6qUJ23aM/CTt9Cn0JUuhK+4F%0AdnYUaNmalL2WN2WUa8aNPYcmzTBcuQyYbvjj4GBKU6gQ9jVqYQjJX0+kpsfvZYrfsWVrUvZYxq/L%0AHH/Tu8RfsxaGq/kr/ppPVeTyteuEXI8gNTWN9Vt309K3gUWaGzdvpY+qX7hsJS90bGWxf32gTCUl%0A8p+aVSuZy344qamprA/cSUtfyzURLMr+T3/wQqc2AHh7urP/yD+kGQykpqVx4MiJfDedVM2qVbgS%0AEkpIaJgp/s3baeVnuS7Yjdib6fEv+PFXXuhsavsZDAZib5quhafPXeTM+Yv4NqyXtwE8pLjD53Cq%0A4E2BMqZ2v8fzzYjJ0u53LJ/xYEextvVIupjpoUalcOvalEiZSko8Ae7nEYVAYKVSaoqmadFKKVdg%0AN6YRED8ArwJ3vSOqlCoLhGiatkApVQCoB+S0qHZ3YItSyg/TNFE3zaMp7mQTpjUsPjC/TzFgLzBL%0AKVVJ07RzSilnoKSmaWdyOoGmabFKqVillJ+maTvN8fybbxdMU2U9DcxUSr2kadpvd8tQbjAajKwb%0Au4TXv/8Qpddx6JdtRJ69Rquh3Qg9epHTAQcp4VOBHvOH4OhSkCpt69JySDdmt/uQf9bto7xvdQZu%0A/BI0OLftCGc2H8rrEB6K0WDkx7ELGfr9GHR6HTt/CST0bAjPD+nOpWPnORywn+2/bGbAlPeYtHUG%0ACbHxzPOfCkBhdxeGLR2DUdOIDYth4dD/3ePdbIPRYGTx2AWM+n4cOr2erb8EEHL2Ki8P7cmFo+c4%0AEBDMlhUBDJ76AdO3zSE+No7pg78FoFrjGrwytCeGVAOaZmTBqLkk3IxPP3fTZ5vx5RufWiu0ezIa%0AjCwZu4CPvh+HTq9j6y+buXb2Ki+ZYz8YEMzWFQEMmvoBU7bNJiE2nhnm2AGqNq5OdGgUEVfDLc7b%0A8+Pe+D7XHAenAszYu4CtywP4fdqKvA7vP1u3fjMdO7bm9Mld3E5MpH//jNnx9gdvpEHD9pQs6c2o%0Aj9/n5KmzBAdtAGD27O9Y/N0yGtSvzW+/LqJYMReefaYd48YOo3ad1tYK556MBiOLxs5n9Pfj0el1%0AbPllMyFnr9J9aC/OHz3H/oAgAldswn/qEGZsm0t8bBxTB08GTGW/+9BeGFLTMGoa80fNIf5mPC7u%0ALny4cDT2DvYoneLEnmNs/PFvK0dqaV9gEI1bN+KHnUtISkrmm6GT0/fN2zCHtzsMBGD6qBmMnDKC%0AAo4OBG0NJijQ1MBdPnM5n8wdQ6ceHQkPCefTgZ9bJY5HymAk6otZeM/7AqXXcWvlRlLPX6bYu71J%0APnGG21v33vFQ4614Yr//g1LLZ4CmkbAjKNu6GTbNYOTS6IU89fNYlF5H5PLNJJ65SskRPUg4cp7Y%0AjcF49e1EkeY+aGkGDLHxXHh/BgB2bi5UXTYWjBopYdGc97ft697ewCAat27MjzuXkpyUzFeZyv6C%0ADXMZ0MH0lPG0UTP4aMpwHBwLELQ1mH2Bps9z2czljJv7CZ17dCI8JJwJAz9LP96vox/7tx1IX+AZ%0AoGbDGrR/qR3nT15gwYa5ACz8anH6+azFaDCycOw8xpjrvkDzdT9z3bd5xSbemzqUGdvmmeu+b+55%0A3gJOBfBpXod5o2bnQRSPTuCmHbRq9zQ7DqwjMTGJ4YPHpO9bv+1XOrUwrXMzavwQnnvpGZwKOrLv%0AeADLf/idqV/NYfSEYRR0Lsic70ztg9CQ6/R79T2rxPJfaAYjB0ctocUyU5v/wvJt3DpzjZojuhFz%0A5CKhGw9S+5Ne2Dk74jv/fQBuX4ti5xtTUPZ2tF41FoC0uET2Dp6DZrDlCQFyYDQQP2saLl9MBp2O%0ApI3rMFy+RMHeb5J25hQpe3fj9Fw3HJo2A4MBY1wc8d+aZi/WlylLkQGDMD0Dp7j92woMly5YNZz/%0AzGggfuY0XCZNRul0JG0wx9/HHP+e3Tg9bxl/3DcZ8bu8PQg0DZQi8df8F7+dXs8o/zd556PPMRiN%0AvNCxFZXKlWbmkhXUqFKRVr4NCD7yD9MX/YxCUd+nGqP9M55VvBYWQVhkFA3y0RPo/8WIcV8SfOgo%0AsbG3aPP8awzq9zrdunSwdrbyzOMcv51ez6j3+vPOyImmst+pDZXKl2Hm4mXUeKoirZo1IvjwcaYv%0A+AmloL5PdUa/bxqB265FU/YdOsaLb36AUopmDetm6wCxdXZ2ekYNeYe3h401xf9MOyqVL8vMhT9S%0Ao2plWvk1JvjQMabNX2r67teuyZihpt9GaWkGer9rGqFSyLkgX34yHDu7fDadlMHIhVELqbFsDOh1%0ARCwLJPF0CGVGdif+8HliNu7H+81OFH3aB2NqGoabCZx5b0b64UWaViclNJrkK/9txKoQ+ZHKOndw%0AjomU6gOMAAzAIWAcpjUi3IFIoK+maVeUUkuAv/690a+Uitc0rVCm41MxjWrorWnaRaXUQmCupmn7%0AlVJbMa2V0QKwB97UNC1IKTUeiNc0bbL5nC2B4ZqmPWtesHsWUN+ctwmapv2hlGoNfAUUMIcwRtO0%0ANUqpicB+8+v08yql6mNag0MDNgKdNU2raV7U+7Cmaf9TSpUGtgC+mqbdsXbIjemk8osrKvneiR5j%0ACVravRM9xvTctcPxsfbL9Xx0czQXvODd4N6JHmMxhpxmO3xyzC/65H73o2Kc753oMfaRLu7eiR5j%0Abnqneyd6jAXFXbR2FqzqmwI+1s6C1bTxsa3RXXlNy2d9Q4+ay2Lb7hzPbcqpsLWzIKxES3my2/zK%0AzsHaWbCqIJ+PrZ0Fq2oW9tuT+6MvF7xQpotN3zteeeVPm/y872uySE3TlgJLs2zO9iivpmlvZPm7%0A0F2OR9O0/lk2/ahp2gdZ0ozP8vdWYKv5dTzQJ4fzBgLZup81TRub03k1TTuAacHxf400b38zU5qr%0AQKWs5xRCCCGEEEIIIYQQQgghRO7IjTUxhBBCCCGEEEIIIYQQQgghHtp9jcTIC5qmtbR2HoQQQggh%0AhBBCCCGEEEKI3GDEpmeTslkyEkMIIYQQQgghhBBCCCGEEDZJOjGEEEIIIYQQQgghhBBCCGGTbGY6%0AKSGEEEIIIYQQQgghhBDicWW0dgbyKRmJIYQQQgghhBBCCCGEEEIImySdGEIIIYQQQgghhBBCCCGE%0AsEkynZQQQgghhBBCCCGEEEIIkcs0NGtnIV+SkRhCCCGEEEIIIYQQQgghhLBJ0okhhBBCCCGEEEII%0AIYQQQgibJNNJCSGEEEIIIYQQQgghhBC5zCjTST0QGYkhhBBCCCGEEEIIIYQQQgibJJ0YQgghhBBC%0ACCGEEEIIIYSwSdKJIYQQQgjxANxdE6ydBSGEEEIIIYQQ4rEna2IIIYQQQjyAqBhna2dBCCGEEEII%0AIUQ+ommyJsaDkJEYQgghhBBCCCGEEEIIIYSwSdKJIYQQQgghhBBCCCGEEEIImyTTSQkhhBBCCCGE%0AEEIIIYQQucxo7QzkUzISQwghhBBCCCGEEEIIIYQQNkk6MYQQQgghhBBCCCGEEEIIYZNkOikhhBBC%0ACCGEEEIIIYQQIpdpaNbOQr4kIzGEEEIIIYQQQgghhBBCCGGTpBNDCCGEEEIIIYQQQgghhBD3pJTq%0AqJQ6rZQ6p5T6KIf9BZRSK8z79ymlyj3se8p0UkIIIYQQQgghhBBCCCFELjPm8+mklFJ6YBbQDggB%0AgpVSazRN+ydTsn7ADU3TKimlegBfAd0f5n1lJIYQQgghhBBCCCGEEEIIIe6lEXBO07QLmqalAMuB%0A57KkeQ5Yan79G9BGKaUe5k2lE0MIIYQQQgghhBBCCCGEEPdSEria6e8Q87Yc02ialgbcBNwe5k1l%0AOikhhBBCCCGEEEIIIYQQIpdpmm1PJ6WUegt4K9Om+ZqmzbdWfv4lnRhCCCGEEEIIIYQQQgghxBPO%0A3GFxt06La0DpTH+XMm/LKU2IUsoOcAGiHyZfMp2UEEIIIYQQQgghhBBCCCHuJRiorJQqr5RyAHoA%0Aa7KkWQP0Mb9+CQjUHnIIiozEyCcqtfCh47jX0el1HFy+lZ1z/rTYX7ZRVTqOe43iVcvwm/9M/lkX%0AlL6v3cc9qdy6DkqnuLDjOOvHf5/X2X9oNVvUodfYvii9jh0rNrNuziqL/XYOdvSf4k/ZmhVIiI1n%0AzuApRIdEore3o88Xb1GuVkU0TePnCd9xeu8JK0Xx39RuUZc3xvVHp9cRuHwTq+f8YbHfzsGOd6d8%0AQIVaFYm7Ecf0wZOJDInAo5QnUzbPIPR8KABnD51m4ei5ODo7MuHXSenHu3q7sXPlNpZOXJSncd0P%0AnxZ16T2uHzq9ji3LA/gzh9gHTnmf8rUqEn8jjv8NnkxUSCTNnn+aZ956Pj1dmWplGf3MMC7/c4lX%0ARrxK8xdb4uzizJvVe+V1SA9l6pSJdOrYmtuJifTrN4RDh49b7HdycmTFsvlUqFgWg8HA2rWbGDXa%0A9Fk392vMt99OwKdWNXq9Nog//lhrjRD+kzot6tJ33AB0eh2bl29i1ZzfLfbbOdjhP2VIetmfOvib%0A9LI/bfNMQs+bHgA4c+gMC0bPAWD00nEU9SyG3k7PyaB/WPTJPIxGY57HdjfvThxE49YNSU5M5ush%0Akzl7/Fy2NJVrVWbk1OEUcHRgX2Aws8bOBqBw0cJ8Mns0xUsXJ/xqOBMHfkb8zfj0456qXYUZq6fz%0A2btfsH3tjvTtBQsVZPGWBezasJsZY2blfpD/kVOzBrh/9A5Kr+fW7+uJXfRLjumc2/rhNe0TQroP%0AJvnEWQAcqpTHY+x76Ao5oxmNXOvhj5aSmpfZfyguLetS9tM3UTodEcsCuD5zpcV+z9fbU/yNTmhG%0AI8aEJC6OmEPi2RCUvR3lv34HZ5+KaEaNy2MXEbfHtq97/hMH0bh1I5ISk/lqyDc5lv0qtSrz4dQR%0A5rIfxIxMZX/s7NF4lfYi7GoYE8xlv/s7L9P2hTYA6PU6ylQuwwu1X8bRyZGPp4+kmHsx0DT++nkd%0Avy9ame39rKFOi3r0HdcfnV7P5uUb71L3VSL+xi2mmOu+f7mXcGdqwCx+nbaMNfNXUaJCSYbMHJG+%0Av3gZL1ZM+Zm1i7P+vrBNEyZ9RKt2zUlMTGLYu2M4fvRktjQjRvvTrUdXXFyKUK1M4/Tt/Qf1pufr%0AL5KWZiAmKobh/mO5FnI9L7P/wLxa+VB34usovY4LP2/l1EzLNn+VtztRoVcrtDQDydG3CBq6gNsh%0AUZC4KJoAACAASURBVAD4jO5BibZ1ADgxdRVX1+zN6+w/NPsGjXB+xx+l15G0fi2Jv/xssb9Au444%0A9x+IMToSgMQ1K0n+ey06z+IUGfsZ6BTY2ZG0+g+S1uaPsp6ZfYNGFBrkj9LpSFy/lsQVWeJv35FC%0AAzLFv3olSevN8Y//DKVToLcjcfUfJP2V/+LfGXSYr2Z/h8Fo5MVObejf83mL/aHhkYydPIeY2Fu4%0AFC7EpI/98fJwI+jwcb6eszQ93cUroXw95n3aNGuU1yHkmjFfTGH7riBcixVl1Y9zrZ2dPPe4x78z%0A6CBfzVyMwWDkxWfa0r/Xixb7Q8MiGPv1LGJumsv+6Pfx8nAHYMrc79m+9wBGzUjT+rX5yL8fD7l2%0Abp7bue8AX06fj8FopNuz7en/2ssW+0PDIvhk0jTTd79IIb78ZDhenub453zH9j3BALzdpwed2jyd%0A5/l/WEVb1aHCp31BryP8p81cm2l5v8urd3u8+nZAM5ja/edGzCPxTAgeLzanxKCu6emcq5flSLuR%0AJJy4lMcRiCeNpmlpSqnBwAZADyzWNO2EUmoisF/TtDXAIuAHpdQ5IAZTR8dDeexHYiilmiulTiil%0ADiulnDJtn6iUaptD+pZKqb/yNpd3p3SKzp++wU99vmZW25HU7NoUj8qW66XcDI1i1bB5HFu922J7%0A6fqVKd2gCnM6fMTsdh9SonYFyjWploe5f3hKp+O1if2Z+sbnjGk3hMZd/ShRqZRFmuavtCHhZgIf%0At/Rn46K/ePmj1wBo0cP0EY/tOIzJr02k++je+eKCrnQ63vz0bSb1mcjQtv4069qckpUtY27dvR0J%0AN+N5v8VA1i1aQ6+PeqfvC78cxoedh/Bh5yEsHG1q5CUlJKVv+7DzEKKuRRL09548jet+KJ2Ovp++%0Axdd9PmVE2/fw7eqXLfaW3duScDOBoS0GsX7Rn/Q0x75r1XZGdR7KqM5DmTNkGpFXI7j8zyUADgYE%0A88lzI/M6nIfWqWNrKlcqT9Xqfgwc+CGzZk7KMd2UqXOpWasFDRp2wLdpQzp2aAXAlavX6Nd/CMuW%0Ar8rxOFuj0+no9+nbfN5nAkPaDqZZ1+aUqlzaIk3r7u2IvxmPf4t3+GvRGl77qE/6vrDLYYzoPIQR%0AnYekd2AATHn3a0Z0+oCh7fwp4laEJs80y7OY7kej1g0pVb4kvf36MuXDabw/6b0c030wyZ8pI6fS%0A268vpcqXpFGrhgD0fLc7B3cdok/zvhzcdYie73ZPP0an0zFgVH/2bz+Q7Xx9R/Th6L5juRPUw9Lp%0A8BjzLtcHjuFK1wEU6twK+wplsiVTBZ1wee15ko5kusGp1+H55UgiP53B1effIrTvCLQ0Qx5m/iHp%0AdJT7YgCnX/2Moy3fx+255jhlqQejV+7gWJshHG83jNDZqygzvi8Anq+arnvH2gzhVI8JlB33Btjw%0Ada9x60aULF+S1/ze4NsPpzHkjmX/PSaPnMprfm9QMlPZ72Uu+683f4ODuw7R611T23jF3F8Z0OEd%0ABnR4hwVfLubI3qPExcZhMBiYM3EefVv3Z1DX93iuT1fKVs5ervKaTqejf3rd9y5+XZ/OVve1MV/3%0A/Vu8na3uA+jzST8Obz2Y/nfohWuM6PwBIzp/wIfPDiU5MZl9G2zvup+TVm2bU65iWZ5u8AwfDZnA%0A59+OyTFdwIZtdG3bM9v2E0dP8kzrHnRo3o21azYxasLQ3M7yI6F0ivpfvMH2V7/m7xYjKft8U4pU%0AsWzzxx67zKaOY9jQ5mOu/hVE7TGm+L3b1KFYrXJsaDuKTZ3HUXVgZ+wKOeX0NrZLp6PQux9wa8xI%0AbgzoQ4FWbdCXKZstWfL2QGIH9Sd2UH+S/zY9nGGMiSZ2yCDT9vcG4vRKL3SuD7V2ZN7T6Sjs/wE3%0AR40kpn8fHO8U/7ZAbrzTnxvv9Cdpfab43x9k2u4/kILde6Fzy1/xGwxGPp+xiNlfjGL1oqms37KL%0A85dDLNJMnvcDXdo9zR8LJvPO6y8xfZGpk6dRnZr8Nu8bfpv3DYu+GYejowO+9WtbI4xc83zndsyd%0A8pm1s2E1j3P8BoOBz6cvYPaXY1i9ZDrrN+/g/KWrFmkmz11Kl/Yt+WPRVN7p/QrTF/wEwOHjpzh0%0A/CS/L5rCysXTOH76HPuP2PbDK1kZDAY+mzKHOZMnsOaH2awL2Mb5i1cs0kyetYiuHduwculMBr7R%0Ak2nzTJ2W23YH88+Z8/y2eAY/z5vCkuUriU+4bY0wHpxOR4VJ/TnR63MOPT0Ejxf8cKpi2e6P/GMH%0Ah1sN40jbEVybtZry4/ukbz/SdgRH2o7g7OAZJF2JkA6MfMKIZtP/3Q9N09ZpmlZF07SKmqZ9bt42%0A1tyBgaZpSZqmvaxpWiVN0xppmnbhYf/dHvtODOBVYJKmaXU0TUv8d6P5HzbAivm6byXrVCTmUjg3%0ArkZiSDVw/M+9PNWuvkWa2JAowk9dRTNaFjZN07ArYI/e3g47B3v0dnrio27mZfYfWoU6lYi4HEbk%0A1QgMqWns+3MXddo3tEhTt31Ddv++FYD96/ZQzbcWACUql+LkbtNT63HRt7h96zblfCrmaf4fRKU6%0AlQm/dJ2Iq+EYUtPY/edOGrZrbJGmQbtGbPt9CwB71+2mZjOf+z6/d/kSFHFz4WTQP480349C1tj3%0A/LmT+u0sn6Jq0K4RO8yx77tD7L5dm7Pnz53pf587dIbYiBu5m/lc0KVLB3746TcA9gUdxKWoC15e%0AnhZpEhOT2LrN1IGZmprKwUPHKFnSG4DLl0M4duykzY06uJNKdSoTdimMiKvhpKWmsevPHTTI8vk3%0AbNeYbb8HArB33a77KvuJ8abqX2+nx87eDmxsIa1m7X3Z+NsmAE4ePEWhIs64erpapHH1dKVgIWdO%0AHjwFwMbfNtGsgy8Avu2bsvFX0/Ebf83YDvB83+fYsW4HsVGxFuerXKsyxdyLcWBb9s4NW1Cg1lOk%0AXgklLSQM0tKIX78V59ZNs6Vz9e9D7OJf0FJS0rcV9K1PypmLpJw2tZOMN+Mgn3wHAArVrUTSpesk%0AXwlHS00jZvVOinWw/B4Y4tObNOgLFkgv005VSnNrp6ljKi36Jmk3E3CubbvXvWbtm7LxN1Nz7OTB%0AkzgXKZRj2XcuVJCTB00dVRt/C8Avvez7ssFc9jdkKfv/avN8KwJXm64ZMREx6SM9EhMSuXL2Cu5e%0A7rkT3H9gqvuuW9R9Wa/7Dds1Zqu57tuzbhe1mmXcoGvYvjERV8O5esbyR/+/ajXzIfxKGFHXInMv%0AiEeofedW/L7c9BT5of1HKVKkMJ7Fs39Oh/YfJSI8Ktv2PTuDSUpMSk/jXaJ47mb4EXGtW5G4S+Ek%0AXInEmGrgyuq9lOxg2eaP2P0PhkRTfRd98BwFvU3flyJVShK57xSawYghMZnYf67i3er+24a2wO6p%0AahhCr2EMuw5paSRvDcShqd/9HZyWBqmm0XbK3h50+e9nbtb4k7YG4uD75MR/7PQ5ypTwonSJ4tjb%0A29GppS9bdgVbpLlwOYTGdWoC0KhODbbs3p/tPBu378WvYV2cHAvkSb7zSoM6tXApUtja2bCaxzn+%0AY6fOUaaEN6VLeGFvb0+n1n5s2RVkkebCpRAa1zPd42hUt2bGfqVITkklNS2NlNQ00tIMuBUrmtch%0APJRjJ89QpmSm+Ns8TeBOy5GE5y9dpVE90zWtUT0ftpj3n790hQa1a2Bnp6egkyNVKpZj5z7b/G1z%0AJ4XrViLpYhjJVyLQUtOIXLUL1w6W97syt/t1BXOu29xf8CNq1a5czasQ1vZArRulVG+l1FGl1BGl%0A1A9KqXJKqUDzts1KqTLmdEuUUv9TSu1WSl1QSr1k3u6tlNpuHh1xXCnVPIf3qKSUCjC/x0GlVEVl%0A8o35mGNKqe7mtC2VUluVUr8ppU4ppX4yp+0PvAJ8qpT6Kcv5l2TKT0fzcQeBFzOlma6UGmt+3cGc%0A5zxvERbxcuXW9Yy1T25dj6GIV7H7Ojbk4Dku7fmH4cGzGBY8i3PbjxJ1LjS3sporihZ3JSY04wfq%0AjevRFCvuesc0RoORxLjbFCpWmKsnL1GnbUN0eh3upTwpV6sCrt62/1SSq5cr0dczYo6+Hk0xL9fs%0AaTLFfDvuNoWLmRp2HqWL8+W6KYxb8RlVG1bPdn7fLn7s+Wtntu22oFiW2GOuR+Pq5ZYljdsdY/9X%0Aky5+7F69g/yuZAkvQq5mfGevhVynZAmvO6Z3cSnCs8+0I3CLbX6+9+Lq5Zbt83fL8vm7erkSZfH5%0AJ6R//p6li/P1uqlMWPF5trI/+vvxLDz4PUkJiexdZzlqzdrcvdyIDM24uRh5PQr3LHG7e7kReT0j%0ATVSmNMXcixETEQOYbtIWcy+Wfoxfp2as+d5ygKFSinfGvsXcz+62Vpd12Xm6kRaWEW9aeBR2npY3%0AMR2qVcLOy4Pb2y1/6NmXLQWahve8zyn1y0yK9rUckm7rHLzcSAnNuO6nXI/G3ts1W7rib3Sk9u7Z%0AlB7Tm0ufmKYGTDhxiaLtG4JeR4HSnjj7VMShhPVv0t+Ju5c7EaEZUyKZyrV7tjSRmeqFyOuR6Wlc%0As5R9V3fL9lEBxwI0bNmA7euy14nFSxWnUs1KnDx06pHF86BcvdyIsrjuR2W79rl6ueVY9zkWdOT5%0Agd34ddryO56/Wden2blme+5kPhd4eXty/VpY+t9hoeF4eXve5Yg76/7ai2wJyB/XRCcvVxKvZXz3%0Ab1+Pwekubf4KPVtyfcsRAGL/uYJ3y9ronRxwcC2EZ7PqFCxh+23ezHRu7hgjM+oDY1QkOvfs9VeB%0AZi0oOmcxhcdMQOfhkXG8hwdF5yzG9cdfSfzlZ4wxD7V2ZJ7TubtjyBK/Pof4HfxaUGzeYop8kj3+%0AYvMW4/bzr9xe8TPG6PwVf0RUDF6eGWW2uIcb4dExFmmqVChLwE7TNX/zziASbicSezPOIs3fW3fR%0AubVtjbgV4m4ioqKzl/2oLGW/YjkCtptu3G/esS+97Nep8RSN6takdbd+tH6pH80a1qFCWcun+G1d%0ARGQ0Xp4ZdVlxD3cioizrr6cqlSdgu+n3W8D2Peb4b/FUpfLs3HeQxKQkbsTeJPjgUcIi8scDG/9y%0A8HYlJdP9rpTr0RTIod3v1bcj9fbOpNwnr3NhdPYpwd2f8yVqVf5o7wjxoP7zmhhKqRrAGMBX07Qo%0ApZQrsBRYqmnaUqXUm8D/gH8nsPQG/ICqmBb1+A3oBWzQNO1zpZQeKJjDW/0EfKlp2kqllCOmDpcX%0AgTpAbcAdCFZK/fuLrC5QAwgFdgHNNE1bqJTyA/7SNO23O8TjCCwAWgPngBWZdn9sfo8d5pg6a5qW%0A7VFOpdRbwFsAz7o2on6hSnf5F8xbrmWL416pBFOa+APw+k8fU6bhUa4En7ZyzvLGjl8C8a5UirF/%0AfkX0tSjOHTidb55If1A3ImJ4t+kA4mPjKF+zIsMXfMzwdv7pT6KDaZTCzA+mWTGXuatincokJyYT%0AcocnUh9Xer2en36YxcxZi7l48cmKHUxlf2DT/sTHxlGhZkVGLBjF0HaD08v+573HY1/AnvemD6Wm%0Aby2O7jxi5Rznnn/Xyxo0fiALvlhI1vWzuvbpQlBgkMVN03xHKdxHvkXE6G+z77PT41i3JiE9/NGS%0Akimx8EuS/zlL4r7DeZ/PXBS+5G/Cl/yN2wvNKfn+S1z4YAaRyzfjVLkUNf/+hpSQSOL3n8pXo1Ae%0AVtay7tuuCceDTxAXa3mTy7GgIxPnj2XW+Dncjs9n0w5k8cqQnvy1cDVJt5Ny3G9nb0eDto346av8%0Atybaw3rh5WfxqVudV57ta+2sPHJluzXDtXYFAl/8FIDwbcdwrVOBNmvGkxx9i+gDZ9Eew+9+yt7d%0AJG/dDKmpOHbuQqHho7j14RAAjJGRxA58E52rG4XHf07yjm1osflvFO7dpOzZTfIWc/zPdKHwiFHc%0AHJkR/42330Tn5kaR8Z+TvP3xi3/426/zxczFrN6wlfo+1fB0d0Wnz3jGMDL6BmcvXsG3weM1lZQQ%0Awwf24Yv/LWD1hi3U96meXvavXLvOhcshBPy6AIABwydw4Og/1PfJ/iBjfjb83Tf5fOpcVq/fTP3a%0ANSju4YZOp6NZo3ocP3WW1waOoFhRF2rXrIpep7d2dnNF2Hd/E/bd37i/4EfpIS9x9r2Z6fsK1a2M%0AMTGZ26eu3uUMwpZo9zllk7D0IAt7twZ+1TQtCkDTtBilVFMyRjD8AHydKf0q843/f5RS/47lDgYW%0AK6Xszfst7ioopQoDJTVNW2l+jyTzdj9gmaZpBiBcKbUNaAjcAoI0TQsxpzsMlAPupxuyKnBR07Sz%0A5mN/xNwhoWnabaXUAGA7METTtPM5nUDTtPnAfIDxZV995CXxVlgMRTKNHiji7cqtsPtrkFbt2ICQ%0AQ+dIuZ0MwLktRyhdr3K+6sSIDY/BNdNTpMW83bgRHpNjmhthMej0OpwKFyT+humGxfJPl6SnG/X7%0A54RfsP2FHWPCYnDzzojZzduNG2Ex2dOUcCcmLBqdXkfBwgWJM8ccn2L6/8Xj5wm/HIZ3+RJcOGYq%0AvmWrlUOn13HxeI7F2epuZInd1duNmLDoLGmi7xg7QNMufuxZk39HYQx8pw/9+r0KwP79hylVukT6%0AvpKlvLkWGpbjcXPnfM3Zcxf534yFeZLP3BATFp3t84/O8vnHhMXgbvH5O2cr+xeOnyf88nW8y5fk%0AwrGMRYJTk1MJ3hhEw/aNrd6J8VyfLnTu1RmA00dO41Ei4wkkD293orLEHRUWjYd3Rhr3TGluRN3A%0A1dPV9CS6pyux0aapo6r4VGHMrFEAuLi60Kh1IwxpBqrXr06tRjXp2rsLTs5O2NnbkZiQyMJJi3M1%0A5v8iLSIaO6+MeO2Ku5MWkdHponN2wqFSOUp8Z2py6N1d8ZoxgTD/cRjCI0k6cAxj7C0Abu8IpkD1%0ASvmmEyMlLBqHTE9QO3i7kXo95o7po1ftpNykt0x/GIxcGf9d+r7qa74g6bxtjcB8vk9XnjGX/VNH%0ATuNZwhMwzd9sKteWnWtRYVF4ZKoXPLw90tPEZCn7N6Itp01r9VzL9Kmk/qW30zNx/jgCVgayY71t%0APLEWExaNu8V13z3btS8mLDrHuq9ynSo06eTL6x+/gXMRZ4yaRkpyKn8vNc2VX7dlfS4eP8/NLFPK%0A2Zre/XrQs3c3AI4eOo53yYxRh14lihN2PeJOh+bIr0UTBg8bwCvP9iUlJfWR5jW3JIbF4FQy47tf%0A0NuVxBza/MWb16D6+88R+MJnGFPS0refnL6ak9NXA9Bk1rvEnbf9Nm9mxugodB4ZI2507h4Yoyzr%0AAy3uVvrrpL/XUrD/O9nPExON4dJF7Gv6kLJzW+5l+BEzRkWhzxK/4W7xr1+L84Ac4o+OJu3SRexr%0A+ZCyI//E7+nuSlhERr0XHhlNcTfXbGmmjR8OwO3EJDbt2EeRQs7p+zds20PrZo2wt3uQ2xxCWIen%0Au1v2su+eQ9mf+CEAtxMT2bR9D0UKOfP7X5vwqV6Fgk6mNZD8GtXjyInT+aoTw9PDzWL0RHhkFJ7u%0AliMJPd3dmP75aABu304kYNtuihQuBMDbvbvzdm/TeoAjJ3xD2Uy/nfODlOsxFqOmHbzdSL5Luz9q%0A1S4qfjXAYpvH882IWilTSYnHX15MjZSc6bUC0DRtO/A0cA1YopTqndOBD/E+Bh6sgyYntYBowGo1%0AYeiRC7iV96JoaQ/09npqdmnC6U33N8/fzWvRlGtcDZ1eh85OT9kmVYk8dy2Xc/xoXTxyjuLlvHEv%0A5Yne3o7GXZpxeJPl/KiHN+3Ht1tLABp0bsop8zoYDo4OODiZ5gys7ueDIc1A6DnLBeJs0fkjZ/Eq%0A741HaVPMvl382L/JcrqU/QFBtOhmWry5SWdfTuw2zYFe2LUIyjwPrmfp4niX9yb8Snj6cb5dm7Pb%0Ahm/wZ429aRc/DmT5vA8EBNPcHHvjTLGDaZqcJs82Y88a27gx9SDmzF1Kg4btadCwPWvWbOD1V18C%0AoHGjety6eYuwsOw3ciZOGImLS2GGDhuX19l9pM4dOYt3eW88S3tiZ29Hsy7N71D2WwPQpHMzju8+%0ACkAR1yLoLMp+CSKuhOFY0JGinqbpOHR6HfVbN+DaeevXA6uX/snbHQbydoeB7Pp7N+1fagdAtXpV%0ASYhLSJ8i518xETHcjk+gWr2qALR/qR27NpqGVe/etJf2L5uOb/9yO3ZvNC3e+5pvb15tavpv+9od%0A/G/0DHZt2M0k/y/p1fg1Xm3am3mfzmfT7wE21YEBkHz8NPZlSmJXsjjY2VGoU0sStmTMj2uMv82l%0A5q9wpUMfrnToQ/LRk4T5jyP5xFlu7zqAQ+VyKMcCoNfh2MCHlPP5Z3RS/OFzOJb3pkBpT5S9Ha7P%0A+XFjo2U9WKC8d/rrom3rk3TRdLNS5+SAznzdK/J0bbQ0A4lnrV/eM1u1dE36otu7/t5F+5dMi5FX%0Aq1ftjmU/If421epVA6D9S23ZZS7juzftoYO57Hd4uR27N2ZMFedcuCC1m/iwK8ti1iMnD+PyuSv8%0AuuD3XIvxvzLVfSXwLF08ve4L3rTPIs3+gCBamuu+ppnqvk9e/phBfgMY5DeAtYv/ZOWsX9M7MAD8%0AujbPF1NJfb9oOZ1avEynFi+zYW0g3Xp0BaBuAx/ibsXnuPbFndSoVZVJU8bSr5c/0VF3vhFga2IO%0AX6BweS+cS3ugs9dT5rkmXNtg2eYvWrMsDb7ux44+35IcnXFDW+kUDsVMN3RcqpWmaPXShG07Rn6S%0AdvoU+pKl0BX3Ajs7CrRsTcpey5syyjXjxp5Dk2YYrlwGTDf8cXAwpSlUCPsatTCE5K8nUtPj9zLF%0A79iyNSl7LOPXZY6/6V3ir1kLw9X8FX/Npypy+dp1Qq5HkJqaxvqtu2np28AizY2bt9JH1S9ctpIX%0AOray2L8+UKaSEvlPzaqVzGU/nNTUVNYH7qSlr+WaCBZl/6c/eKFTGwC8Pd3Zf+Qf0gwGUtPSOHDk%0ARL6bTqpm1SpcCQklJDTMFP/m7bTys1wX7EbszfT4F/z4Ky90NrX9DAYDsTdN18LT5y5y5vxFfBvW%0Ay9sAHlLc4XM4VfCmQBlTu9/j+WbEZGn3O5bPeLCjWNt6JF3M9FCjUrh1bUqkTCUlngAPcqM/EFip%0AlJqiaVq0eTqp3UAPTKMwXgXueodUKVUWCNE0bYFSqgBQD0gf465pWpxSKkQp9bymaavMafTm876t%0AlFoKuGLqCBmBaTTFgzoFlFNKVTSPtOiZJZ/DME1VtU4ptUrTtH13OE+uMRqMrBu7hNe//xCl13Ho%0Al21Enr1Gq6HdCD16kdMBBynhU4Ee84fg6FKQKm3r0nJIN2a3+5B/1u2jvG91Bm78EjQ4t+0IZzYf%0AyusQHorRYOTHsQsZ+v0YdHodO38JJPRsCM8P6c6lY+c5HLCf7b9sZsCU95i0dQYJsfHM858KQGF3%0AF4YtHYNR04gNi2Hh0P9ZOZr7YzQYWTx2AaO+H4dOr2frLwGEnL3Ky0N7cuHoOQ4EBLNlRQCDp37A%0A9G1ziI+NY/pg05Qq1RrX4JWhPTGkGtA0IwtGzSXhZnz6uZs+24wv3/jUWqHdk9FgZMnYBXz0/Th0%0Aeh1bf9nMtbNXeckc+8GAYLauCGDQ1A+Ysm02CbHxzBicMZ1M1cbViQ6NIuJquMV5e37cG9/nmuPg%0AVIAZexewdXkAv09bkfXtbc669Zvp2LE1p0/u4nZiIv37D03ftz94Iw0atqdkSW9Gffw+J0+dJTho%0AAwCzZ3/H4u+W0aB+bX77dRHFirnw7DPtGDd2GLXrtLZWOPdkNBhZNHY+o78fj06vY8svmwk5e5Xu%0AQ3tx/ug59gcEEbhiE/5ThzBj21ziY+OYOngyYCr73Yf2wpCahlHTmD9qDvE343Fxd+HDhaOxd7BH%0A6RQn9hxj449/WzlSS/sCg2jcuhE/7FxCUlIy3wydnL5v3oY5vN1hIADTR81g5JQRFHB0IGhrMEGB%0Apgbu8pnL+WTuGDr16Eh4SDifDvzcKnE8UgYjUV/MwnveFyi9jlsrN5J6/jLF3u1N8okz3N66946H%0AGm/FE/v9H5RaPgM0jYQdQdnWzbBpBiOXRi/kqZ/HovQ6IpdvJvHMVUqO6EHCkfPEbgzGq28nijT3%0AQUszYIiN58L7MwCwc3Oh6rKxYNRICYvmvL9tX/f2BgbRuHVjfty5lOSkZL7KVPYXbJjLgA6mp4yn%0AjZrBR1OG4+BYgKCtwewLNH2ey2YuZ9zcT+jcoxPhIeFMGPhZ+vF+Hf3Yv+1A+gLPADUb1qD9S+04%0Af/ICCzbMBWDhV4vTz2ctRoORhWPnMcZc9wWar/uZ677NKzbx3tShzNg2z1z3fXPP8xZwKoBP8zrM%0AGzU7D6J4dAI37aBVu6fZcWAdiYlJDB88Jn3f+m2/0qmFaZ2bUeOH8NxLz+BU0JF9xwNY/sPvTP1q%0ADqMnDKOgc0HmfGdqH4SGXKffq+9ZJZb/QjMYOThqCS2Wmdr8F5Zv49aZa9Qc0Y2YIxcJ3XiQ2p/0%0Aws7ZEd/57wNw+1oUO9+YgrK3o/WqsQCkxSWyd/AcNEM+m07KaCB+1jRcvpgMOh1JG9dhuHyJgr3f%0AJO3MKVL27sbpuW44NG0GBgPGuDjiv/0SAH2ZshQZMAjQAMXt31ZguHTBquH8Z0YD8TOn4TJpMkqn%0AI2mDOf4+5vj37Mbpecv4477JiN/l7UGgaaAUib/mv/jt9HpG+b/JOx99jsFo5IWOrahUrjQzl6yg%0ARpWKtPJtQPCRf5i+6GcUivo+1Rjt3y/9+GthEYRFRtEgHz2B/l+MGPclwYeOEht7izbPv8agfq/T%0ArUsHa2crzzzO8dvp9Yx6rz/vjJxoKvud2lCpfBlmLl5Gjacq0qpZI4IPH2f6gp9QCur7VGf0+6YR%0AuO1aNGXfoWO8+OYHKKVo1rButg4QW2dnp2fUkHd4e9hYU/zPtKNS+bLMXPgjNapWppVfY4IPd9vS%0AXgAAIABJREFUHWPa/KWm737tmowZavptlJZmoPe7phEqhZwL8uUnw7Gzy2fTSRmMXBi1kBrLxoBe%0AR8SyQBJPh1BmZHfiD58nZuN+vN/sRNGnfTCmpmG4mcCZ92akH16kaXVSQqNJvvLfRqwK6zJqMp3U%0Ag1BZ5w6+r4OU6oOp88AAHALGAd9hWqciEuiradoVpdQSMq1HoZSK1zStUKbjU4F4oLemaReVUguB%0AuZqm7VdKVQbmmc+ZCrwMXMQ0VVUnTC3UzzRNW6GUagkM1zTtWfP7zAT2a5q2JHMespw/8/aOwDTg%0ANqaOkopAF2AT8D9N09YopeoDS4CG/05vlZPcmE4qv7iiku+d6DGWoKXdO9FjTG8aaPVE+uV6Pro5%0Amgte8G5w70SPsRhD4r0TPcbmF31yv/tRMc73TvQY+0gXd+9EjzE3vZO1s2BVQXEXrZ0Fq/qmgI+1%0As2A1bXxsa3RXXsu+QuKTxWWxbXeO5zblVNjaWRBWoqU82W1+Zedg7SxYVZDPx9bOglU1C/vtyf3R%0AlwueLtnGpu8db7+22SY/7weacknTtKWYFvPOLNujvZqmvZHl70J3OR5N0/pnen02p3Ni6vwYkeW4%0ArcDWTH8PzikPWc6fefvf5Dyao22mNAcwTS0lhBBCCCGEEEIIIYQQQog8ICteCSGEEEIIIYQQQggh%0AhBC5zKaHYdiwvFjYWwghhBBCCCGEEEIIIYQQ4j+TTgwhhBBCCCGEEEIIIYQQQtgkmU5KCCGEEEII%0AIYQQQgghhMhlRplQ6oHISAwhhBBCCCGEEEIIIYQQQtgk6cQQQgghhBBCCCGEEEIIIYRNkumkhBBC%0ACCGEEEIIIYQQQohcJtNJPRgZiSGEEEIIIYQQQgghhBBCCJsknRhCCCGEEEIIIYQQQgghhLBJ0okh%0AhBBCCCGEEEIIIYQQQgibJGtiCCGEEEIIIYQQQgghhBC5TNNkTYwHISMxhBBCCCGEEEIIIYQQQghh%0Ak6QTQwghhBBCCCGEEEIIIYQQNkmmkxLiETHyZA8He5LjV9bOgJVpT/BnL+DmTUdrZ8Fq7PUGolKc%0ArJ0Nq9Hrn+xnYYzWzoCwqjT15F79jWnWzoF1qSe76kNLSrB2FqxLL7dQnlTK4clt84F896XdJx6l%0AJ/n+2cN4wptgQgghhBAP5knuwBBCCCGEEEIIIfKKdGIIIYQQQgghhBBCCCGEEMImyVhIIYQQQggh%0AhBBCCCGEECKXyZTcD0ZGYgghhBBCCCGEEEIIIYQQwiZJJ4YQQgghhBBCCCGEEEIIIWySTCclhBBC%0ACCGEEEIIIYQQQuQyTZPppB6EjMQQQgghhBBCCCGEEEIIIYRNkk4MIYQQQgghhBBCCCGEEELYJJlO%0ASgghhBBCCCGEEEIIIYTIZUZkOqkHISMxhBBCCCGEEEIIIYQQQghhk6QTQwghhBBCCCGEEEIIIYQQ%0ANkk6MYQQQgghhBBCCCGEEEIIYZNkTQwhhBBCCCGEEEIIIYQQIpdpmqyJ8SBkJIYQQgghhBBCCCGE%0AEEIIIWySdGIIIYQQQgghhBBCCCGEEMImyXRS+USlFj50HPc6Or2Og8u3snPOnxb7yzaqSsdxr1G8%0Aahl+85/JP+uC0ve1+7gnlVvXQekUF3YcZ/347/M6+w+kZos69BrbF6XXsWPFZtbNWWWx387Bjv5T%0A/ClbswIJsfHMGTyF6JBI9PZ29PniLcrVqoimafw84TtO7z0BwIvDe+L7YgsKujgzqMbr1gjrvtVp%0AUZe+4wag0+vYvHwTq+b8brHfzsEO/ylDqFCrInE34pg6+BsiQyLwKOXJtM0zCT1/DYAzh86wYPQc%0A0zH2dvSb+BbVm9REM2osm/wj+9bvyfPY7uVJjj0nU6dMpGPH1iQmJtKv3xAOHT5usd/JyZHly+ZT%0AoWJZDAYDa9duYvToSQD4+TVmyrcTqFWrGq++Nog//lhrjRD+kzot6tF3XH90ej2bl2+8y+dfifgb%0At5hi/vz/5V7CnakBs/h12jLWzDfVG537dqFtz/YopQhYtpG1i9fkaUz3492Jg2jcuiHJicl8PWQy%0AZ4+fy5amcq3KjJw6nAKODuwLDGbW2NkAFC5amE9mj6Z46eKEXw1n4sDPiL8Zj2/7pvQd0QejUcOQ%0AZmD2+DkcDz6BZ0lPJi4ch9LpsLPTs/K71fz1o22XjSIt61Jq/ADQ64hetonw2b/nmK5op6ZUmP8R%0Ap54Zxu2j2f8N8xO3VrWp+lkflF5HyE+BXJphWW5L9W5L6TfboxmMGBKS+Gf4AhLOXEvf71jSDd8d%0A33L+m9+4POevvM7+HTVs2YBB499Bp9ezftl6ls/+xWK/vYM9H04bQeValbl14xafDfqC8JBwAHq+%0A252OPTpiNBiYNW4O+7cduOs56zarw1uj+6N0OpISEvl62LeEXgrFs4QHI6eOoFARZ3R6HQsnLSZo%0AS3De/kNkUbdFPd40130ByzeyMoe6731z3Rd34xbf5lD3TQ+YxS/TlrF6fkabSafT8fVfU4gJi+aL%0ANz/Ns3ge1oRJH9GqXXMSE5MY9u4Yjh89mS3NiNH+dOvRFReXIlQr0zh9e/9Bven5+oukpRmIiYph%0AuP9YroVcz8vsPxTvlj40+PR1lE7HuWVb+WemZbu/6ludqNSrJcY0A8nRcewdOp+Ea9EA1B3TgxJt%0ATO3+69uPc+CTH6wRwgNzaNiIQu/6g05H0rq13F7+s8V+xw4dKfTWQAxRkQAkrl5J0rq12FWsROEP%0AhqIKFgSjkYSffiB56xZrhPBQ7Bs0otAgf5ROR+L6tSSusIy/QPuOFBowEGN0pvjXr0XnWZwi4z9D%0A6RTo7Uhc/QdJf9leW+dedh44xlfzf8ZoNPJi+6fp9/IzFvtDI6IYO20xN27F4VLImS+Gv4WXuysA%0Adbq+SeWypQDw8nBjxtj38zz/D2tn0EG+mrkYg8HIi8+0pX+vFy32h4ZFMPbrWcTcvIVL4UJMGv0+%0AXh7uAEyZ+z3b9x7AqBlpWr82H/n3QylljTAeyJMc+/0Y88UUtu8KwrVYUVb9ONfa2XnkdgYd4qtZ%0A32EwGnmxcxv693zBYn9oeCRjv5lFTOwtXIoUYtLH7+Pl4UbQoeN8PWdJerqLV67x9ZghtPFrlMcR%0APJxirepQ4VPTva+wnzYTMtPy3pdX7/aU6Nshvc1/bsQ8bp8JwePF5pQa1DU9nXP1shxqN5KEE5fy%0AOALxXxmR6aQeRL4ZiaGU6qqU+sj8eolS6qWHOFdZpdRB9X/27js+iqIN4Phv7tIDCaQXQu81QEJL%0AkBqaAiryIkiTIiBFqdIREUFFQOkIKFaaBRWQFnoPhCottJBeIb3d7fvHHUmOBEVIcomZrx8+5nZn%0AL/PcbmbndnaeFeK8EOKKEGJkwdW04AmVoNu8wXw/6BNWdJxC/R4tcazhblDmYVgMv05cw6Xtxw2W%0AezStgYdXTVZ1nspKv/dwa1SVyi3qFGHtn41Qqej/wTCWDJ7PTL/xNO/hi1v1CgZlWv+vA8kPk5nW%0Adix71v9B76n9AWjzekcAZneZyKL+H9BnxsDsTsz5/QHM6zm1aIN5BiqViqHzRjB/0FzGdxyDT4/W%0AVKjhYVCmfR8/kh4mMbbNSP5Y/xv9pw7KXhdxL4LJ3cYzudv47Iv4AK+O6c3D2Ie80+5txnccw18n%0ADS+GFwelOfb8dOnSnurVq1Cnri+jRr3H8uUL8i23eMlqGjRog7d3Z1q19KZz53YA3L8fytBh49m0%0A6dd8tytuVCoVw7L3/2h8e7yQZ/936ONH8sMkxrYZkWf/AwyaNZTzB89lv/aoWZGOfTsxtcdEJnYZ%0AR9MOXrhUci2SeJ5Ws/beVKjizkDfN1n83lLeWTAu33LvLhjL4ilLGOj7JhWquNOsnTegu7B77lgg%0Ag1q/ybljgfQd3QeAc0cDGe43khGdR7Fo0mdM/HQCAHFRcYzt+S4jOo9idPdx9B3dB3tnu6IJ9lmo%0AVHh8OIKggXO52n4M5Xu2xuKx4wJAZW2J49DuJJ+7boRKFjCVoM7CIZzrt5BjrSfi+ooP1jUNz/3h%0APx/jRNspnOwwlbsrfqfWXMPB+VpzBxKz/3xR1vofqVQqxn44mukDZzK0/XDa9WxHxRoVDcp0fb0z%0AiQ+SGNT6TX5a9zPDpw8FoGKNirTt0ZZhHd5i2oAZjJs/BpVK9bfv+c5HY1kw7mNGdnkb/+0HeGNc%0AXwDeGNePQ38cZmTX0Xw4egHj5o8p2g/iMSqViuHzRvDhoLm803E0rfNp+zrqz32j24zg9/W/MfCx%0Atu/NWUMJzNX2PfLikO6EBN0v1PoXtHYdW1O5WiVe8HqRqePnMv+zmfmW27f7ED069s2z/MrFq7zY%0A/nU6t+7Fjt/2Mn3uhMKucoERKoH3R4M48MYn/NF2CpV7tsCmhptBmfjLd9nVdRY7O04neMdpGs/S%0AfQYOXjVw9K7Jzg7T2NFuKvaNquLUsvj3+7OpVJQd9y4Ppk0hbsggzNt3QF2pUp5iaQf9iR8xjPgR%0Aw0jbqRuAV9LTSFg4n7ihg3kwdbJuIMC6TBEH8JxUKsqOfZeH06cQN2wQFu06oK6YN/70Q/7EjxxG%0A/MhhpO3Sxa+Ni+XBO2/rlo8dhVWffqjs7Ys6guei0Wj5aNW3rJo7nl9XzmfXoVPcCg41KPPZ+s10%0A79CKn5bPY0TfHnyxcVv2OnMzM7Yu+4Ctyz4okQMYGo2G+Z9/ycqFM9n+9efs2n+EW3cN2+5FqzfS%0AvVNbfl6/hJED/8fnX34PwPnL1wi8fJWf1i/mlw1LuXw9iIALV4wRxjMpzbE/rZe7+bF68YfGrkah%0A0Gg0zP9iHSsXzGD7hiXs8j+a//73a8vP6xYzckBvPl+n2//NGtdn29pFbFu7iPWL5mBhYU4rr0bG%0ACOPZqVRUWzCMK/3mc/aF8Ti+4otVTcNrX9E/H+Fcu4kEdpxMyIrtVHl/UPbywI6TCew4metjlpEW%0AHCUHMKT/tBIxiCGEMFEU5TdFURYWxHsB4UBLRVE8gebAVCGE299vaTzuntWIuxtJ/P1oNJkaLv9+%0Aklp+TQ3KPAiJIfLafRSt4WieoiiYmJuiNjXBxMwUtYmapJiHRVn9Z1LVszpR9yKIvh+FJjOLU78f%0Aw7OTt0GZxp28Of7TQQACdp6gTqsGALjVqMDV47oL1ImxCaQkpFC5YTUAbgfe5GH0g6IL5BlV96xB%0AxN0Iou5HkpWZxbHfj+DlZ3g3gbdfcw795A/AyZ3HqO/T8B/ft93/OvLLCl1nX1EUEuMTC77yz6k0%0Ax56fHt078933unqfOn0O23K2uLg4GZRJTU3j0CHdAGZmZiaBgZeo4K67SH/vXgiXLl1Fq9UWbcWf%0AkW7/hxvsf2+/5gZlvP2ac1C//0/sPEYDn5yOqnen5kTdj+T+jeDsZRWqe3Dz/A0y0jLQarT8deoK%0Azbu0LJqAnpJPp1bs2bYXgKvnrlHGxho7J8NBBTsnO6zKWHP13DUA9mzbi0/nVgC06tSSPVt12+/Z%0AmrM8LSUte3sLS4vsB4hlZWaRmZEJgJmZKUJVvLsD1p41SL8bQUZwJEpmFvG/HcG2U947rNwm9SNy%0A5U9o0zOMUMuCZdukOil3Iki9F4WSqSHi1+M4dfEyKKNJSs3+WW1lTu4behy7epEaHEXy9ZCiqvJT%0AqeVZi7C7YYQHR5CVmcXB3w7i08nw77FVp5bZfw+HdxyhsY8nAD6dWnLwt4NkZmQScT+SsLth1PKs%0A9bfvqSgKVmWsALAua01sZNzfLjeW6p41CL8bTqS+7Tv6+xGa5dP2HXhC29esU3MiH2v7AOxd7Gna%0A3ot9m/YWfhAFqFO3dvy0SXcXeWDARWxsyuLk7JCnXGDARaIiY/IsP3H0DGmpadllXN2cC7fCBci+%0AcTUS70aSFByNNlPDve0n8ehs2O+PPH4VTaqunYs5F4SVq/58oSiozE1RmZno/m+qJi26+Pf7HzGp%0AXYes0FC04eGQlUX6AX/MW/k+1baakBA0oboL3trYWLQP4lGVsy3M6hY4k1p10ISFoo3QxZ920B+z%0Ap4yfrCzI1J3XhakpFPPzen4u37hNRVcnKrg4YWpqQpcXmnHgZKBBmdv3w2jeUDcw16xhnTzrS7JL%0A14Ko6OaKh5sLpqamdG3vy4Fjpw3K3L4bQvMmuu+8zRrXz1kvBOkZmWRmZZGRmUVWlgb78uWKOoRn%0AVppjf1peng2wtSlr7GoUikvXgqjo7oKHm7Nu/7fz4cBxw9mxt++F0LxxfQCaedbPsx5gz+GT+Dbz%0AxNLCvEjqXVDKNq5O2p0I0oKjUDKziP71GHadDa995enz58PxFV+ifz1WqHWVJGMr0t6NEKK/EOK0%0AfgbEGiGEWgiRlGv9a0KIr/U/fy2EWC2EOAV8IoQYLIRYnuvtOgohAoQQN4QQL+m3sRBCfCWEuCSE%0ACBRCtNMvHyyE+E0I4Q/sVxQlQ1GUdP37mJPrcxBCJAkhPtXP0NgnhGgmhDgohLgthOiBEdi42JEQ%0AHpv9OiE8DhuX8k+1bci5IO6e+ItJZ1Yw8cwKgg5fJCYorLCqWmDKOdsRF5bzpTQ+PJbyj90lnLuM%0AVqMlNTGFMuXLcv/qXTw7eqNSq3Co4ETlBlWxcy1ZdyLZudgTG54Tf1x4LPYu9o+VsSMmV/wpicmU%0ALa/r2Dh5OPPJziXM3Tyf2t51AbCysQbg9Ulv8PGOxUxYOQVbh+L35a40x54fNzcXQu7n/M2GhoTj%0A7ubyxPK2tja8+KIf/geOFkX1Cpydiz0xufZ/bHgMdnn2v32++9/CyoKXR/Vi69JNBuWDb9yjjndd%0AypQri5mFGY3bNcXeLe/FMGNycLEnOiw6+3V0eAwOj8Xt4GJPdHhOmZhcZco7lCcuSncRNi4qjvIO%0AOecIny4+fHVwPfO/mceiiZ9lL3d0deTLvav58cz3bF652egXcf+OqYs9GbnOCZnhsZg+9vlY1q+K%0AqZsDCf5ni7p6hcLCxY60sJxzf1pYHOYueWfLeLzZCd9Tn1Nz1htcm/E1oPtyU2VMD24t2panvLE5%0AuNgT9dixbu9i+Pdo7+KQ/feg1WhJTkzGprwN9i4OebZ1cLH/2/f8bMpSPvrmQ348/R0dX+3AphWb%0AAfhmyXd0fLU9P57+jo82zmP57BWFFvPTsH/s3Jdf22fvYk/sE9q+V0b1YstjbR/AkDnD+Oajr1FK%0AyED2Iy6uToSHRmS/jgiLxMXV6W+2eLI+/V/lwL6Sc060dClPSlhOe5wSHoel65P7/dX6tiHM/wIA%0AMWeDiDz+F68GLufVwOWEH7xEQgno9z+idnBAG52TIk0bHY3KIe/52rx1G+y+3IDNnLmoHB3zrDep%0AVRthYoomrOTEDqBycECTO/6YaNT5xG/m24byazZgM8swfpWjI+XXbMD+h62kbP4BbWxsnm2Ls8jY%0AeJwdc85zzg52RMXGG5SpWcWDfcd15/n9J86SnJrGgwTd5YSMjExef3cub0ych/+JvLPSiruomFhc%0AnHLafWdHeyJjDPtmNatVZt/hkwDsP3KK5JRUHjxMxLNeLZo1rk/7XkNp/9pQfLw9qVrJ8E7u4qw0%0Axy5BVExcdmow+Jv9f+QUAPuP5uz/3P48cIxu7Z5y4LcYMXe1Iz3X95yM8FjMXfP2+V3f7ILXyeVU%0AmTWAWzPW51nv2LMV0b+WnP5OaacU8/+KqyIbxBBC1AH6AD76GRAa4I1/2KwC0EpRlPzmgFcGmgEv%0AAquFEBbAaEBRFKUB0BfYqF8O0AR4TVGUNvr6eAghLgL3gY8VRXnUy7UG/BVFqQckAh8CfsArwAdP%0AiO0t/YBKwNmk4pV/266SMw7V3VjcYiyLm4+hSqt6VPSuZexqFaojW/yJj4hl9u8f03fOmwSdvV5i%0A7kIvCPFRcYxqOYwp3cazcd4G3vliIpZlLFGrVTi4OXD97DXee3ECN85dY+CMN41d3QJVmmMHUKvV%0AfPftClas2MCdO8H/vMF/zP/G9+WPddsNZh8AhAaF8Ovqn5n13VxmfjOXu1fuoNX8t9uERzMuAI79%0AeYw32w5l9tC5DJ6ck34mOjya4X4jGeg7mE69/SjvUILvWhOCCrOHEDrvK2PXpMjd/2oPR5u/w40P%0Af6DqeF3+4GqTe3NvzU40Ken/sPV/X69hrzB94Ez6NuvP7i17GDn7LQDa9WzL7q176dusP9MHzWLq%0A0iklNn92n/F9+T2ftq9pey8exj7k9uVbRqqZ8b3S+yUaNq7LmmX/zbah8qs+2Desyl+rdCmFylR2%0Axra6O780HccvTcbi7FMXx2b/rX5/+onjxL7Rh7jhQ8g4G4DNe9MN1qvs7LCZNoOETxeCUny/hD+r%0AjBPHiRvQh/gRQ8g4F0DZyTnxa6OjiR8xhLjB/bDw64Io93Q3vZUkE4f04ezl6/xv3BwCLl3Hyb48%0AKv2skz83LGLT0jl8PHkEn3z5A/fDo/7h3UqeSaMGEXDxCr2HTyTgwhWcHOxQqVUEh4Zz+14I+7Z+%0Ayf6tX3Iq8BJnL/5l7OoWqNIcuwSTRgzU7f8Rkwi48Ff2/n8kOjaem3eCaeXtacRaFq7wr/4koMUY%0A7nz4HRXHG2bXL9u4BtrUdFKulaz0oZL0bxXlg707AE2BM/oviZbAP/UstiqKonnCui2KomiBm0KI%0A20BtwBdYBqAoyjUhxD2gpr78XkVRsodzFUW5DzTUp5H6VQixTVGUSCAD+FNf7BKQrihKphDiErqB%0AkzwURVkLrAV4v9IbBd5bToiIwybXTAIbVzsSIuL/Zosctbt4ERIYRIb+QkbQgQt4NKlB8JninS/8%0AQWQcdrnulC7vak/8Y3cJPyoTHxGHSq3CsqwVSfoUQZvmfZ1dbvpP84m8XXIe5ggQFxGLvWtO/Hau%0A9sRGxD5WJg4HNwfiImJRqVVYlbXOTpGUlKH7/+3Lt4i8F45rFXduXwoiLSUt+2HWJ3Ycp30fvyKK%0A6OmV5tgfGTVyEEOH6sZ4AwLOU8EjJ9udewVXQsMi8t1u9apPCAq6wxfL1hVJPQtDXEQsDrn2v72r%0Abj/nKZPP/q/hWZMWXVsxYNpgrG2s0SoKGemZ/LlxB/6b9+K/WZdOpd/kAcRG5E0/UtR6DupOt37d%0AALh+4TqObjl3Uzq6OhDzWNwxEbE4uuaUcchVJj4mHjsnO+Ki4rBzsuNBbN60eZdOXcK1ois25W1I%0AiE/IXh4bGceda3dp0LwBh3ccKdAYC0pmRCxmuc4Jpq72ZOb6fFRlLLGsVYkaW3S5gk0dy1N1wwxu%0AD5lfYh/unRYRh4Vbzrnfws2O9Ignz5aJ+OU4dT4eCqzCtkl1nF9qTs1Zb2BiawVaBW16Jvc37C6C%0Amv+9mIhYnB471h//e4yNiMHRzZGYiBhUahXWZa1JiE8gNiImz7aP/gbye09bO1uq1a3KtfO6Ps/B%0A3w+x4Nv5AHTt04VpA2YAcPXcVczMzbC1s+FBrHFS78Q+du7Lr+2LjYjF3s2B2HzavpZdWzHwsbbP%0Aztke747NaNK2KabmZliVteKdpRP4/N3FRR3eUxk49HX6DuwFwMXAy7i658w6dHFzJuJfXpD0bdOC%0AMROH87+X3iRDnz6vJEiNiMfKLecOTCtXO1LD8/b7XVrXo/47Pdj76ny0GVkAeHT1IuZcEFn6fn/Y%0AgQs4elUn+nTx7vc/oomJQeWYM+NG5eiINsawfVAScs5faTt3UGZ4zqMNhZUVth99TPKGdWRdLXkX%0AMbUxMahzx+/giObx+BNzxb9rB9bD8z7aURsbS9bdO5g2aEjGkUOFV+EC5mxfnsjonPNcZEwcTvaG%0AAzFO9uVZMmMsACmpaew7fhYbfWpAZ/0s1AouTng1qM3VW/fweMYZXMbg5GBPRFROux8ZHYuzg91j%0AZexY+sF7AKSkprL38Alsyljz0x97aVi3JlaWlgD4NmvChSvXadqwbtEF8BxKc+ySbt9GROe0dU/c%0A/3OnAPr9f+QkNmWss9fvPnic9r7NMDUpykucBSM9PA7zXN9zzFztSQ9/cp8/+tdjVP94uMEyx5d9%0AiP5FppKS/vuKMp2UADYqiuKp/1dLUZT3McjgjMVj2yT/zfs9PljwT4MH+b6XfgbGZaC1flGmknML%0AqxZI15fTUrSDPtnCLtzGvooL5TwcUZuqqd+9Bdf3Pl26jIehsVRuXgeVWoXKRE2lFrWJDgr95w2N%0A7M6FIJwru+JQwQm1qQnNu/twfq9h3sPzewNo1astAF7dWnJN/xwMMwszzCx1eQLr+jZEk6UhLKh4%0A5QT/J0EXbuJaxRUnDydMTE3w6d6agL2GeUED9p2mTa/2ALTo5sPl4xcBsLGzyb4jycnDGdcqbkQF%0A6y56n913hnotdbkkG/g0JORm8RupL82xP7Jq9Ua8vDvh5d2J7b/tpv8bujstmjdrQsLDBCIi8l7I%0AmTt3Cja2ZZkwcU5RV7dA6fa/G04eztn7/8zeUwZlAvadpq1+/7fMtf9n9Z7G277Dedt3ODs2/M4v%0AK7by50bd3ak29rr0YQ5uDjTv0pIj2w8XYVT5277xd0Z0HsWIzqM49udxOr2mG1ir06Q2yYnJ2emh%0AHomLiiMlKZk6TWoD0Ok1P47t0T0L5fjek3Tqrdu+U28/ju/RDdi5Vc4ZAKtRvzpm5qYkxCfg4OqA%0AmYUZAGVsy9CgWX3u3yq+fxPJF25iXtkVMw8nhKkJ5Xu05mGudkGbmMLFRgO40uotrrR6i+TA6yV6%0AAAMgIfAWVlVdsKzoiDBV4/JyK6J2G577rarkXOR19GtMin7A/kzP9zniPZYj3mMJXruL25//WiwG%0AMEA3YOde2R0X/d942x5tOb73pEGZ43tPZv89vPBia84fu5C9vG2PtpiameLi4Yx7ZXeun7/+xPdM%0AfJiIdVlr3KvoHojepHUTgvUPuI4Ki6Kxr+5uvYrVPTC1MDPaAAbkbft882n7zuw7Tbtcbd8lfds3%0As/c0RvoOZ6TvcP7Y8Ds/r9jKro07+P6TbxjeYggjfYezeOynXDp+sdgOYAB8s34TXdue5AQmAAAg%0AAElEQVT0pmub3uze4U+v13VZXBt7NSQxISnfZ188Sb0GtVmweDZD+40lNqb4psrLT+z525St4oK1%0AhyMqUzWVerYgZI9hapzy9SvR7OMhHBq8mPTYnIvaKaExOLWsjVCrECZqnFvU4eHNkpNSKevaNUzc%0AK6BycQETE8zbtSf9uOFFGZVdzoUts5Y+aILv6V6YmGA790PS9uwm/XDJuXCfW9b1a6hzxW/Rtj0Z%0AJ54ufpWDI5jpzuuiTBlM6zdAc7/4ntfzU69mFe6FRRESEU1mZhZ/Hj5N2+aNDcrEP0zMnmG/busO%0AXvHTfYVPSEomQ/9MkPiHiZz/6ybVKhbbR17mq37t6twLDSckPJLMzEx2+R+lbSvDvPjxDxNy4v/+%0AZ17p2gEAVycHAi78RZZGQ2ZWFmcvXClRKZVKc+xSPvv/wLG/3/8//MIrXdobrN914GiJTCUFkHg+%0ACIuqrphX1H3PcXzZh7g9hte+LHL1+e06NiH1Tq6bGoXAoUdLmUqqhNEqSrH+V1wV5UX5/cB2IcQS%0ARVGihBB2QFkgUp9q6jq6lE1P+7Td3kKIjUAVoKp++yPoUlT5CyFqAhX1y5vk3lAIUQGIVRQlVQhR%0AHt0MjiXPHWEh0Wq07Jz9NQO+eQ+hVhG45RDRN0NpN6EXYRfvcH3fOdwaVuX1teOxsLWiZsfGtB3f%0Ai5V+7/HXzlNUaVWXUXsWggJBhy5wY3/xfwCaVqPlu9nrmPDNTFRqFUe3+BN2M4SXx/fh7qVbnN8X%0AwOEt+xm+eBwLDi4j+UESa8bqdmFZB1smbpyJVlF4EBHHuglfZL9v76n9ad6zNWaW5iw6sYYjm/ez%0AfekWY4X5RFqNlvWz1zLjm/dRqVUc2LKfkJv36TOhH7cuBhGw7zT+m/cydsl4lh1aTdKDRJaMWQRA%0Aneb16DOhH5rMLLSKwtrpq0h6qMsV+93CjYxdMp7Bs4eREPeQlZO++LtqGEVpjj0/u3btp2uX9ly7%0AeozU1FSGDcvJrhdwZg9e3p1wd3dl+rR3uHrtJmdO6y5Urlz5FRu++hGvpo3YunU95cvb8uKLfsye%0APRFPz/ZP+nVGp9VoWTd7DTP1+99/y748+3//5r2MWzKBZYfW6Pf/p//4vpNXT6VM+bJoMjWsm72a%0AlIS/GyMveqf8T9O8fTO+Pfo1aWnpfDphUfa6NbtXMaLzKAA+n76MKYsnY25hxumDZzjtr+vgblq+%0AiVmrZ9L19S5EhkQyb5TubvMXuvni16sjWVkaMtLSs5dXql6RkbPfQlEUhBBsWbONO9fuFm3Q/4ZG%0Ay/1Za6n+3fsItYrYzftJu3Ef14n9SLkYZDCg8V+haLRcm/YVTTZNR6hVhP54gOTrIVSb0puEC7eJ%0A3n0Wj6GdsW9dH22WhqyHyVwet8rY1f5HWo2WZbNWsPC7j1CpVfy5eQ/3btxj0MSB3Lh4gxN7T7Jr%0A059MXTqFjUe+IvFBIvNHfwTAvRv3OPTHYdb7r0WTpeGLmcuzv9Dm954Ai99byvtrZ6HVKiQ9TGTR%0AJN1F/NXz1jLh43fpNexVFEUx+Jszhkdt32x927d/yz7u37zP6/q274y+7XtnyQRW6Nu+xU/R9pVU%0A/nuP0M7vBY6c3UlqahqTxszMXrfr0Fa6tukNwPT3x9PztRextLLg1OV9bPr2J5Z8vIoZcydiZW3F%0Aqq90zwEKCwln6BvjjBLLv6VotATM2Ej7H6Yg1CpubTrEwxuhNJzci9gLdwjdc47Gs/piYm2B71pd%0ATCmhsRwavJjgP07j7FOPF/0XgAJhBy4Surf49/uzaTUkLltKuY8XIVQqUnftRHPvLtaDh5B5/RoZ%0AJ45j+UovzFv5oGg0KImJJHyyEADztu0wbdgIYWODRecuACR+spCsWyVoMFurIWn5UmwX6OJP262L%0A32rQELJu6ON/uRdmLX1Ao0GbmEjip7r41RUrYTvibV0KLSFI3boZzd3bRg7o3zFRq5k+8g1Gzf4M%0AjVbLy36tqV7JnRXf/ULdGpVp17wxZy5d44uN2xBC0KR+TWaMGgDoHvj9wfKNqIQKraJlSO8XqVbR%0A3cgR/TsmajXTxw1j5JQP0Gi1vNK1A9WrVGT5hh+pV6sa7Xyaceb8ZT7/8nuEgKYN6zLjHV2KRL82%0ALTkVeIlXh7yLEAIf78Z5LgIXZ6U59qc1ec5CzgRe5MGDBDq83J+3hw6gV/fOxq5WgTBRq5k+dhgj%0A3/tQv//bU72yB8u/2qTb/628OXP+Cp+v/x6B0O3/ccOytw+NiCIiKhavRiV09o1Gy63p66j/40yE%0AWkXkj/6kXA+h0pQ+JJ6/RdyeANyGdKXcCw1RMrPIepjMjXHLsje3bVmX9LBY0oL/eyn0JOlxQinC%0AERYhRB9gGroZIJnonmFRAfgYiAYCgDKKogzWP+D7D0VRtum3HQx4KYoyRr8uDfACbIAJiqL8oX/+%0AxSr98iz98gO5t9W/lx/wGbrZGwJYrk8JhRAiSVGUMvqf3weSFEVZ9Pi6JymMdFIlRbAo3bm3E5WS%0Ak6pAKli/hgcYuwpG1dO1qbGrYFTxmrR/LvQf9qmwNHYVjCYmo/TGDvCJ2dOltvyvslGZG7sKRhWQ%0AeMfYVTCqBRaNjF0Fo/GrU7Lu8C9ooihzGRRDNisXGLsKRiWsbY1dBclIhFnp7vcpacXrJrCidspr%0ArrGrYFStI7aVzIfHFVP1nVsU62vHlyNPFsv9XaTpkRRF2QxszmfVtnzKDn7s9dfA1/mty1UmDcjz%0AtN7c2+pf7wUaPuE9yuT6+f0nrZMkSZIkSZIkSZIkSZIkSZKkp6X84xMRpPyU8vtIJEmSJEmSJEmS%0AJEmSJEmSJEkqruQghiRJkiRJkiRJkiRJkiRJkiRJxVKRppOSJEmSJEmSJEmSJEmSJEmSpNJIW4TP%0Ap/4vkTMxJEmSJEmSJEmSJEmSJEmSJEkqluQghiRJkiRJkiRJkiRJkiRJkiRJxZIcxJAkSZIkSZIk%0ASZIkSZIkSZIkqViSz8SQJEmSJEmSJEmSJEmSJEmSpEKmIJ+J8SzkTAxJkiRJkiRJkiRJkiRJkiRJ%0AkoolOYghSZIkSZIkSZIkSZIkSZIkSVKxJNNJSZIkSZIkSZIkSZIkSZIkSVIh0yoyndSzkDMxJEmS%0AJEmSJEmSJEmSJEmSJEkqluQghiRJkiRJkiRJkiRJkiRJkiRJxZJMJyVJkiRJkiRJkiRJkiRJkiRJ%0AhUxBppN6FnIQQ5IKiAph7CpIRiJPP1JpZmGWZewqGE0Fs0RS0k2NXQ2j0ShaY1fBqEr7dGYhSne/%0ARyXP/qVWKW/6EJZljV0FoxImZsaugmQkSlqysatgVMLC2thVMCq1kOd9STK20v79S5IkSZIk6ZmU%0A5gEMSZIkSZIkSZIkSSoqciaGJEmSJEmSJEmSJEmSJEmSJBUyrSJn9jwLORNDkiRJkiRJkiRJkiRJ%0AkiRJkqRiSQ5iSJIkSZIkSZIkSZIkSZIkSZJULMl0UpIkSZIkSZIkSZIkSZIkSZJUyBRkOqlnIWdi%0ASJIkSZIkSZIkSZIkSZIkSZJULMlBDEmSJEmSJEmSJEmSJEmSJEmSiiU5iCFJkiRJkiRJkiRJkiRJ%0AkiRJUrEkn4khSZIkSZIkSZIkSZIkSZIkSYVMUbTGrkKJJGdiSJIkSZIkSZIkSZIkSZIkSZJULMlB%0ADEmSJEmSJEmSJEmSJEmSJEmSiiWZTkqSJEmSJEmSJEmSJEmSJEmSCpkWxdhVKJHkTAxJkiRJkiRJ%0AkiRJkiRJkiRJkoolOYghSZIkSZIkSZIkSZIkSZIkSVKxJNNJlRDV2zSky5wBqNQqzm06yNFVvxus%0Ar9SsNl3m9Me5dkW2jV3OXztPZ6/zm9aXGu09ESrB7SOX2fX+N0Vd/WdSv40n/Wa/iVCrOLJ5PztX%0A/Wqw3sTMhGGLx1KpflWSHySxasxiYkOiUZuaMOijt6jcoBqKovDD3K+4fvIKAK9O6kurV9tgZWvN%0A2/UGGCOsZ9KoTWMGzxmGSq3Cf9Netq/62WC9iZkJoxe/S9UG1UiMT+TzMYuIDokCoGLtSgxfMArL%0AMlYoWoXpPSaRmZ5pjDCeWWmPf8niD+japT0pqakMHTqewPOXDdZbWlqw+ce1VK1WCY1Gw44de5k+%0AYwEArX2b89lnc2nYoA79+r/Nzz/vMEYI/4pnmya8OWcYKrWa/Zv28OuqnwzWm5iZMHbxeKo2qE5S%0AfAKLx3xKdEgUjhWcWLp/BWG3QgG4GXidtTNWAdB3cn/avNoOa9syDKjbp8hjehqjP3ib5u29SU9N%0A55Pxi7h5OShPmRoNajBlySTMLcw45X+GFbNXAlC2XFlmrZyBs4czkfcj+WDUhyQ9TKJVp5a8OXkQ%0AWq2CJkvDyvdXcfmMrj1c8N186jauw+Uzl5kxeHaRxvq0rF9oisustxBqFfGb9xC7Zmu+5cp2boXH%0Ayhncfvkd0i4FYdGwJm7zx+pWCoj+4gcS95wowpoXPJu2jak4dxioVcT8uJeIFT/nW65ct5ZUX/se%0Af3WbSMrFW0Vcy2cz9oO3ad6+GWmp6Xw8/tN8j/2aDWrw3pLJ+mP/NMtyHfuzV87AxcOFiPsRzNUf%0A+wCNWjZkzPtvY2Ki5mF8Au++NhGA14a9yot9u6IoCrev3eXjiZ8Wu/NCYbSDJc37C96jXcfWpKam%0AMWnMLC5fvJqnzOQZY3m1T3dsbW2oW6lF9vJhowbw+oBXycrSEBcbz+SxswkNCS/K6j8X17YNaTJv%0AAEKl4taPB7m63LDfX+utrlTr1w4lS0NabAKnJnxJSmgMAJ4z++LWwRNUgojDlzk3q2T0+x8x825G%0AmdFjQaUibecOUjb9YLDeonMXyrw1Ck1MNACp238hbecOTKpVp+y7ExBWVqDVkvz9t6QfPGCMEJ5L%0AaY//6OlAPl7xFRqtlle7dWBY31cM1odFRjP70xXEPUjA1qYMC6a9g4ujPQCL13zL4VNn0SoKLZs2%0AZOroIQghjBHGMzt66iwLP1+LRqul10udGNa/t8H6sIgoZi1Ymh3/wlmTcHFyAGDxqq84fOIMACMG%0AvU7XDi8Uef2fR2mOHZ792D8deJlPVn2dXe5OcCifzBxPB99mRRxB4Zn50WIOHzuNXfly/PrdamNX%0Ap1CUa+dJlQ+GgFpF1A/7CV3+i8F654GdcBncBTRaNClp3Jq8mtQbITi82hr3UT2zy1nVrcSFTpNJ%0AuXK3iCOQ/i1FkemknsV/ZiaGEKKyEOLyP5d8rt9xUAjhVZi/I9/fqxJ0mzeY7wd9woqOU6jfoyWO%0ANdwNyjwMi+HXiWu4tP24wXKPpjXw8KrJqs5TWen3Hm6NqlK5RZ0irP2zESoV/T8YxpLB85npN57m%0APXxxq17BoEzr/3Ug+WEy09qOZc/6P+g9tT8AbV7vCMDsLhNZ1P8D+swYmN2BPb8/gHk9pxZtMM9J%0AqFQMmTeCBYM+YELHsfj0aI17DcPPon0fP5IfJvFOm1HsXP8b/aYOBEClVjFm6XjWTV/NJL9xzO0z%0Ak6xMjTHCeGalPf6uXdpTo3oVatf1ZdSo91ixfEG+5RYvWU39Bm3w8u5Mq5bedOncDoDg+6EMHTae%0AHzf9mu92xY1KpWLYvBHMHzSX8R1H49vjBSrU8DAo00G/v8e2GcEf63+j/9RB2esi70Uwudu7TO72%0ArsGFu4B9Z5jac1KRxfFvNWvvTYUq7gz0fZPF7y3lnQXj8i337oKxLJ6yhIG+b1KhijvN2nkD0Hd0%0AH84dC2RQ6zc5dyyQvqN1AzXnjgYy3G8kIzqPYtGkz5j46YTs99qyaisL3/mk8IN7VioVru+PInjI%0AHII6j8K2+wuYVffIW8zaErvBPUkJvJa9LP3GPW6//A63u48l+M3ZuH44BtQluMujUlHxwxHcGPAB%0AV9qNxa5nayweawcBVNYWOA95iaRz141QyWfTvH0z3Ku40993MJ+9t5TxTzz2x7FoyhL6+w7GPdex%0A309/7A9oPZhzxwLpN/p1AKxtrHl3/jhmvDmLNzsM5/0R8wBwcLHn1SEvM+LF0Qzp+BZqtYr2PdoV%0ATbBPqbDawZKkXUdfqlStRBvvl5g24QM+XDQz33L7dh+ip1+/PMuvXLrGSx360uWF19j5216mvT++%0AsKtcYIRK0PSjwRx84xN2tp1CpZ4tsXms3x9/+R67u85kV8dp3N9xGs9ZfQFw8KqBg3dNdnWYyq52%0A72HfqCpOLYt/vz+bSkXZce/yYNoU4oYMwrx9B9SVKuUplnbQn/gRw4gfMYy0nbqbM5T0NBIWzidu%0A6GAeTJ1MmbfHIqzLFHEAz6mUx6/RaJj/xTpWLpjB9g1L2OV/lFt37xuUWbR6I9392vLzusWMHNCb%0Az9d9D8D5K9cIvHKNn778jF/WLebytVsEXLhijDCemUaj4cPFq1i1aC6/fbuSnfsOcetOsEGZRSvW%0A06NLB37ZuJxRg/uydM1GAA4dP8NfN26xbcMyflizmK83/UJScooxwngmpTl2eL5jv1nj+mxbu4ht%0AaxexftEcLCzMaeXVyBhhFJqXu/mxevGHxq5G4VGpqPrRcP56Yz7n27yLw8u+WNY07OfH/HyEC+0n%0AcMFvEqErfqXy+4NzlvtN4oLfJG6O/YL04Cg5gCH9pxXJN3ohhJzx8RzcPasRdzeS+PvRaDI1XP79%0AJLX8mhqUeRASQ+S1+yhaw9E8RVEwMTdFbWqCiZkpahM1STEPi7L6z6SqZ3Wi7kUQfT8KTWYWp34/%0Ahmcnb4MyjTt5c/yngwAE7DxBnVYNAHCrUYGrx3XjWYmxCaQkpFC5YTUAbgfe5GH0g6ILpABU96xB%0A5N1wou5HosnM4vjvR/H2a25QxsuvGYd+0t1tdXLncer7NASg4QuNCb52l3tX7wKQ9CARRast0vo/%0Ar9Ief/funfn2+20AnDp9Dttytri4OBmUSU1N4+Ah3QBmZmYm5wIv4e7uCsC9eyFcunQVbQmJu7pn%0ADSL0+zsrM4tjvx/Js7+9/Zpz8Cd/AE7sPEYDn3/uqN8MvM6DqPhCqXNB8OnUij3b9gJw9dw1ythY%0AY+dkZ1DGzskOqzLWXD2nu1i/Z9tefDq3AqBVp5bs2arbfs/WnOVpKWnZ21tYWhjc8RF47DwpxfhL%0AnmWjmmTcCyPzfgRkZvHwj8OU7dgiTznH8f2JXbMNJT0je5mSlg4a3TEvzM2ghN/pYu1Zg/S74WQE%0AR6JkZhG3/SjlOjXPU8598htErPwZpZjNKvg7Pp1asmfbPgCunruKtU2ZfI996zJWXD2nuxN/z7Z9%0A+GYf+63YrT/2d+c69ju+3J4ju44SFaa7W/lBbM65X22ixtzCHJVahbmlObGRsYUb5L9UWO1gSeLX%0AtR0/bdbNPggMuIiNbVmcnB3ylAsMuEhUZEye5SeOniEtNS27jKubc+FWuADZNa5G0t1IkoOj0WZq%0ACN5+kgqdDfv9Ucf/QpOqa/NizwVh5ar7m1EUBbW5KSozE1TmpghTNWnRxb/f/4hJ7TpkhYaiDQ+H%0ArCzSD/hj3sr3qbbVhISgCdXNQNLGxqJ9EI+qnG1hVrfAlfb4L10LoqK7Cx5uzpiamtK1nQ8Hjp8x%0AKHP7XgjNG9cHoJln/VzrBekZmWRmZZGRmUWWJgv78uWKOILnc+nqDSq6u+Lh5qKLv8ML+B89aVDm%0A1t37NGui+57TrElDDujX37objFejepiYqLGytKBmtcocPXW2yGN4VqU5dnjeYz/HnsMn8W3miaWF%0AeZHUu6h4eTbA1qassatRaMo0rk7q3QjS9f38mO1HsetseO1Lk5Sa/bPayiLf7zYOr/gSs/1YoddX%0AkozpuQcx9DMgrgohvhRCXBFC7BFCWOpnLSwVQgQA7zy2zWQhxBkhxEUhxNxc73NNCPG1EOKGEOJ7%0AIURHIcQxIcRNIUQzfbn3hRDfCiFO6JcPz6dOFkKIr4QQl4QQgUKIdvrlh4UQnrnKHRVCNBJCWAsh%0ANgghTuvL99SvtxRCbNLH9wtg+byf17OwcbEjITznC3ZCeBw2LuWfatuQc0HcPfEXk86sYOKZFQQd%0AvkhMUFhhVbXAlHO2Iy4s50tpfHgs5Z3tnlhGq9GSmphCmfJluX/1Lp4dvVGpVThUcKJyg6rYudoX%0Aaf0Lkp2LHbHhOZ9FbHgs5V3s8pbJ9VmkJKZQtnxZ3Kq4oSgw/Zs5LNzxGT1GGE5LLQlKe/zubi6E%0A3M/5mw0NCcfdzeWJ5W1tbXjpRT/8DxwtiuoVODsXe2IM9ncMdi72ecsY7O9kypbXdWydPJz5dOdS%0A5m7+iDredYuu4s/JwcWeaP3FVoDo8BgcHovbwcWe6PCcMjG5ypR3KE9cVBwAcVFxlHfIOUf4dPHh%0Aq4Prmf/NPBZN/KwwwyhQJs72ZOY6FrIiYjB1NvxMLOpVw9TVkaSDeb/IWTaqRdVdK6m2cwXhs1Zk%0AD2qURGaudmTk+iwyImIxczVsB63qV8XMzYGH/iXri7uDiwNRYVHZr3XHtUOeMtG54o8Oj84uY/fY%0AsW+nP/YrVK1AWduyLNm6iDU7V9Cpl26WZkxELFvWbGPzqe/56dxmkhOTCThcvD6z0toO5ubi6kRY%0AaET264iwSJxdnf5miyfr0/8VDu4vOedEKxc7UsJy+v0p4XFYuj6531+1b1vC/S8AEHs2iMjjf/Fy%0A4ApeDlxBxMGLJJSAfv8jagcHtNE57YE2OhqVQ97BK/PWbbD7cgM2c+aicnTMs96kVm2EiSmasJIT%0AO8j4o2LicHHMidfZ0Z7ImDiDMjWrVWbfkVMA7D96iuSUVB48TMSzXi2aedajfe/htP/fcHy8PKla%0AKe+MxeIsKjoWF6ec/ens6EBUjOEge63qVdh3WHfj0r7DJ/TxJ1CrehWOnjpHaloa8Q8ecubcRSKi%0AoikpSnPs8HzHfm5/HjhGt3ZPN/ApFR/mLnZkhObq54fHYeaS9/qVy+AuNDmxgkozB3Bn5oY86x16%0A+BDzy5FCratUcLQoxfpfcVVQMyRqAH0VRRkuhNgC9NIvN1MUxSD9khCik758M0AAvwkhXgCCgepA%0Ab2AIcAboB/gCPYDpwMv6t2kItACsgUAhxONJ3kcDiqIoDYQQtYE9QoiawHpgMPCu/rWFoigXhBAf%0AAf6KogwRQpQDTgsh9gEjgBRFUeoIIRoC557/oypadpWccajuxuIWutzgA76fRkXviwSfKTmpJv6t%0AI1v8ca1egdm/f0xsaAxBZ6+XmLvQC5rKREVt7zpM7z6J9NR0Zv34Abcv3+LysYvGrlqRKG3xq9Vq%0Avv92BctXbODOY1OwS4P4qDhGthxK0oNEqtavxpQvpzPebwypue5cKS1yz7g49ucxjv15jAbNGzB4%0A8iCm9C1ZKfWeSAicpw8jbMqSfFenXrjO7a5vY1bNA/dPx5N0MAAlo+TMUPhXhMBjzhDujP/C2DUx%0AukfHvtpETc2GNZjYZwpmFmas+O0L/jp3lQdxD2nVqSV9Ww4gKSGJ91fPouOrHdj3834j17xgyHbQ%0A0Cu9X6SBZz36dH/T2FUpFJVf9cGuYVX299KlSytT2Rmb6m5sb6rr97fbNA3HZheJPv3f6fennzhO%0Amv9+yMzE4qXu2Lw3nQeTctKFqezssJk2g4SPF5T4WXj5Ke3xTxoxkI+WrWP7ngM0bVAXJwc7VGoV%0AwaHh3A4OZd/mNQAMnzyPsxf/omnDkjmQ+ySTRg9h/pLVbN+1n6aN6uHsaI9KpcKnWRMuX7tJ/1GT%0AKV/Olkb1a6NWqY1d3QJVmmOHJx/7j0THxnPzTjCtvD3/5l2kkizi6z+J+PpPHF7xpcK7vQh6Z3n2%0AujKNa6BJTSfl+v2/eQdJKvkKahDjjqIo5/U/nwUq63/enE/ZTvp/gfrXZdANagTr3+cSgBDiCrBf%0AURRFCHEp13sCbFcUJRVIFUIcQDcgcj7Xel9gGYCiKNeEEPeAmsBWYJYQYjK6gZKvc9WphxDiUcJ0%0AC6Ai8ALwhf59Lgoh8r3yKYR4C3gL4CW7ZjQtUz2/Ys8sISIOm1wzCWxc7UiIeLq0KLW7eBESGERG%0ASjoAQQcu4NGkRrEfxHgQGYedW87dCOVd7YmPjMu3THxEHCq1CsuyViTF6+5G2DTv6+xy03+aT+Tt%0AkvMwx8fFRcRh75rzWdi72hMfEZe3jJsDcRGxqNQqrMpakRifSFx4LFdPXSFR/7kEHjhHlfpVS9RF%0A/NIY/6iRgxg69A0AAgLOU8HDLXudewVXQsMi8t1u9apPuBl0hy+WrSuSehaGuIhYHAz2t26/5ilj%0AsL+ts/dxUobu/7cv3yLyXgRuVdy5dSnvQ4KLg56DutOtXzcArl+4jqNbzh1ojq4OxDwWd0xELI6u%0AOWUccpWJj4nHzslOdye6k51B6pxHLp26hGtFV2zK25AQn1AYIRWorMhYTHMdCyYuDmTmSvujsrbE%0AvGYlKv2wULfesTwea2Zzf8QHpOXa5xm37qNNScO8ViWD5SVJRngcZrk+CzMXezLCc9pBdRlLLGpV%0ApNZWXb5gU8dyVN8wg6Ah84vlw71fHtSDF/XH/rUL13FycwJ0uct1x7VheqCYiBgcc8Xv6OqYXSbu%0AsWM/Xn/sR4dHkxCfQFpqGmmpaVw8dZFqdXWpJSPuR/AwTpdi58iuo9RvWrdYDWKUpnYwt4FD+/D6%0AAN19UBcDr+DmnjPr0MXNmcjwqCdtmi+fNs0ZM2E4/+s+hIwSNICZEhGHlVtOv9/K1Y7U8Lz9fufW%0A9aj7Tk/2v/oh2owsACp09SL2XBBZ+n5/2IELOHjVKDGDGJqYGFSOOTNuVI6OaGMM2wMlIef8lbZz%0AB2WGj8x+LayssP3oY5I3rCPr6l+FX+ECVtrjd3KwIyI6J97I6FicHezylFk6dwoAKamp7D1yEpsy%0A1vy0Yx8N69TAylKXOMG3WWMu/HWjRA1iODnaG8wgiIyOwcnB8G5sJwd7Pp8/A4CUlFT2HTqOTVnd%0As09GDOzDiIG6Z6JNmfsplXJ9fyjuSnPs8HzH/iO7Dx6nvW8zTE1kJveSJj0iDuepAAoAACAASURB%0AVDP3XP18VzsyIp6c6jTm12NUXfiWwTKHl32I+bXkzDqVpGdVUM/ESM/1s4acwZHkfMoKYIGiKJ76%0Af9UVRVmfz/toc73WYjjg8vhtJU91m4miKCnAXqAn8D/g+1x16pWrThUVRbn6NO+pf9+1iqJ4KYri%0AVdADGABhF25jX8WFch6OqE3V1O/egut7ny71wcPQWCo3r4NKrUJloqZSi9pEB4UWeB0L2p0LQThX%0AdsWhghNqUxOad/fh/F7DdCHn9wbQqldbALy6teSa/jkYZhZmmFnq8kDW9W2IJktDWFBIkda/IN26%0AcBOXKq44eug+i1bdfQnYe9qgTMC+07TppXswaYturbhy/BIAFw4FUrF2JcwszFCpVdRtXo+QmyVr%0AdL40xr9q9Ua8vDvh5d2J337bzYA3XgOgebMmJDxMICIi74WcD+ZOwda2LBMmzinq6haooAs3ca3i%0AhpOHMyamJvh0b82ZvacMygTsO03bXu0BaNnNh8vHdYNSNnY2qFS605qThzMuVdyIDM5/wKc42L7x%0Ad0Z0HsWIzqM49udxOr3mB0CdJrVJTkzOTpHzSFxUHClJydRpUhuATq/5cWyPblr98b0n6dRbt32n%0A3n4c33MCALfKOV/iatSvjpm5aYkYwABIvXgDs8rumFZwBlMTbF96gaT9OceCNimFG979CGozhKA2%0AQ0gNvJY9gGFawTn7Qd6mbo6YVa1AZsi/uwBanCRfuIlFFVfMPJwQpibY9fTlQa52UJOYwoWGA7nU%0A8i0utXyL5MAbxXYAA+DXjb8xvPNIhnceybE/j9HpNV2qpzpN6jzx2E9OSqFOE90Diju91pFj+mP8%0A+N4TdNYf+517+3Fc/zdxbPcJGnjX1z33wsKcOp61uRcUTFRYFHUb18Fcny+6iW9j7gUVr5lrpakd%0AzO2b9Zvp1vZ/dGv7P/bs9KdXn+4ANPZqSGJCYr7PvniSeg1qs+Cz2Qx9Yxyxj6XkKO7izt+mbBUX%0ArD0cUZmqqdizBSF7DPv95etXwvvjoRwe/BnpsTltekpoLE4t6yDUKoSJGqcWtXl4s/j3+x/JunYN%0AE/cKqFxcwMQE83btST9umN9bZZdzYc+spQ+a4Hu6FyYm2M79kLQ9u0k/fKgoq11gSnv89WtX515o%0AOCHhkWRmZrLrwDHatjLMCx//MCF7hv26H37hlS66dtDVyYGAi3+RpdGQmZXF2YtXqFqxZKWTql+7%0AJsEhYYSEReji33+Ydr6Gz0OKf/AwO/4vv9vKK9105z+NRsODh7q24HrQHW7cukMr7yZFG8BzKM2x%0Aw/Md+4/sOnBUppIqoZLOB2FZxRVzfT/foacvcbsDDMpYVHHN/rl8x6ak3cl1k64Q2HdvRcyv8nkY%0AJYmiKMX6X3FljGHa3cA8IcT3iqIkCSHcgX97e1RPIcQCdOmk2gJTAbNc648AbwD++rRRFYFHtyCt%0AA34HjiiK8ui2pt3AWCHEWP3Mj8aKogQCh9GltPIXQtRHl8aqyGk1WnbO/poB37yHUKsI3HKI6Juh%0AtJvQi7CLd7i+7xxuDavy+trxWNhaUbNjY9qO78VKv/f4a+cpqrSqy6g9C0GBoEMXuLE/8J9/qZFp%0ANVq+m72OCd/MRKVWcXSLP2E3Q3h5fB/uXrrF+X0BHN6yn+GLx7Hg4DKSHySxZqwupUhZB1smbpyJ%0AVlF4EBHHugk56TV6T+1P856tMbM0Z9GJNRzZvJ/tS7cYK8ynotVo2TD7S6Z/MweVWs3BLfsIuXmf%0A3hP6cvtiEGf3neHA5n2MWfIunx9aRdKDRD4fo8t7n5yQzB/rfuOj3xeBohB44ByBJSxfemmPf+eu%0A/XTp0p7rV4+RkprKsGETstcFnNmDl3cn3N1dmT7tHa5eu8mZ07sBWLnyKzZ89SNeTRuxbet6ype3%0A5aUX/ZgzeyKNPNs/6dcZnVajZd3sNcz85n1UahX++v3dZ0I/bl0MImDfafZv3su4JRNYdmgNSQ8S%0AWTLmUwDqNK/H6xPeICszC0VRWDt9JUkPkwDoP20wrXu+gLmlOWtObmD/pr1sWfqjMUM1cMr/NM3b%0AN+Pbo1+TlpbOpxMWZa9bs3sVIzqPAuDz6cuYsngy5hZmnD54htP+usHdTcs3MWv1TLq+3oXIkEjm%0AjZoPwAvdfPHr1ZGsLA0ZaenZywGW/vQZHtU9sLS2ZNOZ71k0aTEBh4rR34dGS8TcVVT8eh5CpeLB%0Atr2k3wzG8d3+pF66aTCg8Tgrr7rYj+gNWRoUrZaIOSvRlJDBm3xptATP+pKa388BlZrYzftIu3Ef%0At0l9Sb4QxMO9eZ8JUlKc9D9N8/bN+e7oRtLT0vk417H/5e7VDO+su8t46fRlTF08CTMLc04fPMMp%0Af90gzo/LNzFn9Sy6vd6VyJBI5o7SzUYJDgrm9MEzrN+7FkWrZcePu7h7/S4Ah3YeYe2fK9Fkabh5%0A5RZ/fL+zaIP+B4XVDpYk/nuP0M6vNYcDdpCamsaksbOy1+08uIVubf8HwLQ54+n5WjcsrSw4eWkv%0Am779maWfrGL63AlYWVuxcoPueAoLiWBY/3FGieXfUjRaAmZ8TdsfdP3+25sOkXAjlAaTexF34Q6h%0Ae87hOasfptYW+K7VPXYwOTSGI4MXc/+PUzj71KWrv67fH37gAmF7i3+/P5tWQ+KypZT7eBFCpSJ1%0A10409+5iPXgImdevkXHiOJav9MK8lQ+KRoOSmEjCJ7rZeOZt22HasBHCxgaLzl0ASPxkIVm3iv8s%0ApGylPH4TtZrpY4cx8r0P0Wi1vNK1PdUre7D8q03Uq1WNdq28OXP+Cp+v/x6BoGnDuswYNwwAvxda%0AcCrwMq8Om4BA4OPtSdtWXv/wG4sXExM108ePZMTE2br4X/SjepVKLF/3HfVq16Cdb3POBF5i6dqN%0Auvgb1WfmBF3/MCtLw8DR7wFQxtqKhbMmYWJSclIqlebY4fmOfYDQiCgiomLxalRyZh79G5PnLORM%0A4EUePEigw8v9eXvoAHp172zsahUcjZbb09dR98dZCLWKyE3+pN64j8fk10m6EET8ngBchnSlXOuG%0AKJlZZD1M5ua4nFRSNi3qkhEWS3pwpBGDkKSiIZ53hEUIURn4Q1GU+vrXk9CliGoLTFIUJUAI4QWM%0AVBRlmL7MO8CjVjcJ6I9uBkfu9/la/3pb7t8hhHgfqIouBZUD8ImiKF8+VsYCWAV4AVnABEVRDuSq%0A8zXgXUVR/tS/tgSWAq3QzU65oyjKS/rlXwGNgKuAOzBaURTDYdFc3q/0RvEdsipkwSL9nwv9hyUr%0AWcaugmQkP4WX3AuIBeFl16bGroJRxWvSjF0Fo1pmbmrsKhhNSnrpjR1gcr4TbksPe7WlsatgVGeS%0A7hq7Cka10LyBsatgNB3qlNwZztLzK7dx+T8X+g8TZhbGroJkJEpG6e7zCwvrfy70H3amwWRjV8Go%0AWoX/JIxdh/8S9/L1ivW149D4K8Vyfz/3TAxFUe7+n737Do+i+ho4/j2b0HuoAalSFKQI0lFQqgXs%0AItjA9toRFRsgSBPUH6BYsSuK2LvSpAkCUqSJ9E4SSEIJnSTn/WMmYRMCKJKdZOd8fHjIzs6Gc5xt%0AM/fec4Dzgm6/mMU+Czg2aIGqvgS8lMWvC/49PU70bwBLVfXWE8WhqoeALDv4iUh5nIGKSUGPPYjT%0AxDtz3AeBG7P6PcYYY4wxxhhjjDHGGGOMyV6+6vojIrcCQ3FWZqR6HY8xxhhjjDHGGGOMMcYYf0jN%0AwX0ncrJcN4ihqgP/w2M/BD48c9EYY4wxxhhjjDHGGGOMMSa7BLwOwBhjjDHGGGOMMcYYY4wxJiu5%0AbiWGMcYYY4wxxhhjjDHGGJPbKFZO6nTYSgxjjDHGGGOMMcYYY4wxxuRINohhjDHGGGOMMcYYY4wx%0AxpgcycpJGWOMMcYYY4wxxhhjjDHZTNXKSZ0OW4lhjDHGGGOMMcYYY4wxxpgcyQYxjDHGGGOMMcYY%0AY4wxxhiTI1k5KWOMMcYYY4wxxhhjjDEmm6Vi5aROh63EMMYYY4wxxhhjjDHGGGNMjmSDGMYYY4wx%0AxhhjjDHGGGOMyZGsnJQxxhhjjDHGGGOMMcYYk81UrZzU6bCVGMYYY4wxxhhjjDHGGGOMyZFsJcYZ%0AtlUOex2CZ5L0qNcheOqgJnsdgqfySoTXIXimarFyXofgqaRUf7/2/d6U692Uol6H4J1IKKr+nQ+S%0AN9W/33kArj1axOsQPLUmT2GvQ/DU9kjxOgTPTFhd0esQPFUs1esIvFWh0RCvQ/BUfknxOgTjEZ+/%0A9IkQf5/zNF72gtchGON7NohhjDHGGHMa/DyAYYwxxhhjjDHm30u1clKnxc6+jTHGGGOMMcYYY4wx%0AxhiTI9kghjHGGGOMMcYYY4wxxhhjciQbxDDGGGOMMcYYY4wxxhhjTI5kPTGMMcYYY4wxxhhjjDHG%0AmGym1hPjtNhKDGOMMcYYY4wxxhhjjDHG5Eg2iGGMMcYYY4wxxhhjjDHGmBzJykkZY4wxxhhjjDHG%0AGGOMMdksFSsndTpsJYYxxhhjjDHGGGOMMcYYY3IkG8QwxhhjjDHGGGOMMcYYY0yOZOWkjDHGGGOM%0AMcYYY4wxxphspmrlpE6HrcQwxhhjjDHGGGOMMcYYY0yOZIMYxhhjjDHGGGOMMcYYY4zJkayclDHG%0AGGOMMcYYY4wxxhiTzVKtnNRpsUGMHKxO6wZ0e6YngYgAsyZM5efXv8lwf2TeSO4Y+SCVz6vGvt37%0AePOBkSRs3UlEnkhuHXY3leuejary6bPvsWruCgCadGnJZfddAwq7dyTy9sMvs29XkhfpnVKD1ufT%0Ac8BdBCICTP10Mt+8/mWG+yPzRvLgyN5Uq3s2SbuSGPXAC+zcuoPSZ5Vh9NRX2L5uGwCrF6/mrb6v%0AAzDw0yGUKBPFkUOHARh8y0D2JuwJbWL/UMPWjbh74N0EIgJM+nQSX7z2eYb7I/NG8sioR6letzpJ%0Au5IYcf9wdmzdQYMLG9DjyZ5E5okk+Wgy7w59h6VzljqPyRPJPYPvpW6zuqSmpvLRCx8y5+c5XqR3%0AUue3bsjtA+4kEBHBlE8n8XUWx77XyN5Uq1udpF17+Z977NOUKl+Kl6a8ymejx/PtWOd1U7BoIe4f%0A8QAVa1YGlFf6vMzqRatCmda/0n9YH1q3a8nBA4d44qGB/LX07+P2qVPvHEaMeZb8BfIxY8psBj/9%0AAgDn1KnBoBeepmChgmzbsp1H7+nHvn37yZMnksH/68t59WuTmprKkL4vMn/OwlCnlqUL2jTinoH3%0AEBER4Ofxv/BZpud7nrx56DP6UWrUrcHeXXsZdt9zxLnHvOv9N9Dpxo6kpKTy+oDXWThjEQBX3X4l%0Al3bvhCD8PP4Xvn7n2Htolx5d6HLbFaSmpDLv1/m8M+zd0CX7Dzw46D6aXtKEQwcPM6L3C6xZvva4%0AfWrWrcETo/qQL39e5v06nzHPvAZAkeJFeOa1vpSrWI7YLbE8e+8Q9u3ZR/3m9RjyziBit8QCMOvn%0A3/hw9LiQ5vVv1WpdnyufuZVARIB5E6Yx7fXvMtxfrck5dHnmVqLPqcTHD77M0p/nZ7g/X+EC9Jn8%0AAismLeDrAe+HMPL/7uzW9eg44BYCEQEWfzqd2a9/n+H+Sk3OoeOAmyl7TiW+fPAVVv50LPd2T3Wj%0A+iUNkICwftZyJg78MNTh/2en+55QpHgR+r/Zl5r1azL588m82v91jzL4b6Lb1KPh4FuQQIB146ez%0A8pWMx7/W3ZdydveL0eQUDiXsZd4jb3FgWzwA9fveSPm2DQBYMfobNn83N+Txn64nhvSmVdvmHDp4%0AiP69hvD3stXH7XNuvVoMfqkf+fLn47epvzOi36j0+7rdcR1de1xLamoKM6fMYfTg1yhfsRxfzxzP%0AxnWbAFi2cAVDnnghZDn9W1Va1+PigbcgEQGWfzqd+a9lPPaN7ryUut3akJqcwoHEJCY+NpakbQmU%0Arl2JdkN7krdIATQllXmvfMuq7+d5lMXpq9SmHhe5+f81fjoLM+Xf4K5LqXNjG1JTUjiYkMRUN/8i%0AFUpy2Vu9kYAQiIxg6fuTWD7uV4+yOH3l29Sj8SDntb92/HSWv5ox/3PvvpQa3do4r/3EJOY8Mpb9%0A2xIo2+JcGg+8OX2/YmdHM/O+V9kyMWd8z/unoi6uT80hPZCIANs//pVNY77NcH+FW9tx1u0d0ZRU%0AUvYf4u/HxrJ/9TbyVyxNs1kjObBuOwB7Fq5h1eNve5HCf1L84gZUG9wTIgLEfTyVba9kPP8vd2sH%0AyvV08k/df4i1fd7k4OqtlL7mQsrf1yV9v0K1K7Ok/ePsX7ExxBmcPj/nDlDCzV8iAsR+PJWtWeRf%0Avuex5/7aPm9ywM3/rEz5L86F+Re/uAFVB90OEQF2fDKVba98neH+srd2oFyPTpCSSsqBQ6zr8wYH%0AV2+l1DUXUuHeK9P3K1i7Mks69OFALsv/ZPoNG8nM2fOJKlGcb8a94XU4xnjKBjFyKAkEuGnQnYy8%0AeRC7YhPp991w/py8gJi1W9P3aXVDW/bv2c/TbR6kceeWXPfkzbz5wCguurEdAAM7PUqRkkV5+P2+%0ADOnyJBIQbnzmdp5p/zD7diVx3ZM3c8ltl/Ld6M+8SvOEAoEAdwz+PwbfNIDE2ASe++5FFkyZz9Y1%0AW9L3uaRre/bt2ceDre+hRecLufnJ2xj1gHNSGrsplj6X9c7yd7/UayTrlx1/QTAnCQQC3DvkXvrd%0A1I+EmHhGfT+KeZPnsiUo/w5dO7J/zz7uvuguLup8ET2e6snz949gb+JeBt3+LIlxiVSuWZlB4wZx%0AW5PbALjhwa7sjt/N/7W5GxGhSPEiXqV4QoFAgLsG/x/P3vQMCbEJPP/d//gj07Fv5x77+1v/Hy07%0AX8itT97G/x44dkGiZ/87WDx9UYbfe8eAu1g8YxEv3DuCyDyR5C2QL2Q5/Vut27WkcrWKtGtyFQ0a%0Anceg55/iuk63Hbffsy88Rb9HBvPnwuW8/enLXNS2BTOnzmHoqP6MGDia+XMWcV33Ltz5wK2MHv46%0AN9xyNQBXtO5KVKkSvPPpGK5pf4vnTaUCgQD3D7mfp7o/TXxMPGN+eIm5k+exec3m9H063tiBfbv3%0A0fPCO2jdpTV3PH07w+4bTqUalWjTpTV3t72HqLJRDB//HHdcdCcVa1Tk0u6deOiKhzl69CjDPhrC%0AvKnz2L4xhvrN69GiQzPu7Xg/R48cpVjJYh5mf7ymlzShQtUK3NyqB+c2PJfezz3EfZ0fOm6/h597%0AiBcfH8XKRSsZ/tFQmlzcmPnT/qD7/V1ZNHsx41+dQLf7u9L9/hsZO8w5kV82fxlP9+gf6pROiwSE%0Aqwf1ZOzNw9gTm0Cv74by1+SFxK3dlr7Pru3xTHjsDVrfdXmWv6PTo9ezfv7xA4A5nQSESwf3YNxN%0Az7E3NpE7vxvMqimLiF9zLPc92+P59tE3aX53xtzPalSDihfU5M2OTwLQ88sBVG52LpvmrgxlCv/J%0Af3lPOHL4CB+8+BFValWmSq3KHmZx+iQgNBrWg2k3PsfBmEQ6/DSYbRMXsTfo+O9avomJl/Yj5eAR%0Aqt/algb9uzHnnjGUb9uAqLpV+KX90wTy5qHtl33Z/usSkvcd9DCjf6ZV2+ZUqnYWnZvfQN2Gdeg3%0Aog83X3bXcfv1G9GHZx8dzrJFK3j1k//R8pJmzP51Lo1bNqRNxwu5vu2tHD1ylKhSJdIfs3XTNrq2%0A6xHCbE6PBIS2Q27ji5uGkxSTyE3fD2Lt5IUkrtmevs+OFRsZd3l/kg8dof7NbWn9dDd+uP8Vkg8e%0A4efeb7B7YxyFyhbn5h+HsHHGMg7vPeBhRv+OBIQ2Q27jm+7D2ReTSNcfBrF+8kJ2BeW/c/lGJrj5%0An3dLW1r27cYv973C/h27+fyqgaQeSSZPwXx0nzKcDZMXsT9ut4cZ/TsSEJoOvY3J3YZzICaRy34a%0AxJZJC9kTlH/i8o38eGl/Ug4doeatbWnUrxsz732FuDkr+aFDXwDyFi/E1b/9j+0zlnmVyukJCLWG%0A387iG4ZyeHsCjSc+R/zEBexffey9L/ar2Wz7cAoApTo2osazt/Jnt+cAOLgpjvltn/Ak9DMiEKDa%0Ac3ey4oZBHIlJpP4vw0mctICDq4+d/+/8ahaxH04CIKrDBVQdeBt/dR/Kzq9msfOrWQAUPKcS57yf%0Ayy5i+zl3gECAs5+7k+U3DOJwTCIN3PwPnCL/FVnkXzuX5l9t2F2s6DqIIzEJ1Pt5BImT/shw/OO/%0AmkWcm3+JDhdQZWAPVnYfQvxXs4gPPv7vPRFWAxgAV13Wnu7XduHpwS96HYoxnrOeGDlU1QbV2bEp%0AlvgtO0g5msz872fToEPjDPs06NCYOV9OB2DhT79zTou6AETXOIuVc5YDkJSwlwN7D1Cl3tmICCKQ%0At6Bz8TZ/kYLsjksMXVL/QvUGNYjdGMuOLXEkH01m9vezuKB9kwz7NG7flBlfOjOs5v40m/Na1vMi%0A1GxRs0FNYjZuJ25zLMlHk5n5/UyadWiWYZ9mHZoy9YupAPz202/Ub1kfgPUr1pPoHtdNqzeRN38+%0AIvM645Xtb2jP5686g1aqyt5de0OV0j9WvUENYjbGEOce+9++n0WT9k0z7NO4fVOmucf+959mU9fN%0AHaBJh6bEbYljy+pjF7sKFilI7aZ1mPLpZACSjyZzYO/+EGRzetp1as03E34E4M+FyylSrDCly5bK%0AsE/psqUoXKQwfy50XuvfTPiR9pe2AaDq2ZWZP8cZxPlt+jw6XnEJANVrVeP3WX8AkBi/i717kqjb%0AoHYoUjqpWg1qsn3jdmLd5/v072bQPNPzvXmH5kz+wjlpnfXjLBq0bOBub8b072Zw9MhR4rbEsX3j%0Admo1qEml6hX5e/EqDh86TGpKKkvnLaNlp5YAXHHL5Ux47TOOHjkKwJ4cthqrZYfmTHJzXbloJYWK%0AFiaqTFSGfaLKRFGocEFWLnIuTE/6YgqtOrYAoEWHFkz83HmuT/x8Mi3d7blNpQbVSdgUS+KWHaQc%0ATeHP73+nTocLMuyza2s8MX9vznIgrsJ5VSlcqhirZy0NVchnTIUGZ7NrYxy7t+wk9WgKK76fS632%0AjTLss2drPDv+3oKmZspdlYh8eYjIE0lE3jwEIiPYH5+znuOn8l/eEw4fPMyKP1Zw5PCRkMd9pkSd%0Afzb7Nsaxf7Nz/Dd/O5ezOmY8/jvm/EXKQSfHhEVrKRjtvEcUrVmBHXP/dmZqHjzM7pVbiL44d3w/%0AurjjhXz/2S8ALFu0giJFC1OqTMkM+5QqU5JChQuxbJGzwvj7z37hkk4XAXD9bVfz7piP0t/bE+N3%0AhTD6M6Ncg7PZvTGOPe6xX/X9XKp3yHjst/y+kuRDzrGPWbyWwu6x37Uhlt0b4wDYH7ebA/F7KBCV%0A8yarnExZN/+9bv6rv5tLtUz5bwvKP3bRWgqVc/JPPZpC6pFkACLy5kECEtrgz4CS559N0sY49rn5%0Ab/x2LhUzvfbj5qwkxc0/fuGx136wypc3Ydu0Jen75RZFG1bn4IY4Dm3agR5NIe6bOZTqlPH8NyVo%0AQDaiYD7PJ+KcSUXOr86hDbEc3rwDPZrMzm9mE9XxxPkHCmY9IavU1a2I/2Z2tsZ6pvk5dziW/6F/%0AmH/ECfIvfXUrdubC/AufX52DG2M5vDkOPZpM/Le/nSL//JDFa7/U1a2I/zb35X8qFzSoS7Giuevz%0A3Jya5vD/ciobxDgJERkkIg8H3R4qIr1C8W+XKBvFru3x6bd3xSRQomzUCfdJTUnlYNIBCpcowtaV%0AG2nQrjGBiAClzipD5brVKBFdkpTkFMb1e4tnfxnJi/Pfonz1s5g1IWcus44qV5KEmGP5J8YkULJc%0AyUz7RBEflP+BpP0UKeG8uZepWJbnfxrFsxOGck7jjBdp73/xQV74aRTXPnRDNmdx+kqWK8nOoOMf%0AHxNPybIls9hnJ5CW/wGKliiaYZ+Wl7Vk3fJ1JB9JplDRQgDc8tgtjP7xJZ58/SmKlyqezZn8eyUz%0AHfuEmHiiyh2fe0IWxz5/wfxcfe+1fDb60wz7l6lYlr0Je3jgxV68+NNo7hvxAPly8EqMstFliNke%0Al347dvsOypYrnXGfcqWJDd4nJo6y0WUAWPP3Otq5AxqXdmlHuQplAfh7+WradmpNREQEZ1Uqz3n1%0AzyXavc9LJcuVSn8ug/N8L5XpmJcKek2kpqSy332+lwp6HaQ9tmS5UmxctYnzmtShSPEi5Mufj8YX%0AN6Z0eef/YYVqFTivyXm89N0oXvj8eWrWrxmCLP+5UuVKsWP7sfJozv+PUsftszPodbIzZmf6PlGl%0ASpC4wxnITNyRmGE2cu1GtXl70hsM/2goVWrm7FnqxcqWYPf2hPTbu2MSKFa2xEkecYyI0KXfzfww%0A9OPsCi9bFSkXxZ6YY7nvjUmkSLl/lvvWRWvZ9PtfPPLHqzzyx6usm7mU+LXbT/3AHOS/vCeEg4Ll%0AojgQ9Nw/EJNIgegTH/9q3doQ8+sSAHb/tZnoi+sTUSAveaMKU7ZFbQqVL3nCx+YkZaJLExf0uRYX%0As5My0aWP3ydmR9A+O9L3qVytIg2b1WfcT2/xztevUqfBuen7VagUzYTJ7/PO169yftP65FSFy5Ug%0AafuxCUZJMYkUPsn73nldW7Nh2pLjtperX42IPJHs3rQji0flXIXKlWBfUP77YhIpfJL3vjo3tmbT%0A9GP5F46OotukYfSY/xILX/8hV63CAChYrgT7g/I/EJNIwZPkX71ba7ZlcfyrXNmMDd/+ni0xZqf8%0A5aI4FPTed3h7AvmyyP+snh1oPu8lqve/idV930/fXqBSaZpMGU7DrwdQvOk5oQj5jMobHcWRoPO/%0AIzEJ5MtikKpcz040nPsKVfrfwvq+7xx3f6krWxD/zW/ZGuuZ5ufcAfJFR3H4H+Qf3bMTF8x9har9%0Ab2FdFvmXvrIFO3Nj/uWiOLItOP9E8pY7/rtLuR6daPj7q1Tudwsb+h1fwKx/OQAAIABJREFUCrhU%0Al5bEfz0rW2M1xnjLBjFO7l3gVgARCQA3Ajm7gDjw22e/sis2gX7fj6DrgJ6sW7iK1NRUIiIjaHNz%0ARwZd3ofHmtzF1r83cdl9V3sd7hm3a0ci9za/k8cv680Hg9+l18uPUqBwAQBe7jWSRzv2ov/1T3Nu%0A49pcdM3FHkebfSrVrESPp3ryylNjAIiIiKB0+dKsXLiShy/vxd8LV3J7vzs8jvLM6tq7G9+//S2H%0ADhzKsD0iIoJq553NxHE/89hlD3PowCGuue86j6LMfk/1GsRNPa/n6ynjKFS4YPqs1C8++Y7Y7XF8%0APeUj+g55lEV/LCElJdXjaLPHlrVb+Oy1z3nu46EMHTeY9X+tJ9XNNSIygiLFi9CrS2/eHvo2fV97%0AyuNos1faLMU1y9ZyY9ObuLPDPXz93rcMfudZjyPLPi1uac/KaX+yJzZnrjbMTiUql6VU9fKMavYg%0Ao5o+QNUWdajUuJbXYZlsUuWalkTVq8bK138AIHbGMrZP/ZP23w2k5WsPEL9wDRqm7/OZRUZGUqx4%0AUW6+7C5GDXqFF8YOBmBnXAIdG11N1/Y9eHHAywx/bSCFChf0ONr/7tyrW1K2XjUWvPljhu2FyhTn%0A0tH3MvGxsVnOVA0Xta5uSZl61Vj0xrH898UkMr7D03x04aOce92FFCgVHgObWal6TUtK1q/Gitcz%0AHv8CZYpT4pyKbJ+ey0pJ/Qtb35vE7017sXbIJ1TtfQ0Ah+N28VvD+5nf7knWDPiQOq8/SIR7/hdu%0AYt/7hUXNHmDjkHFU7J3xfKbw+TVIPXiYA39vOcGjczc/5w4Q894vLGj2ABuGjKNSpvyL+CD/2Pd/%0AYVHz+9k09CPOevjaDPcVPr8GKQcPc2BV+OZvjLGeGCelqhtFJEFEzgfKAotVNSHzfiJyN3A3QMuo%0A8zmnSLX//G/vikukRPljM29LRJdkV6bST2n77IpNJBARoECRgulNuicMfj99vye/HErc+hgq1q4C%0AwM7Nziy3P36cw2X35sxBjMTYBEpGH8s/KrokCbEJmfZJpFT5UiTGJhCICFCwSCGS3Pz3HXH+Xr98%0AHXGbYoiuWoH1y9aml1k6tP8gv307kxoNajDzq2khyuqfS4hNoHTQ8S8VXYqEuIQs9ilNQnr+BdPL%0AQ5UsV5K+Y/sxsvf/iN3kNPHdu2svhw4cSm/k/duPv9H+xg4hyuifS8h07EtGO8f4uH3KlwrK3Tn2%0ANRrUpPmlLbj1qR4UKlqIVFWOHD7K7z/NJiEmnjV/Og1Cf/9pDtfcl/GLj9duuv16uro9K5Yu/ovo%0A8sdWSJQrX4a42J0Z9o+L3Um54H2iy6bPTl2/diM9b7gfgCrVKtGmfSsAUlJSGNZ/ZPpjJvz4bnqj%0AUy8lxManr5IA5/ken+mYx7uvifjYeAIRAQq5z/d493UQ/NiEWGcmz8QJk5g4wamd2vOJ29JXLsTH%0AxDP7Z2ep8ao/V5OqSrGoYuxJ9K7kzlW3deHy7pcB8PeSVZQpXwZwyqU4/z/iM+wfHxtP6aDXSeno%0A0un7JMbvIqpMlLMKo0wUuxKcmagH9h2riz7v1/k8PPRBipYomiPLygHsidtF8aAZ5MWjS7In7p+V%0Ah6ncsAZVG59Di1vak69gfiLyRHD4wCF+GvHpqR+cAyTFJlIs+ljuRaOjSIr9Z7mf0+kCti5ey9ED%0AhwFYO20JZzWsweY/VmVLrNnhv7wnhIMDsYkUDHruF4yO4mDM8ce/7IV1qN3rSqZeMyS9jA7AXy9/%0Ay18vO81wm796P3vXx2R/0Kepa89ruOYmpyHpij//pmzQ51rZ6NLsiMn42bcjZmf6qkNnnzLp+8Rt%0A38HUn2YAsHzxSlJTlRIli7MrYTd73MH8lUtXsWXTNiqfXYm/luS8fjn7YndRpPyx2bdFoqPYl8X7%0AXqVWdWj6QBcm3DCUlKBjn7dwAa5+7zF+e+EzYhavC0nMZ9L+2F0UDsq/cHQU+7J476vYqg4XPNiF%0Ar64fmuG5n/574naTsGor5ZvUYt1Pf2RrzGfSgdhdFArKv2B0FAeyyD/6wjrUfagLk649Pv/KnZuy%0A+ecFaHJKtsd7ph2KTSR/0HtfvvIlOXySz764r+dwzog7AdAjySQf2QdA0tINHNwYR8Gzo0lasj57%0Agz6DjsQkkjfo/C9vdEkOx5x4Mkb8N7M5e0TGvkGlr2pJ/Ne5r5yOn3MHOByTSL5/kf/Ob2ZTPYv8%0Ad+bW/GMTyVshOP8ojsQed9ktXfw3s6k2/O4M20pd1TJXrsIxxvw7thLj1N4GegA9cVZmHEdVx6rq%0ABap6wZkYwADYuGQtZatEU+qsMkTkiaRJ55YsmZzxS/iSyQtocW0bABpd1py/3T4YefPnTW9aXLtV%0APVKTU4hZu5VdsYlE1ziLwlFF3fvqZ2gUnpOsXbKG6KrRlKlYhsg8kbTsfCELJs/PsM+CKfNpfa1T%0A67/ZZS1ZPsepe140qiiBgPPULlOxLNFVy7NjcyyBiEB6uamIyAgatW3M5lWbyYlWL1lN+aoVKFux%0ALJF5Irmo80XMmzwvwz7zJs+j7XVtAWh1WSuWuvkXKlqIge8P5P3h77NyQcZGrvOnzKNuc6d3Sv2W%0ADTI0Cs8pnGNfnjJu7q06X8gfmXL/Y8p8LnaPffPLWrLMzb3f9U9xT6u7uKfVXfzw7vd89ern/PzB%0Aj+zeuZv4mHjKV6sAQL2W9XNc7h+/+zldLu5Ol4u7M+Xn6VzV1WnW26DReSTt3cfOuIwXsXfGxbMv%0AaR8NGp0HwFVdL2fKL87Fm7TyQSLCfY/cwacffAlA/gL5KVAwPwAtWzclJSWFtas3hCS/k1m1ZDUV%0AqpRPf7636dKauZPnZthn7uS5tL+uHQAXXn4hS2YvSd/epktr8uTNQ9mKZalQpTyr3MGqtIbdpcuX%0ApmWnlkz7ZjoAcyb+Tv0WTjmRClUrkCdPpKcDGADffPAdd3W8h7s63sPsX2bTwc313Ibnsj9pf3p5%0AqDSJOxLZv+8A5zZ0yqV0uK4dsyc5pSPmTP6djte3B6Dj9e2ZM8kZuCxR+lhJhnMa1EICgRx90XfL%0AknWUqlKOqLNKE5Enggadm7Ni8sJ/9NhPHn6VoS0fZFirh/h+2DgWfjUr1wxgAGxbsp6oquUoXrE0%0AgTwR1OncjNX/MPc92xKo3PRcJCJAIDKCys3OIT6oGXpu8F/eE8JB4p/rKVK1HIXc41/pymZsnZTx%0A+Jc4rzKNR9zBzB7/43DCsdexBIS8JQoDUPzcihQ/tyKxObi574T3vqJrux50bdeDab/MpPMNnQCo%0A27AO+5L2E78j0+DVjgT279tP3YZ1AOh8QyemTXRKR0z7ZSaNWzYEnNJSefJEsithNyVKFk//Xlih%0AUnkqV63I1k058zURu2Q9xauWo6h77Gt1bsa6yYsy7FOmTmXaP3c739wxkoNBxz6QJ4Iubz3MX1/N%0AYk0uunAfLG7JeopXOZZ/zS7N2JAp/1J1KnPx8Nv54faM+RcqF0VE/jwA5CtWkOjGNdmdgwfwspLg%0AvvYLu/lXubIZWyZlzD+qTmWaDb+daT1Hcijh+M/wqlc1z5WlpACSFq+jYLVy5K9UGskTQdmrWhA/%0AcUGGfQpULZf+c6n253PAPcZ5ShYBtw9K/splKFAtmoOb4shNkv5cS4Fq0eSrVAbJE0npq1qSOCnj%0Aazl/UP4l2jXk0IbYY3eKULJL81xZTsjPuYOTf/5/kX9Uu4YczJR/qVyc/74/11KgajT5Kjr5l7qy%0AFYmZXvv5q0an/1yiXSMObQh6fxehZOcWubIfivGvVNUc/SenspUYp/Y1MAjIA3QP1T+ampLKJ8+8%0AzcMf9iMQEWD2Z7+yfc1WruzdlY3L1rFkygJmfTaVO0c+xLDpY9i/ex9vPjgKgCKlitH7g36oKrti%0AE3n7kZcB2LNjF9+/9DlPfDaIlKMpJGzbybuPvRKqlP6V1JRU3nlmLH0/HEggIsC0z6aydc0Wuj7S%0AnXVL17Jgynx+nTCZB0f1ZsyMN9i3O4lRD7wIwLlN69D1ke6kHE0mVZWxT7/Ovj37yFcgH/0+GkhE%0AZCSBiADLflvC1PGTPM40a6kpqbzR/3UGfTSYQESAyRMms3n1Zm565GbWLFvD/MnzmDRhEo+Ofoyx%0AM99i3+4kRjzwPABX3HYF0VXK061XN7r16gZA/5v7sSdhD+899x6Pjn6Muwbczd7EPYx+dLSXaWYp%0ANSWVt595k2fcYz/1sylsWbOFG91j/8eU+UydMJleox7h1Rlvsm93EiMfeOGUv/ftAWN5+KVHiMyT%0Ah7jNsbzy2EshyOb0TJ/8G63btWTq/G85ePAQTz40MP2+76Z9QpeLnbeigY8PZ8SYgeTPn58Zv85m%0AxhTni1vnazpx0+3XAzDpx2l88cl3AJQsVYJ3P3sFTVViY3bw2H39Q5vYCaSmpPJq/9cZNm4IgYgI%0AJk2YxKbVm7n10VtYvXQ1cyfP45dPJ/L46D68N+sdknYnMez+4QBsWr2ZmT/MYuyvb5KSnMIr/V4j%0ANdUpnfLM2H4UKV6UlORkXun3GvvdZu4TJ0zikRd78+aU1zl6JJkXev/Ps9yzMvfX+TS9pCnjfvuA%0Aw4cOM+KRF9Pve2viG9zV8R4ARj89hidHPkbe/PmYP/0P5v3qDPSOf+VTBrzRn8tuvJS4rXE8e+8Q%0AAFpffhFX3nIFKSkpHD50hMH3DQ19cv9CakoqXz/zPnd9+BQSEeCPz6YTt2YrHXtfx5ZlG/hrykIq%0A1qvGbW8+QsFihajdtiEdel/Pix36eB36f6Ypqfz8zPvc9OETSESAPz+bwc4122jzyLVsX7qB1VMW%0AUb5eNW4Y25v8xQpSs935tO59LW+0f4KVP82jaova3DNpOCism7GE1VMXe53Sv/Jf3hMAPpjzPoWK%0AFCQyTyTNO7bg6Zv6snlNzpy0kBVNSWVB3/dp84lz/Nd/OoO9q7dRt8+1JC7ZwLZJi2jQvzt5CuWn%0A1VinVdv+bfHM6jESyRNJu6+fAeBo0kF+f/D1XFNOataUObRq25wf5n7OoYOHeObhY+9RE6a8T9d2%0APQAY+uSLDH6pH/ny52P2r7/z21Tngu3X439g0Ki+fDl9HEePHKX/Q857X8NmDbj/8Ts5ejQZTVWG%0APP48e3cnhTy/f0JTUvm1/wdc+9HjBCICLJ8wg4TV22jxyLXELdvAusmLuKhvN/IUzE/n1x8CIGl7%0AAt/cMZJaVzTjrCa1KFC8MHWuc5qd//Lom+z8K3c992f0/4Au45z8/5owg8TV22j66LXsWLqBDZMX%0A0crN/9I3juX/4+0jiapRnlb9uzsltERY/OZPJPydMydrnYimpDK/3we0++RxJBBg7YQZ7Fm9jfqP%0AXUvCkg1snbyIRv27EVkoP63fdPLfvy2BaT2dVbaFzipFoego4n7PeauM/glNSWXVU+9y/qdPQ0SA%0AmPHT2b9qK9Uev569S9YTP3EhFe/oSIkL66LJKSTv2c9fD70GQPFm51Lt8RvQ5BQ0VVn1+Fsk797v%0AcUb/Ukoq659+mzrj+0FEgB3jf+Xgqq1Uerwr+/5cR+KkBUTffinFL6pH6tFkUvbsZ/VDY9IfXrR5%0AbY5sT+Dw5tzVCwfwd+4AKamse/ptzhvfD4kIEDf+Vw6s2krlx7uS5OZf3s1fjyaTnCn/Ys1rc3h7%0AAodycf7rn36b2uP7O/l/+isHV2+hYp8b2bdkLbsmLaDc7ZdS/MJj+a956Nh1rKLN0o5/7hq4/Kf6%0ADBjOH4uXsnv3XtpedTP33XEL13bu6HVYxnhCNAePsOQUIvIGsFtVnzzVvndWuc63/0P36FGvQ/DU%0AQT1+Obuf5JUIr0PwzLIDOXNGZ6hUy1/m1DuFsSM+f+03iix16p3CVFH194LW2an+6zkSrEfK8U03%0A/WR4qvcr+bx0a94zs/o6N8rr27MdR7HcMS6YbSok+/ucL7/kvlJd5szw+UufCPH3m3/jZaeeOBnO%0A8pSqJl7HEE4KFKico19QBw9uypHH21ZinILb0LsZcL3XsRhjjDHGGGOMMcYYY4zJnWxBwenx9xTC%0AUxCR2sBaYKqqrvE6HmOMMcYYY4wxxhhjjDHGT2wQ4yRU9S9Vraaqj3odizHGGGOMMcYYY4wxxhiT%0AU4lIlIhMFpE17t8lstingYj8LiIrRGSpiHQ91e+1QQxjjDHGGGOMMcYYY4wxJptpDv/vDHgSp6pR%0ADWCqezuzA8CtqloH6ASMFpHiJ/ulNohhjDHGGGOMMcYYY4wxxpj/6krgA/fnD4CrMu+gqqvTWjeo%0A6nZgB1D6ZL/UBjGMMcYYY4wxxhhjjDHGGPNflVXVGPfnWKDsyXYWkSZAXmDdyfaLPDOxGWOMMcYY%0AY4wxxhhjjDHmRFTPSMmmbCMidwN3B20aq6pjM+0zBSiXxcP7Bt9QVRWREyYsItHAR8Btqpp6srhs%0AEMMYY4wxxhhjjDHGGGOM8Tl3wGLsKfZpd6L7RCRORKJVNcYdpNhxgv2KAj8CfVV17qnisnJSxhhj%0AjDHGGGOMMcYYY4z5r74DbnN/vg34NvMOIpIX+Br4UFW/+Ce/1AYxjDHGGGOMMcYYY4wxxphspqo5%0A+s8ZMBxoLyJrgHbubUTkAhF5293nBuAioIeI/On+aXCyX2rlpIwxxhhjjDHGGGOMMcYY85+oagLQ%0ANovtC4A73Z/HAeP+ze+1lRjGGGOMMcYYY4wxxhhjjMmRbCWGMcYYY4wxxhhjjDHGGJPNzkjBJh+y%0AlRjGGGOMMcYYY4wxxhhjjMmRbBDDGGOMMcYYY4wxxhhjjDE5kpyhruMmhxCRu1V1rNdxeMHPuYPl%0Ab/lb/n7N38+5g+Vv+fs3fz/nDpa/5W/5+zV/P+cOlr/l79/8/Zw7WP7GgK3ECEd3ex2Ah/ycO1j+%0Alr+/+Tl/P+cOlr/l719+zh0sf8vf3/ycv59zB8vf8vcvP+cOlr8xNohhjDHGGGOMMcYYY4wxxpic%0AyQYxjDHGGGOMMcYYY4wxxhiTI9kgRvjxc408P+cOlr/l729+zt/PuYPlb/n7l59zB8vf8vc3P+fv%0A59zB8rf8/cvPuYPlb4w19jbGGGOMMcYYY4wxxhhjTM5kKzGMMcYYY4wxxhhjjDHGGJMj2SCGMcYY%0AY4wxxhhjjDHGGGNyJBvEMMYYY4wxxhhjjDHGmBxARB4UkRJex2FMTmKDGGFCRAp6HYMXROQaERkp%0AIv8Tkau9jseYUBGRqv9kmzHhSETy/ZNtxhgTTkSkkIgE3J9rikgXEcnjdVxeEJGAiBT1Oo5QEpEC%0AIlLL6zhM6IlI/iy2lfIilpxARPJ6HYMxIVAW+ENEPhORTiIiXgdkjNessXcuJyItgLeBwqpaSUTq%0AA/+nqvd5HFq2E5HXgOrAeHdTV2Cdqt7vXVShISLfAyd88apqlxCG4xkRqQn0ASoDkWnbVfUSz4IK%0AERFZpKoNM21bqKqNvIoplE7wGtgDLADeVNVDoY8qdNwL9tcCVcj43B/kVUyhdILn/3Hbwpn7+V+F%0AjMf/Q88CCiERGaSqzwTdjgA+VNWbPAwrZESkAsd/7s30LqLQ8vlzfyFwIVACmA38ARzx0XP/E+Ae%0AIAUn96LAS6r6gqeBhYCIdAZeBPKqalURaQAM8st3fgARaQXUUNX3RKQ0zvnvBq/jCgURWQbcpapz%0A3dvXAs+pak1vI8t+IjId6KGqG93bTYC3VLW+l3GFiohcAQzm2Oe+AKqqYT2IKyIn/U6vqotCFYuX%0A3IGLDkBP4ALgM+AdVV3naWDGeCTy1LuYHG4U0BH4DkBVl4jIRd6GFDKXAOeqOxInIh8AK7wNKWRe%0A9DqAHOJz4A3gLZwT2rAnIucAdYBiInJN0F1FgeNmaYWx9UBpMg5iJgE1cZ4Pt3gUV6h8izNosxA4%0A7HEsISMi5YAKQAEROR/nRA6c579vViSKyEfA2cCfHHvvU8AXF3KBiiLylKo+5w7ofQYs9jqoUBCR%0AETjvd3+R8dj7YhDDnvuIqh4QkTuA11T1eRH50+ugQqi2qu4VkZuAn4EncT4Hw34QAxgINAGmA6jq%0An35agSsiA3Au4NUC3gPyAOOAll7GFULdgXfdC/rlgZI458J+8Bzwi4i8jPMd8FKcC7p+MRq4BliW%0Adt3DJ/7n/p0f57W/BOd7fz2cSWvNPYorpFRVRSQWiAWScSYxfCEik1X1cW+jMyb0bBAjDKjqlkwr%0Ay3xxMRdYC1QCNrm3K7rbwp6qzvA6hhwiWVVf9zqIEKsFXAEUBzoHbU8C7vIkIm+0UNXGQbe/F5E/%0AVLWxiPhhMPMsVe3kdRAe6Aj0AM7COblJ+/DbCzztUUxeuADnYp6fTmaD3Q58LCJPARcDP6nqaI9j%0ACpWrgFqq6pvBy0z8/twXEWkO3ATc4W6L8DCeUMvjls+6CnhFVY+KiF+eC0dVdU+mcz6/5A5wNXA+%0AsAhAVbeLSBFvQwodVV0mIkOBj3C+81+kqls9DiskVHWiiNwDTAbigfNVNdbjsEJpC7Dcb597qnox%0AgIh8BTRU1WXu7fNwBnXDnoj0Am7Fed6/DfRxP/cCwBrABjGM79ggRu63xV1Wr+6X+l7ASo9jylZB%0AZWSKACtFZL57VxNg/gkfGIZEpAbO7JTaBM3CV9VqngUVWt+LyH3A1wTNRlfVRO9Cyl6q+i3wrYg0%0AV9XfvY7HQ4VFpJKqbgYQkUpAYfe+I96FFTJzRKRu2hd6v1DVD4APRORaVf3S63g8tBwoB8R4HUgo%0AZSot8BLwJk5JnZki0tAnpQXW48xA9usghi+f+0F6AU8BX6vqChGpBkzzOKZQehPYiDMjd6aIVMYZ%0AxPaDFSLSHYhwv/8/BMzxOKZQOuLOSE5bgV/I64BCSUTewVmFVg9n1fEPIjJGVV/1NrLsJyL9gRuA%0Ai3Dyny4ij6rqj95GFjKPAz+JyAwynu+O9C6kkKoVfL6jqstF5FwvAwqhKOAaVd0UvFFVU90yY8b4%0AjvXEyOXchl4vAe1wZqROAnqpaoKngWUjEWl9svv9tEpBRH4DBuCUFeuMs7Q2EFwrPJyJSFZ1cDWc%0AB3FEZAwn74fyUAjD8YyIXIZTSmwdzntfVeA+nDILd4X7rGwR+QunJ9AGnBOatPq49TwNLEREZBjw%0AvKrudm+XAB5V1X7eRpa9Mg3iN8AZuA8+oQ3r2ugicrKLteqTfkhfAvWBqWQ89n5575+GD5/7afw4%0AeH0qIhKpqslex5HdRKQg0BenNroAE4HB4d4DLI2IPAbUANrjTOC6HRivqi97GliIiMjDOP1f0gZx%0AigEjVfWOkz8y9xOR0cBTqnrQvV0ZeFtV23sbWWiIyCRgH7AMSE3brqrPehZUCInIeGA/Tvk4cFYi%0AFlbVbt5FZYzxig1imFxNRMoCaSVl5qvqDi/jCbW0Rs4iskxV6wZv8zo2kz1E5LaT3e/OVPcFtxb+%0AOe7NVX45kYf0E7jjZJ6pE65EZLGqnp9pW9g39rZBfHOizwC/vPef6DXgl+e+iMwC8gHvAx+r6h5v%0AIwotEclyko6qDgp1LCb0RKQ9QYM4qjrZ45CMyXYislxVz/M6Dq+ISH7gXpyVOOD0AHvdT+d9xphj%0ArJxULuc2uMpsD7DALTsTtkTkBpxGftNxvsyOEZE+qvqFp4GF1uG0mogi8gCwjWMldcKeW0It+EvN%0AdOBNVT3qWVDZzC8Xqv6hRkAVnM+y+iKCqvqiuWvaYIWIlMFfDd3TRIhIvrS+ACJSAOfCXlhLu1Ar%0AIiNU9Yng+9yGz365kFsWGAaUV9VLRaQ20FxV3/E4tGynqh+ISF6cciLgDOCG7WdeZn4ZrDgRVb1Q%0ARGrirLxd6JZUfV9VJ3kcWqjsD/o5P06PsLAuo5tGRC7A6f1UhaBzeB+twEz73JucxbawJSLLOPkK%0A7LA9/kGrT7PklxV4OKWkOvjofT4DVT0kIm/g9D9b5XU8xhhv2UqMXE5ExuLMRP7c3XQtTnmRksB6%0AVX3Yq9iym4gsAdqnrb4QkdLAFFWt721koSMijXFO3ooDg4GiOCVW5nkaWIiIyNs4tcHTLuzfAqSo%0A6p3eRRUabkmN497A/VBOBUBEPsKpDfwnkOJuVh+VVOmC09i6PLADqAysVNU6ngYWIiLyBE4Jvffc%0ATT2B71T1ee+iCp2sVp2IyNJwvpgRTER+xjn2fVW1vohEAovTViSGMxFpg/OZtxFnAkdF4DZVnelh%0AWCEjIkkc/9m3B1iAU1JufeijCj0RicBpbv0yTk8IAZ5W1a88DSzE3BWZE1W1jdexZDcRWQX04fiS%0AMn5ZgenLz72glbf3u39/5P59E4CqPhnyoEIkaOXdNTi9kNLKCXUD4lS1tyeBhZj7uVcIp4TiUY6V%0AkC3qaWAh4p7zvADkVdWqItIAGOSjQSxjTBAbxMjlRGQu0FJVU9zbkcAsoBWwTFVrexlfdgouoeTe%0ADgBL/HARI42IXK+qn59qW7gSkSWZB62y2haORCS4ZFh+nAHMZFV93KOQQkpEVgK11acfYu4g7iU4%0AA7fni8jFwM1+qI2cRkQuBdq6Nyer6kQv4wkFEbkXp/dLNZx+MGmKAHNU9SZPAgsxEflDVRsHlxUT%0AkT9VtYHXsWU3EVkIdE+bjejOyh/vlzKSIjIY2Ap8gnMh50acAe1FwL3hfjFbROrhDNpejjMj/R1V%0AXSQi5YHfVTXLUoPhyu2H9IeqVvc6luwmIr+paiuv4wi1U3zuzVbVmz0JLMT8WkYTQEQWqOoFp9pm%0AwpP7vecSYHrQd75lfrrmY4w5xspJ5X4lcMoHpdXELQREqWqKiBw+8cPCwi8iMhEY796+EfjZw3i8%0A8BTHVuGcbFu4ShGRs1V1HYCIVOPYrPywpqoLM22a7ZaV8IvlOLOyYrwOxCNHVTVBRAIiElDVaW7j%0AQ99Q1Z/x33v+Jzg5PwcEz75MUtVEb0LyxH4RKYk7I19EmnHse1C4yxNcTkFVV7ulFf2iS6aJCmPd%0AAawnRORpz6IKnTHA2zirLg6mbVTV7SLSz7uwQiNTaZ0IoDTgl375Gtj8AAAgAElEQVQYA9wVyFPJ%0A2NQ+3Fff2OeeQ0SkparOdm+0AAIexxQqhUSkWtpKOxGpinPNI+yJSDkAVY11q05cCPytqn95G1lI%0AHVXVPSISvM2Xk9iMMTaIEQ6eB/4Ukek4M9IuAoaJSCFgipeBZTdV7SMi1wAt3U1vqOo3XsYUKu4M%0A5MuACpn6ohQFkr2JyhN9gGkish7n+V8ZZ4Zi2BORqKCbAZz+EMU8CscLpYC/3IGb4JN5vywt3i0i%0AhXFW3n0sIjvIWCs8rLkXrccA5wJ5cS5m7Q/3pfVuE989QDe3nExZnO9yhUWksKpu9jTA0HkE+A44%0AW0Rm41zIvM7bkEJmgXshM62sxk04pZT84oDbEy2t/9l1QFpzz7C/qKGqWTY2d+/76ET3hZErgn5O%0Axikp45fvvT1xSgjn4Vg5KQXCehAj+HMPMvQC89vn3h3AuyJSDOecZxdwu7chhUxvYHqm873/8zak%0A7Cci/4czcCdu37MeOJO4nhOR5/3QB8y1QkS64/TDqwE8BMzxOCZjjEesnFQYcJeQ34LTG6EwsDWc%0AayOnLacOqoscPCyfCiQCL6jqa54EGAIiUh9ogDP77Jmgu5KAaaq6y5PAPODWQ67l3lyV1ug33InI%0ABo49/5NxeuEMUtXfPA0sRILq5Gbgl6av7kD1IZzjfxPOANbHqprgaWAhIiILcFbffQ5cANwK1FTV%0ApzwNLERE5AFgIBBH0MWscK8NHswtn1kL5zXgm+bW7mfe/ThlQ8EZyHzNR5991YCXgOY4n4FzcS5w%0AbQMahftnoHsB5zmgNs6FXABUtZpnQYWY+x34QvfmTFVd6mU8oSIiq1S11qn3DE8i0hkYiU97gaVx%0ABzHSBnd8w/3sO8e9+bcfPvPclWdNgQLAJqC6uyKjBM75ftiX0AQQkYJAX6CDu2kiMERVD534UcaY%0AcGWDGLmciNwJ9ALOwmlw2wynJq4vmvtmxS0xMccPX/RFJNJHM9DSicglqvqruxLnOD5YWm8MIlIW%0AaOzenK+qO7yMJ5TSaiEHN/XMql50uBKRtUBTvwxaZeae0D4CVFbVu9wLu7VU9QePQzMmW4nIb8AA%0AYBTQGWd2fkBVnznpA8OEiPQC7uLY6oOrgbGqOsa7qEJDRN7DmaTlpzIy6fzaC0xEblbVcSLySFb3%0Aq+rIUMcUKn4/3wvueZK556PPvvPWVdVlXsdhjMkZrJxU7tcL5yLWXFW9WETOAYZ5HJOn3DrxbbyO%0AIzuJyGeqegOwWESOG4n0wWzc1sCvOCfwmYX90vo0InIex8/G/NC7iLJfFiux0u/CmYke1uWE0rjl%0AVF4ApuPkPkZE+qjqFyd9YPg4ICJ5ccopPo/TG8UvtaEBtuCfHhBZeQ9YiDMbH5xZ+J8DYTuIkfa5%0An6knQLpw/9wXkcdV9XkRGUPW+T/kQVheKKCqU0VEVHUTMNBteuqLQQyckjpNVXU/gFti5Xec8oLh%0ArhnOZ94GnDKaad97wvq1H8SvvcDSej8U8TQKb/j9fE9FJI+70vTytI0ikh9/fed9zV2J8z7OqnM/%0Af/81xvdsECP3O6Sqh0QEEcmnqn+LSNivQDgVVQ33Zr+93L+vOOleYUpVB7g/DlLVDcH3uc3ewp6I%0ADADa4Axi/ARcCvwGhPUghqq2cv/248lcsL5A47TVF26zvykcqxMf7m7BOYF7AKeUTEUgy5l6YWo9%0ATn3oH8nYEyZsZ2RmcraqdhWRbgCqekAydXwMQ77+3McpmQr+6v+RlcMiEgDWuGXltuGUkvULAVKC%0AbqeQsaxsOOvkdQAeS+sFNhMf9QJT1Tfdv5/1OpZQSzvfU1Vf9DvMwtW4g/aqujVoe0ngUU8i8oCq%0AXigiNXFWHi50+yG+p6qTPQ7NGOMBG8TI/baKSHHgG2CyiOzCqZlowpiqxrhNXd9X1Yu9jsdDXwIN%0AM237AqfJdbi7DqgPLFbVnm5poXGneEzYEJGzcfr/HHZXXtUDPlTV3d5GFjKBTOWjEvDXrKyrVPUl%0AnL4gz0J6mZGXPI0qdDa7f/K6f/zmiIgUwD25d98Pwro+dtDkjPtU9Yng+9zZ6E8c/6jwoarfu39/%0A4HUsHusFFMRpbDoYp7zObZ5GFFrvAfNE5Gv39lWAL5rbquqmTP1AZqnqEi9jCrErgYM4ExfSeoEN%0A8jQij4nIFX4toygiDVV1kddxZCdV3SwiESIyLfh8X1W34Qxg+4aqrhaRfjgTGV4Gzncnrzwd7mXF%0AjDEZWU+MMOI2ui0G/KKqR7yOx2Q/EZkKXOO3ZZVu2bQ6wPNAn6C7igJ9/NDkT0Tmq2oTt4zExThN%0A3Veq6jmneGhYEJE/cRo6V8FZifItUEdVL/MyrlARkRdwBm7Gu5u6AkszX9wMV8F1goO2+aY+cBp3%0AViqqus/rWEJJRDrgrEaqDUwCWgI9VHW6l3GFwgme++m9YcKdu+rsCY4vpejbXnB+IyINCWpsr6qL%0AvYwnVHzeDyQCpxeGnyduHUdEng1anR523CoTWU5QEJG3VPWuUMfkBb+e76cRkXo4qzAuByYD76jq%0AIhEpj9MLtrKnARpjQspWYoQRVZ3hdQwm5PYBy0RkMkFLqn1QG7oWTkmN4mSsk5qEc4LnBwvcVVhv%0A4dSG34dTF9ovUlU1WUSuBsao6hgR8cWFDABV7SMi1+JcvAXnQsbXJ3tMOHDLB3UHqorId0F3FQES%0AvYkq9Nx+OB8BUe7teOBWVV3haWAhoqqT3AHcZjilZHqparzHYWUrEbkXuA+oJiJLg+4qAsz2JipP%0AfAxMwLmYcQ/OKoSdnkYUAiLyPVn0Akmjql1CGE7IiUhRVd0rIlHARvdP2n1RquqH93/f9gNR1RQR%0ASRWRYn69kJuVcB7AcP0ONBSRj1T1luA7/DKA4fLr+X6aMTgr7p5W1YNpG1V1u7s6wxjjI7YSw5hc%0ATESyLCHgl3ILItJcVf104R4Raamqs4NnJ4lIFaCoqi496YPDiIjMA0bjzMburKobRGS5qp7ncWgm%0AG4lIZaAq8BzwZNBdSTgrUZI9CSzERGQO0FdVp7m32wDDVLWFp4GFiIiMA2bgzML+2+t4QkFEigEl%0AyOK575MLuACIyEJVbRS8+kRE/lDVxl7Hlp3c1dbg9P4px7Hykd2AOFXt7UlgISIiP6jqFW5T6+CT%0A17Tm1tU8Ci1kRGQZTi+sQ+7t/MAfqlrX28hCQ0S+Bc7HmYntuwu5IlIQpw9CJVW9S0RqALXCuZyU%0AiCwHhuGUzuuT+X6/lBHy+/k+gIjkBWq6N1e5zc6NMT5kgxjGmFzLPYG7A6e0VHBZids9CyqbBV3A%0AOa6kiJ+ISG2cWbi/q+p4t6H7Dao6wuPQspWIJJH1bNy0CzlFQxyS8YCILFHV+qfaFq5E5GKcuvAX%0AAmcDi4GZbp8UXxCRMmT83NvsYTghIyJzVbWZiEzEqYu9HfhCVc/2OLSQEJEFqnrBqbaZ8CMij+Cs%0APAruB/K+qo72LqrQ8fuFXBGZgLPy+lZVPc8d1Jijqg08Di3biEgrnP4nNwDfZbpbw/l8LzM/X8R3%0AB/E/xFmBJ0BF4DZVnellXMYYb9gghjG5mDsL5zmOrw0d9jPSAETkc+BvnPIyg3C+6K5U1V6eBpaN%0ARGQusBTn5PXTzPf7ZUaa8TcRuQYYAZTBOaHx1SCO29R2EU5JKYCbgUaqerV3UYWWWyO9MU5PoHuA%0Ag37oCSQinYGRQHlgB1AZ53Mv7HtBgdPIFpiFcxFjDE4vrGdVNfMFrrAkIiuBy1V1vXu7KvCTqp7r%0AbWSh4ZYRHA98q6oHvI4n1PzaD8QcG6wM7v/ll8kLInKHqr7jdRxecVfbfoBPL+K75UO7q+oq93ZN%0AYLyqNvI2MmOMF6wnhjG523vAAGAUzoWcnkDA04hCq7qq/n979x6lZ1mfe/x7hXPlFC2H3c3R7Baa%0AcpAAEs4WNioLFUUOUlAM2LqxFqhF1t4VBUFatUAriIq7EAiCAgqKiiByiIGgEBIgCJsW8bDFUhAI%0ABETD4dp/3M9r3oyTpF3bee6Z57k+a82aue+ZWevKmsk773sffr9DJB1o+2JJl1EWN7rsTcB/B95A%0AOZHVS6OUlAD6s4EXfJJSRuyB2kEqORr4KPCVZjyH8vjfC02Ty1dQ6mXPoZRYeaxuqtZ8jNIL5Du2%0Ad2hupRxZOVNrhkqnPE153tM3fw3cIunhZrwF8N56cVp3FnAY8HFJd1IOc3xjUGKpyyRNB35ge34z%0AXlfSLra/XzlaNZJOtX1q7RwtWSJpLZrnvpKmAKM2ve4a2xdI2o3yeLfq0PysaqHadRbw+pGL+EBf%0AFvFXG/zbAWz/i6TVagaKiHqyiRExsa1l+0ZJsv0T4NTmtMJHagdryeAq7aKm0e2jlJPZndU0r/2S%0ApAds31M7T0XDpTPWBA6haXIcvfDvPd7AgFJCaVPKpvWqwL7APsB2NUO16F7Ki/dtKIvZiyTdPtzw%0AscNesP2EpEmSJtm+WVIvyskASHo18ClgV+BlykbWXw9uJvTALcD5lL+B6zUfz64ZqE22ZwOzm5tY%0A+wB/DlxIuZHTdZ8FhsuIPjvKXCdJmgQcbPuKEZ/q02GeU4DrgE0lXQrsDry7aqKWSLqE8rznbuCl%0AZtqUEkN90PdF/HmS/pmlvaCOAOZVzBMRFWUTI2Ji+3XzxP5fJb0feARYu3KmNn1e0mTgZEqt1LXp%0AzwbO881p5I2a2rjbAW+x/bHawdpg+4kRU//Usw28vpvX1If+KkMnEfvS5BG4FDgRuI+ykNsrgybG%0AktahLOLMpDQ7XqNirLYskrQ28F3gUkmPMdTktgcuA84DBqXT3kE5kbpLtUTtmgU8Q+kHAqWc5iWU%0AjfxeaE6jv5lyI2MapcxKH8hDdaBtvyypF6/lm3/rScAVI+a/XilS62zfIGk+5SaegOObg019sBMw%0Adfj3v2f6voh/LPCXwKBk8hzgM/XiRERN6YkRMYFJ2hl4AFgfOJ1yEu2Tfb5a3heSZgMfBM4fqo17%0An+1t6iZrR1MXemAS5QXOsX2oDRwgaeYo071p8ijpVtt7rPwru6nZtN+Tchvjx5QXtHNs31QzVxsk%0AvQJ4nvK4dwTlNP6lo2zsdpKke21vN2KuF3XhASTdb3vqyua6StIVwGspJ9IvB2bb7sVGrqSrKDdx%0APttMvQ/4U9tvrRaqRZI+DvyC8nP/zcat7SerhWqRpLcBN9l+uhmvD7zO9lfrJht7TQ/E42z/W+0s%0ANUhag7KI/5t+OMBnbPeinFhExLBsYkRMYJJ2Aj5Eaew5uFbqkS/wu0rS31E2bRY148nA39g+uW6y%0AsSfpTts7j2jwd7ft19TO1gZJNw8NX6QsZJ45fN06oqsk7QscDtxID2+iSDqR8iL+LtsvjvL5ybaf%0Aaj/Z2GpK6HzHdh97QQAg6RPAU5ReCKacxp8M/AN0f0FT0heAT9v+XjPeBfhL2++qm6wdkt5A+T/w%0A0kq/uGMkbUi5gbMP5Xf/Rspp/MerBmtJ0wttJPelF9poz/GHXwN0WfOc/zXAHSz7nOct1UK1TNLq%0AwB9Tbt8+aHtJ5UhjTtJCRul/ONCX9Y6IWFY2MSImMEkPUk7jL2SopEjTH6PzRnvyLmm+7T7UB/4W%0A8H7gStvTJB0MHGN7/8rRIsacpE2Acyk1oaEsaB9v+2f1UrWnWcjcGvgBSx/7e3MTZWW6/HegKSN4%0A0OA0bt8sZyFzoPMLmpIeALYCftpMbQY8SNnM7/whFkm/B3wA2Mz2X0j6Q2CroYbvnSVpd9u3rWwu%0Aumk5t9AW2t62Vqa2SNp7tPmmR07nSToA+BzwQ0opsS2B99r+VtVgY0zS5iv6fF/WOyJiWb2ooxnR%0AYY/bvqZ2iIpWkbTG4DptUye5DzXRoVwr/jywtaRHgB9RSov0gqT1KE0O92qmZgOn9XVhr4dmUmrj%0AD+rAH9nM7VctUbt2tr1V7RDjmGoHGEPPAgsl3cCyJVWOW/63dIftLWtnqOyNtQNUNpPSzHm3ZvwI%0AcCXQ+U0Mysb9yM3Z0eY6S9I2wFRgzcGc7b40d54n6WxKTyAorwN60djc9mxJGwE7N1N32H6sZqaW%0AnUUpHfcQgKQpwDeBTm9iDG9SSNqYUkrQwJ22H60WLCKqyiZGxMR2StPoq5clRSjNbW8cqo8/g443%0AeJT0gaHhtcDNlNrozwFvB86ukauCCylNjQ9txu+kLG4cVC1RtGkD28N9MS6SdEK1NO2bK2mq7ftr%0ABxmnunzN+KrmrZeakloHAFsw9DrGdi/+9uXkKVNsHybpcADbv5TU5U1LJO1K2bTZYMRzwHWBVeqk%0Aap+kU4DXUTYxrgX2B26lNLvvg78CPkzpCQJwA2Ujo/MkHUopGXgL5ZDCuZI+aPvLVYO1Z/FgA6Px%0AMLC4Vpi2SXoP8BHgJpb+/E+zfWHdZBFRQzYxIia2GZSSIqsxVFKEnixw2P6EpHuBfZup021fXzNT%0AC9Zp3m9FOZH0NcoTundSasX2xRTbbx8af1TS3dXSRNuekHQk8MVmfDjQi8bGjenA3U1pnV9THgM6%0AX0omwHanN+r/A74O/IoRZTSjN5Y0t24NvzmR3PXmtqsDa1Net68zNP8McHCVRHUcDGwPLLA9ozmZ%0A/4XKmVpj+zngf9bOUcmHKDdQHwOQtAHwHaDTmxiSBgez5km6FriC8th3CHBntWDt+yCwg+0nACS9%0ACphLOdAWET2TTYyIia33JUWaeqCdvk47zPZHASR9F5hme3EzPpVytbgvnpe0h+1bodSFBp6vnCna%0AczSljMY/Ul7QzQXeXTNQy3pZUkbSlrZX1BPhN1865mEqaTaufuumSdd7QQzZJJt1vXYKcB2wqaRL%0AKX2R3l010Rhr6v7PlnRRz2/iPG/7ZUkvSloXeAzYtHaosSbpn2yfIOnrjP7Y34fm1pNGlI96gnIL%0AvevePPTxvwOD3iCPM1RSrQeeYNmbJ4vp18GliBiSTYyIia3XJUUkLWbpE/rVKTdSnrO9br1UrdkI%0AWDI0XtLM9cWxwMVNbwyAp4CjKuaJdp0GHGX7KQBJrwTOpGxudF6PF7K+DOwo6Ubb+67g61b0uYlu%0Ap6GP16ScyHxlpSw1fEvS621/u3aQaJekScBkStnI6ZTNyuNt/6JqsPZcJGm0Rex9aoSpYJ6k9YH/%0ATekF8Sxwe91IrbikeX9m1RR1XSfpepbevj2MHhxgsz2jdoZx4iHg+5K+RnndfyBw76C8Xl/KSUZE%0AIbvLZYMjuk3SA8AUSlPnXpcUaWoiHwhMt93569aSPkTpB3F1M/VW4HLbf18vVXskrUEpLTAFWB94%0AmvK7f1rVYNEKSQts77CyuegWSQsoTXyPpdzCWUZfX8hKusv2jrVztEHS2yglZCYBL7D0eU8fDi/0%0AnqR5tnda+Vd2j6Th/+NrUvqgvWj7pEqRqpG0BbCu7XsrR2lF0wtolu0jameppSmttEcznGP76hV9%0AfRdIOsn2JyWdy+i3cI6rEKt1TT+c5RpUKYiIfshNjIiJrZclRUbjsiP71eaJTuc3MWyfIelbwJ7N%0A1AzbC2pmatnXgEXAfOCRylmifZMkTR5xEyPPabrvHZQN25G14XtD0rSh4STKzYw+/e6fDewKLHRO%0AYvXRdySdSGlu/Nxg0vaT9SK1w/ZdI6Zuk9SbXmiSrgG+BHzN9o8rx2mV7ZckbS5pddtLVv4d3SJp%0AS+Ba21c147UkbdGD34MHmvfzqqaoLJsUETEsNzEiYsIaangGSxdz9ra9a6VI0RJJ99nepnaOqEPS%0Au4C/pZzKh1JS5wzblyz/u6IrJO3f9EPqHUk3s/RE5ovAj4Ezbf9LtVAtavpBvc52mnr3UJ97wjSb%0A9QOTgB2Bc/rSG0/S3pQyQgdQmhp/CfiG7V9VDdYSSbOAPwauYdkNvM7fQJQ0D9htsIEjaXXgNts7%0A10029ppbOJ+wfWLtLLVI2onS3H1zhg5t9LHyRET06+RWRHTPcMOzwWLOgXWiRMvmStrW9sLaQaJ9%0Atmc1L2oHtcAP6mtvoJ6aK+lsYK9mPBs4zfbTFTONqUHtZ+AblEXcQfNyA2+i3FDog4eBW5qbiL8e%0ATPZhIS8AmAq8j1JWxsAc4HNVE7XnLpb+33+RUkr2mKqJWjTU4HwVyt/+PwcuBPpSSu6Hzdsk+ncT%0AcdXhGyi2lzQbGZ3X3MLZvXaOyi4FPggsBHKAIaLnsokRERNWGp71j6SFlBfxqwIzJD1Mz/vB9FWz%0AaZGNi366ELiP0hcI4J3ATErD364aLFptBexMKaknymZ+b0rKUBZufwSs3rxFv1wMPAOc04z/rJk7%0AdLnf0RG2t6ydoTZJa1Ee8w4DplF+9r0wKKkjad0y9OLKkdr0uKS32L4GQNKBwC8qZ2rT3U05tStZ%0A9hbOVfUiterxwc8+IiLlpCJiwlleg7OBvjQ66yNJm6/o87Z/0laWiKhD0t22X7OyuS5qyikdMFjA%0AkrQO8E3be634OyMmPkn32566srkukrQacCxLb6DdApxv+4VqoVok6QrgtcB1lJ4os/tUVq4pqTOT%0ApRvaTwNHj9IrpXMkTaGcxv+DZupnwLtsP1QvVXskzRxl2raPbj1MBZL2BQ4HbmTZG5h92cSJiCG5%0AiRERE9GgwdnulNIClzfjQ8jJ7E7LJkVEAM9L2sP2rQBNqYXnK2dqy0bAcGPXJc1cL0jaADgJ+BNg%0AzcG87X2W+03RJfMlTbf9PQBJu9CfprefBVYDPtOM39nMvadaonZdABxu+6XaQSq5EHif7TkAkvag%0AbGp0/gay7R8C0yWt3YyfrRypVak8wAxga8rj32Dj0kA2MSJ6KJsYETHh2L4YQNKxwB62X2zGn6PU%0AR46IiO76H8AsSes146eAoyrmadMs4A5JVzfjtwIX1YvTukspBxfeRPk9OAp4vGqiaNOOlJ44P23G%0AmwEPDkpNdryk5M62tx8a3yTpnmppWmb7+pFzkja2/WiNPBW8NNjAALB9q6QXawZq2/DmhaRptufX%0AzNOW5ibGb1Ug6MtNDMpj31a1Q0TE+JBNjIiYyCZTGvo92YzXbuYiIqKjbN8DbN/UBsf2M8Ofl3TU%0AYLO7a2yf0TS13rOZmmF7Qc1MLXuV7QskHT/U6PfO2qGiNW+sHaCilyRNaU6lI+nVQF9vJQxcABxQ%0AO0RLZks6H/giZUH7MOAWSdMA+rKgP+RYSnP3PvjG0MdrAm8Dfl4pSw1zJU1teuFFRM+lJ0ZETFiS%0AZgCnUOoCi1In+NSuLl5FRMTKSZpve1rtHPG7J+l7tqdLup7S3PnnwJdtT6kcLWJMNXXhZwIPN1Nb%0AUDYxb64WKlojaUU/Z6ekXn9ImgTcanu32lnaIOkBYArwI0pPDNH9m3cRsRy5iRERE9lFlFNoJwCn%0AAh8GNq6YJyIi6lPtADFmPtaUEfsb4FzKbcwT6kaKaMVtwPnAvsAi4Hrg9qqJWtbcOtiDchPhtj7d%0APrD9p7Uz1NL0vbrb9nOSjgSmAZ/qcZ+8PwQ2rB2iRX2+gRcRI0yqHSAi4v/DZ4BdgLVsXwMsBs6r%0AGykiIirLNePuOoRyk/y+ZlFvP0ppjYiumwVsCZxO2cB7NXBJ1UQtkvQR4GLgVcDvAzMlnVw3VV2D%0AUlI98Fngl5K2p2xg/5Dy/6EXJC2W9MzgDfg6cFLtXG1pNqs2BfZpPv4lWceM6K3cxIiIiWwX29Mk%0ALQCw/ZSk1WuHioiIqnITo7u2s71oMLD9pKQdagaKaMk2tqcOjW+W1Kca8UcA29v+FYCkjwN3Ax+r%0AmqquvvSFeNG2JR0IfLrpi3RM7VAtWo/y+7+l7dMkbUaPKg9IOgXYCdiKUlJvNeALwO41c0VEHdnB%0AjIiJ7AVJq9CcupW0AfBy3UgRETGWmsf9FbmtlSBRwyRJkwcDSa8kh7KiH+ZLmj4YSNoFmFcxT9t+%0ATmlqPLAG8EilLOOC7T5sYAAslvS/gCOBbzY9IVarnKlN5wHTgcObcd8qD7wNeAvwHIDtnwPrVE0U%0AEdXkSX9ETGTnAFcDG0o6AzgY6PXV8oiIHvhXSV8BZtr+rZPItt9fIVO04yzgdklXNuNDgDMq5olo%0Ay47AXEk/bcabAQ9KWkg/mtw+DfxA0g2Uw0v7AXdIOgfA9nE1w421nveFOAz4M+AY2482NxH+oXKm%0ANvW98sCS5ibO4NDiK2oHioh6ZKdscERMXJK2pjQ5FHCj7QcqR4qIiDEkaR3gHcAMyq3iC4Ev2X6m%0AarBohaSpwD7N8KbRNrIiukbS5iv6fNcXsyUdtaLP2764rSw1SLoX2B7YDrgI+GfgUNt718wVY0/S%0A94HdgDubzYwNgG/b7kUpRUknUpqZ7wf8PXA0cJntc6sGi4gqsokREREREROSpL2By4D1gS8Dp9t+%0AqG6qiIiI3x1J85sF7I8AjzR9Iebb7nxzb0kHAZ8ANqQcWhPl9tG6VYO1RNIRlNso0yjN7Q8GTrZ9%0A5Qq/sUMk7Qe8nvKzv972DZUjRUQl2cSIiIiIiAmj6YlxAOUmxhbAJcClwJ7A39n+o3rpIiLid03S%0Am4DTgc0pJbH7tpA9G7iO8ndvL+Ax4B7b21YN1gJJDwFv7vNt+1QeiIgosokREREREROGpIeBm4EL%0AbM8d8blzul4bPSKib5qF7IOAhe7hAoakjSl9Ie60PafpC/E627MqRxtzkm6zvXvtHDF+SPq87b+o%0AnSMi2pdNjIiIiIiYMCStbfvZ2jkiIqIdkm4G9rX9cu0s0S5JnwI2Br4K/Howb/uqaqGiFc3N2+Ns%0A/+OI+R1t31UpVkRUlE2MiIiIiJgwJK0JHAP8CbDmYN720dVCRUTEmJG0M6Wc1GyWXcg+u1qoFvW5%0AL4SkmaNMO3/z+0HSHbZfWztHRIwPq9YOEBERERHxn3AJ8H+ANwCnAUcAqQ8dEdFdZwDPUjauV6+c%0ApYZP0tO+ELZn1M4QVd0m6dPA5cBzg0nb8+tFiohachMjIiIiIiYMSQts7yDpXtvbSVoNmGN7eu1s%0AERHxuyfpPtvb1M5RS5/7QkjaBDgXGPz75wDH2/5ZvVTRlqB7qagAAANOSURBVKaUHMAyC5e296kQ%0AJyIqy02MiIiIiJhIXmjeL5K0DfAopcRGRER007WSXm/727WDVDJP0uX0sy/ETOAy4JBmfGQzt1+1%0ARNGm/YG3A1uwdP0yJ7Ejeio3MSIiIiJiwpD0HuArwLbARcDawIdtn18zV0REjA1Ji4HfA5ZQNrJ7%0A0xMC+t0XQtLdtl+zsrnoJknXAYuA+cBLzbT70g8nIpaVmxgRERERMe5J+sDQcFAj+7zm/StajhMR%0AEe1Zj9L/aEvbp0naDPgvlTO1pud9IZ6QdCTwxWZ8OPBExTzRrk1sv7F2iIgYHybVDhARERER8R+w%0ATvO2E3As8F+BPwDeC0yrmCsiIsbWecB0ygI2wGLg0/XitEvSJpKulvRY8/aVpldEHxwNHEopHflv%0AwMHAu2sGilbNlbRt7RARMT6knFRERERETBiSvgscYHtxM14H+Kbtveomi4iIsSBpvu1pkhbY3qGZ%0Au8f29rWztUHSDZS+EJc0U0cCR9jufF8ISRcDJ9h+qhm/EjizD6W0AiTdD/w34EeUfjCDUnLbVQ0W%0AEVWknFRERERETCQbUeqiDyxp5iIioptekLQKTUNfSRsAL9eN1KoNbA/3xbhI0gnV0rRru8EGBoDt%0AJyXtUDNQtGr/2gEiYvzIJkZERERETCSzgDskXd2M30pp8B0REd10DnA1sKGkMyglhU6uG6lVfe4L%0AMUnS5BE3MbKO1RO2f1I7Q0SMHyknFRERERETiqRpwJ7N8Lu2F9TMExERY0vS1sC+lHIyN9p+oHKk%0A1kjaHDgX2JVyG2Uu8Fe2/2/VYC2Q9C7gb4Erm6lDgDNsX7L874qIiC7KJkZERERERERExDjU974Q%0AkqYC+zTDm2zfXzNPRETUkU2MiIiIiIiIiIhxaLih+YrmIiIiumxS7QARERERERERETGqSZImDwbp%0ACxEREX2UP3wREREREREREePTWcDtkpbpC1ExT0REROtSTioiIiIiIiIiYpxKX4iIiOi7bGJERERE%0ARERERERERMS4lJ4YERERERERERERERExLmUTIyIiIiIiIiIiIiIixqVsYkRERERERERERERExLiU%0ATYyIiIiIiIiIiIiIiBiXsokRERERERERERERERHj0v8Dqp2KTbuGIosAAAAASUVORK5CYII="/>
          <p:cNvSpPr>
            <a:spLocks noChangeAspect="1" noChangeArrowheads="1"/>
          </p:cNvSpPr>
          <p:nvPr/>
        </p:nvSpPr>
        <p:spPr bwMode="auto">
          <a:xfrm>
            <a:off x="155575" y="-2857500"/>
            <a:ext cx="10363200" cy="5953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p:cNvPicPr>
            <a:picLocks noChangeAspect="1"/>
          </p:cNvPicPr>
          <p:nvPr/>
        </p:nvPicPr>
        <p:blipFill>
          <a:blip r:embed="rId2"/>
          <a:stretch>
            <a:fillRect/>
          </a:stretch>
        </p:blipFill>
        <p:spPr>
          <a:xfrm>
            <a:off x="1550126" y="1028700"/>
            <a:ext cx="10363200" cy="5829300"/>
          </a:xfrm>
          <a:prstGeom prst="rect">
            <a:avLst/>
          </a:prstGeom>
        </p:spPr>
      </p:pic>
    </p:spTree>
    <p:extLst>
      <p:ext uri="{BB962C8B-B14F-4D97-AF65-F5344CB8AC3E}">
        <p14:creationId xmlns:p14="http://schemas.microsoft.com/office/powerpoint/2010/main" val="18014167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Job Distribution of Dataset</a:t>
            </a:r>
            <a:endParaRPr lang="en-IN" dirty="0"/>
          </a:p>
        </p:txBody>
      </p:sp>
      <p:sp>
        <p:nvSpPr>
          <p:cNvPr id="5" name="Content Placeholder 4"/>
          <p:cNvSpPr>
            <a:spLocks noGrp="1"/>
          </p:cNvSpPr>
          <p:nvPr>
            <p:ph sz="half" idx="1"/>
          </p:nvPr>
        </p:nvSpPr>
        <p:spPr/>
        <p:txBody>
          <a:bodyPr/>
          <a:lstStyle/>
          <a:p>
            <a:r>
              <a:rPr lang="en-US" dirty="0" smtClean="0"/>
              <a:t>The Distribution of the Job Category in the Dataset is given by</a:t>
            </a:r>
          </a:p>
        </p:txBody>
      </p:sp>
      <p:sp>
        <p:nvSpPr>
          <p:cNvPr id="6" name="Content Placeholder 5"/>
          <p:cNvSpPr>
            <a:spLocks noGrp="1"/>
          </p:cNvSpPr>
          <p:nvPr>
            <p:ph sz="half" idx="2"/>
          </p:nvPr>
        </p:nvSpPr>
        <p:spPr/>
        <p:txBody>
          <a:bodyPr/>
          <a:lstStyle/>
          <a:p>
            <a:r>
              <a:rPr lang="en-US" dirty="0" smtClean="0"/>
              <a:t>The Job Category for which the Deposit is given is</a:t>
            </a:r>
            <a:endParaRPr lang="en-IN" dirty="0"/>
          </a:p>
        </p:txBody>
      </p:sp>
      <p:pic>
        <p:nvPicPr>
          <p:cNvPr id="8" name="Picture 7"/>
          <p:cNvPicPr>
            <a:picLocks noChangeAspect="1"/>
          </p:cNvPicPr>
          <p:nvPr/>
        </p:nvPicPr>
        <p:blipFill>
          <a:blip r:embed="rId2"/>
          <a:stretch>
            <a:fillRect/>
          </a:stretch>
        </p:blipFill>
        <p:spPr>
          <a:xfrm>
            <a:off x="6491015" y="3239588"/>
            <a:ext cx="5118381" cy="3029495"/>
          </a:xfrm>
          <a:prstGeom prst="rect">
            <a:avLst/>
          </a:prstGeom>
        </p:spPr>
      </p:pic>
      <p:pic>
        <p:nvPicPr>
          <p:cNvPr id="9" name="Picture 8"/>
          <p:cNvPicPr>
            <a:picLocks noChangeAspect="1"/>
          </p:cNvPicPr>
          <p:nvPr/>
        </p:nvPicPr>
        <p:blipFill>
          <a:blip r:embed="rId3"/>
          <a:stretch>
            <a:fillRect/>
          </a:stretch>
        </p:blipFill>
        <p:spPr>
          <a:xfrm>
            <a:off x="748555" y="3292891"/>
            <a:ext cx="4790098" cy="2844476"/>
          </a:xfrm>
          <a:prstGeom prst="rect">
            <a:avLst/>
          </a:prstGeom>
        </p:spPr>
      </p:pic>
    </p:spTree>
    <p:extLst>
      <p:ext uri="{BB962C8B-B14F-4D97-AF65-F5344CB8AC3E}">
        <p14:creationId xmlns:p14="http://schemas.microsoft.com/office/powerpoint/2010/main" val="41964653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Crosstab Between Job vs Education</a:t>
            </a:r>
            <a:endParaRPr lang="en-IN" dirty="0"/>
          </a:p>
        </p:txBody>
      </p:sp>
      <p:pic>
        <p:nvPicPr>
          <p:cNvPr id="7" name="Picture 6"/>
          <p:cNvPicPr>
            <a:picLocks noChangeAspect="1"/>
          </p:cNvPicPr>
          <p:nvPr/>
        </p:nvPicPr>
        <p:blipFill>
          <a:blip r:embed="rId2"/>
          <a:stretch>
            <a:fillRect/>
          </a:stretch>
        </p:blipFill>
        <p:spPr>
          <a:xfrm>
            <a:off x="1350897" y="2534195"/>
            <a:ext cx="9556884" cy="4106907"/>
          </a:xfrm>
          <a:prstGeom prst="rect">
            <a:avLst/>
          </a:prstGeom>
        </p:spPr>
      </p:pic>
    </p:spTree>
    <p:extLst>
      <p:ext uri="{BB962C8B-B14F-4D97-AF65-F5344CB8AC3E}">
        <p14:creationId xmlns:p14="http://schemas.microsoft.com/office/powerpoint/2010/main" val="16587019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 Distribution</a:t>
            </a:r>
            <a:endParaRPr lang="en-IN" dirty="0"/>
          </a:p>
        </p:txBody>
      </p:sp>
      <p:pic>
        <p:nvPicPr>
          <p:cNvPr id="4" name="Picture 3"/>
          <p:cNvPicPr>
            <a:picLocks noChangeAspect="1"/>
          </p:cNvPicPr>
          <p:nvPr/>
        </p:nvPicPr>
        <p:blipFill>
          <a:blip r:embed="rId2"/>
          <a:stretch>
            <a:fillRect/>
          </a:stretch>
        </p:blipFill>
        <p:spPr>
          <a:xfrm>
            <a:off x="26126" y="1863160"/>
            <a:ext cx="11704320" cy="4939187"/>
          </a:xfrm>
          <a:prstGeom prst="rect">
            <a:avLst/>
          </a:prstGeom>
        </p:spPr>
      </p:pic>
    </p:spTree>
    <p:extLst>
      <p:ext uri="{BB962C8B-B14F-4D97-AF65-F5344CB8AC3E}">
        <p14:creationId xmlns:p14="http://schemas.microsoft.com/office/powerpoint/2010/main" val="20763636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smtClean="0"/>
              <a:t>Plots of Marital Status and Highest Education</a:t>
            </a:r>
            <a:endParaRPr lang="en-IN" dirty="0"/>
          </a:p>
        </p:txBody>
      </p:sp>
      <p:pic>
        <p:nvPicPr>
          <p:cNvPr id="15" name="Content Placeholder 14"/>
          <p:cNvPicPr>
            <a:picLocks noGrp="1" noChangeAspect="1"/>
          </p:cNvPicPr>
          <p:nvPr>
            <p:ph sz="half" idx="1"/>
          </p:nvPr>
        </p:nvPicPr>
        <p:blipFill>
          <a:blip r:embed="rId2"/>
          <a:stretch>
            <a:fillRect/>
          </a:stretch>
        </p:blipFill>
        <p:spPr>
          <a:xfrm>
            <a:off x="1219994" y="3025775"/>
            <a:ext cx="4695825" cy="2571750"/>
          </a:xfrm>
          <a:prstGeom prst="rect">
            <a:avLst/>
          </a:prstGeom>
        </p:spPr>
      </p:pic>
      <p:pic>
        <p:nvPicPr>
          <p:cNvPr id="16" name="Content Placeholder 15"/>
          <p:cNvPicPr>
            <a:picLocks noGrp="1" noChangeAspect="1"/>
          </p:cNvPicPr>
          <p:nvPr>
            <p:ph sz="half" idx="2"/>
          </p:nvPr>
        </p:nvPicPr>
        <p:blipFill>
          <a:blip r:embed="rId3"/>
          <a:stretch>
            <a:fillRect/>
          </a:stretch>
        </p:blipFill>
        <p:spPr>
          <a:xfrm>
            <a:off x="6208712" y="3025775"/>
            <a:ext cx="5507395" cy="2571750"/>
          </a:xfrm>
          <a:prstGeom prst="rect">
            <a:avLst/>
          </a:prstGeom>
        </p:spPr>
      </p:pic>
    </p:spTree>
    <p:extLst>
      <p:ext uri="{BB962C8B-B14F-4D97-AF65-F5344CB8AC3E}">
        <p14:creationId xmlns:p14="http://schemas.microsoft.com/office/powerpoint/2010/main" val="28129951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sz="half" idx="1"/>
          </p:nvPr>
        </p:nvPicPr>
        <p:blipFill>
          <a:blip r:embed="rId2"/>
          <a:stretch>
            <a:fillRect/>
          </a:stretch>
        </p:blipFill>
        <p:spPr>
          <a:xfrm>
            <a:off x="6567453" y="305035"/>
            <a:ext cx="5398124" cy="2085467"/>
          </a:xfrm>
          <a:prstGeom prst="rect">
            <a:avLst/>
          </a:prstGeom>
        </p:spPr>
      </p:pic>
      <p:pic>
        <p:nvPicPr>
          <p:cNvPr id="6" name="Picture 5"/>
          <p:cNvPicPr>
            <a:picLocks noChangeAspect="1"/>
          </p:cNvPicPr>
          <p:nvPr/>
        </p:nvPicPr>
        <p:blipFill>
          <a:blip r:embed="rId3"/>
          <a:stretch>
            <a:fillRect/>
          </a:stretch>
        </p:blipFill>
        <p:spPr>
          <a:xfrm>
            <a:off x="156754" y="221252"/>
            <a:ext cx="6734175" cy="2590800"/>
          </a:xfrm>
          <a:prstGeom prst="rect">
            <a:avLst/>
          </a:prstGeom>
        </p:spPr>
      </p:pic>
      <p:pic>
        <p:nvPicPr>
          <p:cNvPr id="7" name="Picture 6"/>
          <p:cNvPicPr>
            <a:picLocks noChangeAspect="1"/>
          </p:cNvPicPr>
          <p:nvPr/>
        </p:nvPicPr>
        <p:blipFill>
          <a:blip r:embed="rId4"/>
          <a:stretch>
            <a:fillRect/>
          </a:stretch>
        </p:blipFill>
        <p:spPr>
          <a:xfrm>
            <a:off x="0" y="4248150"/>
            <a:ext cx="6686550" cy="2609850"/>
          </a:xfrm>
          <a:prstGeom prst="rect">
            <a:avLst/>
          </a:prstGeom>
        </p:spPr>
      </p:pic>
      <p:pic>
        <p:nvPicPr>
          <p:cNvPr id="8" name="Picture 7"/>
          <p:cNvPicPr>
            <a:picLocks noChangeAspect="1"/>
          </p:cNvPicPr>
          <p:nvPr/>
        </p:nvPicPr>
        <p:blipFill>
          <a:blip r:embed="rId5"/>
          <a:stretch>
            <a:fillRect/>
          </a:stretch>
        </p:blipFill>
        <p:spPr>
          <a:xfrm>
            <a:off x="5153025" y="3384010"/>
            <a:ext cx="7038975" cy="2686050"/>
          </a:xfrm>
          <a:prstGeom prst="rect">
            <a:avLst/>
          </a:prstGeom>
        </p:spPr>
      </p:pic>
    </p:spTree>
    <p:extLst>
      <p:ext uri="{BB962C8B-B14F-4D97-AF65-F5344CB8AC3E}">
        <p14:creationId xmlns:p14="http://schemas.microsoft.com/office/powerpoint/2010/main" val="25670841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67494" y="1"/>
            <a:ext cx="8506099" cy="3300512"/>
          </a:xfrm>
          <a:prstGeom prst="rect">
            <a:avLst/>
          </a:prstGeom>
        </p:spPr>
      </p:pic>
      <p:pic>
        <p:nvPicPr>
          <p:cNvPr id="11" name="Picture 10"/>
          <p:cNvPicPr>
            <a:picLocks noChangeAspect="1"/>
          </p:cNvPicPr>
          <p:nvPr/>
        </p:nvPicPr>
        <p:blipFill>
          <a:blip r:embed="rId3"/>
          <a:stretch>
            <a:fillRect/>
          </a:stretch>
        </p:blipFill>
        <p:spPr>
          <a:xfrm>
            <a:off x="3570653" y="3300512"/>
            <a:ext cx="8621348" cy="3374608"/>
          </a:xfrm>
          <a:prstGeom prst="rect">
            <a:avLst/>
          </a:prstGeom>
        </p:spPr>
      </p:pic>
      <p:sp>
        <p:nvSpPr>
          <p:cNvPr id="12" name="TextBox 11"/>
          <p:cNvSpPr txBox="1"/>
          <p:nvPr/>
        </p:nvSpPr>
        <p:spPr>
          <a:xfrm>
            <a:off x="600891" y="4206240"/>
            <a:ext cx="3065263" cy="923330"/>
          </a:xfrm>
          <a:prstGeom prst="rect">
            <a:avLst/>
          </a:prstGeom>
          <a:noFill/>
        </p:spPr>
        <p:txBody>
          <a:bodyPr wrap="none" rtlCol="0">
            <a:spAutoFit/>
          </a:bodyPr>
          <a:lstStyle/>
          <a:p>
            <a:r>
              <a:rPr lang="en-US" dirty="0" smtClean="0">
                <a:solidFill>
                  <a:schemeClr val="bg1"/>
                </a:solidFill>
              </a:rPr>
              <a:t>Plots showing which </a:t>
            </a:r>
          </a:p>
          <a:p>
            <a:r>
              <a:rPr lang="en-US" dirty="0" smtClean="0">
                <a:solidFill>
                  <a:schemeClr val="bg1"/>
                </a:solidFill>
              </a:rPr>
              <a:t>Day and Month recorded</a:t>
            </a:r>
          </a:p>
          <a:p>
            <a:r>
              <a:rPr lang="en-US" dirty="0" smtClean="0">
                <a:solidFill>
                  <a:schemeClr val="bg1"/>
                </a:solidFill>
              </a:rPr>
              <a:t>A surge in Numbers</a:t>
            </a:r>
            <a:endParaRPr lang="en-IN" dirty="0">
              <a:solidFill>
                <a:schemeClr val="bg1"/>
              </a:solidFill>
            </a:endParaRPr>
          </a:p>
        </p:txBody>
      </p:sp>
    </p:spTree>
    <p:extLst>
      <p:ext uri="{BB962C8B-B14F-4D97-AF65-F5344CB8AC3E}">
        <p14:creationId xmlns:p14="http://schemas.microsoft.com/office/powerpoint/2010/main" val="25847381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54954" y="743979"/>
            <a:ext cx="8761413" cy="706964"/>
          </a:xfrm>
        </p:spPr>
        <p:txBody>
          <a:bodyPr/>
          <a:lstStyle/>
          <a:p>
            <a:r>
              <a:rPr lang="en-US" dirty="0" smtClean="0"/>
              <a:t>Distribution of Call Duration</a:t>
            </a:r>
            <a:endParaRPr lang="en-IN" dirty="0"/>
          </a:p>
        </p:txBody>
      </p:sp>
      <p:sp>
        <p:nvSpPr>
          <p:cNvPr id="5" name="Content Placeholder 4"/>
          <p:cNvSpPr>
            <a:spLocks noGrp="1"/>
          </p:cNvSpPr>
          <p:nvPr>
            <p:ph idx="1"/>
          </p:nvPr>
        </p:nvSpPr>
        <p:spPr/>
        <p:txBody>
          <a:bodyPr/>
          <a:lstStyle/>
          <a:p>
            <a:endParaRPr lang="en-IN"/>
          </a:p>
        </p:txBody>
      </p:sp>
      <p:pic>
        <p:nvPicPr>
          <p:cNvPr id="6" name="Picture 5"/>
          <p:cNvPicPr>
            <a:picLocks noChangeAspect="1"/>
          </p:cNvPicPr>
          <p:nvPr/>
        </p:nvPicPr>
        <p:blipFill>
          <a:blip r:embed="rId2"/>
          <a:stretch>
            <a:fillRect/>
          </a:stretch>
        </p:blipFill>
        <p:spPr>
          <a:xfrm>
            <a:off x="0" y="1701800"/>
            <a:ext cx="12258675" cy="5219700"/>
          </a:xfrm>
          <a:prstGeom prst="rect">
            <a:avLst/>
          </a:prstGeom>
        </p:spPr>
      </p:pic>
      <p:sp>
        <p:nvSpPr>
          <p:cNvPr id="7" name="TextBox 6"/>
          <p:cNvSpPr txBox="1"/>
          <p:nvPr/>
        </p:nvSpPr>
        <p:spPr>
          <a:xfrm>
            <a:off x="5695406" y="2926080"/>
            <a:ext cx="6260047" cy="646331"/>
          </a:xfrm>
          <a:prstGeom prst="rect">
            <a:avLst/>
          </a:prstGeom>
          <a:noFill/>
        </p:spPr>
        <p:txBody>
          <a:bodyPr wrap="none" rtlCol="0">
            <a:spAutoFit/>
          </a:bodyPr>
          <a:lstStyle/>
          <a:p>
            <a:r>
              <a:rPr lang="en-US" dirty="0" smtClean="0"/>
              <a:t>We Can see with this Distribution that the Call Duration</a:t>
            </a:r>
          </a:p>
          <a:p>
            <a:r>
              <a:rPr lang="en-US" dirty="0" smtClean="0"/>
              <a:t>Data is Right Skewed and </a:t>
            </a:r>
            <a:endParaRPr lang="en-IN" dirty="0"/>
          </a:p>
        </p:txBody>
      </p:sp>
    </p:spTree>
    <p:extLst>
      <p:ext uri="{BB962C8B-B14F-4D97-AF65-F5344CB8AC3E}">
        <p14:creationId xmlns:p14="http://schemas.microsoft.com/office/powerpoint/2010/main" val="1939926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Campaign Data</a:t>
            </a:r>
            <a:endParaRPr lang="en-IN" dirty="0"/>
          </a:p>
        </p:txBody>
      </p:sp>
      <p:pic>
        <p:nvPicPr>
          <p:cNvPr id="4" name="Content Placeholder 3"/>
          <p:cNvPicPr>
            <a:picLocks noGrp="1" noChangeAspect="1"/>
          </p:cNvPicPr>
          <p:nvPr>
            <p:ph idx="1"/>
          </p:nvPr>
        </p:nvPicPr>
        <p:blipFill>
          <a:blip r:embed="rId2"/>
          <a:stretch>
            <a:fillRect/>
          </a:stretch>
        </p:blipFill>
        <p:spPr>
          <a:xfrm>
            <a:off x="725820" y="2364378"/>
            <a:ext cx="10813773" cy="4234764"/>
          </a:xfrm>
          <a:prstGeom prst="rect">
            <a:avLst/>
          </a:prstGeom>
        </p:spPr>
      </p:pic>
      <p:sp>
        <p:nvSpPr>
          <p:cNvPr id="5" name="TextBox 4"/>
          <p:cNvSpPr txBox="1"/>
          <p:nvPr/>
        </p:nvSpPr>
        <p:spPr>
          <a:xfrm>
            <a:off x="6309360" y="3918857"/>
            <a:ext cx="5195653" cy="923330"/>
          </a:xfrm>
          <a:prstGeom prst="rect">
            <a:avLst/>
          </a:prstGeom>
          <a:noFill/>
        </p:spPr>
        <p:txBody>
          <a:bodyPr wrap="none" rtlCol="0">
            <a:spAutoFit/>
          </a:bodyPr>
          <a:lstStyle/>
          <a:p>
            <a:r>
              <a:rPr lang="en-US" dirty="0" smtClean="0"/>
              <a:t>We Can see that the Campaign data is also</a:t>
            </a:r>
          </a:p>
          <a:p>
            <a:r>
              <a:rPr lang="en-US" dirty="0" smtClean="0"/>
              <a:t>Right Skewed and 1-3 campaigns consists of </a:t>
            </a:r>
          </a:p>
          <a:p>
            <a:r>
              <a:rPr lang="en-US" dirty="0" smtClean="0"/>
              <a:t>70% of Total Campaign</a:t>
            </a:r>
            <a:endParaRPr lang="en-IN" dirty="0"/>
          </a:p>
        </p:txBody>
      </p:sp>
    </p:spTree>
    <p:extLst>
      <p:ext uri="{BB962C8B-B14F-4D97-AF65-F5344CB8AC3E}">
        <p14:creationId xmlns:p14="http://schemas.microsoft.com/office/powerpoint/2010/main" val="14947407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Processing Did We Perform</a:t>
            </a:r>
            <a:endParaRPr lang="en-IN" dirty="0"/>
          </a:p>
        </p:txBody>
      </p:sp>
      <p:sp>
        <p:nvSpPr>
          <p:cNvPr id="3" name="Content Placeholder 2"/>
          <p:cNvSpPr>
            <a:spLocks noGrp="1"/>
          </p:cNvSpPr>
          <p:nvPr>
            <p:ph idx="1"/>
          </p:nvPr>
        </p:nvSpPr>
        <p:spPr/>
        <p:txBody>
          <a:bodyPr/>
          <a:lstStyle/>
          <a:p>
            <a:r>
              <a:rPr lang="en-US" dirty="0" smtClean="0"/>
              <a:t>We Converted All Categorical Values into Numerical Variables by Encoding the Categorical Values with Label Encoders</a:t>
            </a:r>
          </a:p>
          <a:p>
            <a:r>
              <a:rPr lang="en-US" dirty="0" smtClean="0"/>
              <a:t>We encoded the Output(Target) variable ‘y’ by mapping it into 0 and 1 as it is a Binary Classification Problem</a:t>
            </a:r>
          </a:p>
          <a:p>
            <a:r>
              <a:rPr lang="en-US" dirty="0" smtClean="0"/>
              <a:t>We binned some Float Variables by using Intervals and removed outliers with IQR Formula (1.5 * IQR)</a:t>
            </a:r>
          </a:p>
          <a:p>
            <a:r>
              <a:rPr lang="en-US" dirty="0" smtClean="0"/>
              <a:t>We Grouped Some Values by filtering them within a Range and Assigning them a Value</a:t>
            </a:r>
            <a:endParaRPr lang="en-IN" dirty="0"/>
          </a:p>
        </p:txBody>
      </p:sp>
    </p:spTree>
    <p:extLst>
      <p:ext uri="{BB962C8B-B14F-4D97-AF65-F5344CB8AC3E}">
        <p14:creationId xmlns:p14="http://schemas.microsoft.com/office/powerpoint/2010/main" val="40668168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Model Training</a:t>
            </a:r>
            <a:endParaRPr lang="en-IN" dirty="0"/>
          </a:p>
        </p:txBody>
      </p:sp>
      <p:sp>
        <p:nvSpPr>
          <p:cNvPr id="3" name="Content Placeholder 2"/>
          <p:cNvSpPr>
            <a:spLocks noGrp="1"/>
          </p:cNvSpPr>
          <p:nvPr>
            <p:ph idx="1"/>
          </p:nvPr>
        </p:nvSpPr>
        <p:spPr>
          <a:xfrm>
            <a:off x="1154954" y="2416629"/>
            <a:ext cx="9987663" cy="4140925"/>
          </a:xfrm>
        </p:spPr>
        <p:txBody>
          <a:bodyPr>
            <a:normAutofit/>
          </a:bodyPr>
          <a:lstStyle/>
          <a:p>
            <a:r>
              <a:rPr lang="en-US" dirty="0" smtClean="0"/>
              <a:t>Here the First thing we did was to Segment the Data as Independent Variables and Dependent Variables</a:t>
            </a:r>
          </a:p>
          <a:p>
            <a:endParaRPr lang="en-US" dirty="0"/>
          </a:p>
          <a:p>
            <a:pPr marL="0" indent="0">
              <a:buNone/>
            </a:pPr>
            <a:r>
              <a:rPr lang="en-US" u="sng" dirty="0" smtClean="0"/>
              <a:t>Independent Variables (X train and test): </a:t>
            </a:r>
          </a:p>
          <a:p>
            <a:pPr marL="0" indent="0">
              <a:buNone/>
            </a:pPr>
            <a:r>
              <a:rPr lang="en-US" dirty="0"/>
              <a:t>	</a:t>
            </a:r>
            <a:r>
              <a:rPr lang="en-US" dirty="0" smtClean="0"/>
              <a:t>data -</a:t>
            </a:r>
            <a:r>
              <a:rPr lang="en-IN" dirty="0" smtClean="0"/>
              <a:t> </a:t>
            </a:r>
            <a:r>
              <a:rPr lang="en-IN" dirty="0"/>
              <a:t>['age', 'job', 'marital', 'education', 'default', 'housing', 'loan', 'contact', 'month', '</a:t>
            </a:r>
            <a:r>
              <a:rPr lang="en-IN" dirty="0" err="1"/>
              <a:t>day_of_week</a:t>
            </a:r>
            <a:r>
              <a:rPr lang="en-IN" dirty="0"/>
              <a:t>', 'duration', 'campaign', '</a:t>
            </a:r>
            <a:r>
              <a:rPr lang="en-IN" dirty="0" err="1"/>
              <a:t>pdays</a:t>
            </a:r>
            <a:r>
              <a:rPr lang="en-IN" dirty="0"/>
              <a:t>', 'previous', '</a:t>
            </a:r>
            <a:r>
              <a:rPr lang="en-IN" dirty="0" err="1"/>
              <a:t>poutcome</a:t>
            </a:r>
            <a:r>
              <a:rPr lang="en-IN" dirty="0"/>
              <a:t>', '</a:t>
            </a:r>
            <a:r>
              <a:rPr lang="en-IN" dirty="0" err="1"/>
              <a:t>emp.var.rate</a:t>
            </a:r>
            <a:r>
              <a:rPr lang="en-IN" dirty="0"/>
              <a:t>', '</a:t>
            </a:r>
            <a:r>
              <a:rPr lang="en-IN" dirty="0" err="1"/>
              <a:t>cons.price.idx</a:t>
            </a:r>
            <a:r>
              <a:rPr lang="en-IN" dirty="0"/>
              <a:t>', '</a:t>
            </a:r>
            <a:r>
              <a:rPr lang="en-IN" dirty="0" err="1"/>
              <a:t>cons.conf.idx</a:t>
            </a:r>
            <a:r>
              <a:rPr lang="en-IN" dirty="0"/>
              <a:t>', 'euribor3m', '</a:t>
            </a:r>
            <a:r>
              <a:rPr lang="en-IN" dirty="0" err="1"/>
              <a:t>nr.employed</a:t>
            </a:r>
            <a:r>
              <a:rPr lang="en-IN" dirty="0" smtClean="0"/>
              <a:t>']</a:t>
            </a:r>
          </a:p>
          <a:p>
            <a:pPr marL="0" indent="0">
              <a:buNone/>
            </a:pPr>
            <a:endParaRPr lang="en-US" dirty="0"/>
          </a:p>
          <a:p>
            <a:pPr marL="0" indent="0">
              <a:buNone/>
            </a:pPr>
            <a:r>
              <a:rPr lang="en-US" u="sng" dirty="0" smtClean="0"/>
              <a:t>Dependent Variables (y </a:t>
            </a:r>
            <a:r>
              <a:rPr lang="en-US" u="sng" dirty="0"/>
              <a:t>train and test)</a:t>
            </a:r>
            <a:r>
              <a:rPr lang="en-US" u="sng" dirty="0" smtClean="0"/>
              <a:t>:</a:t>
            </a:r>
          </a:p>
          <a:p>
            <a:pPr marL="0" indent="0">
              <a:buNone/>
            </a:pPr>
            <a:r>
              <a:rPr lang="en-US" dirty="0" smtClean="0"/>
              <a:t>	data - [y]</a:t>
            </a:r>
            <a:endParaRPr lang="en-IN" dirty="0"/>
          </a:p>
        </p:txBody>
      </p:sp>
    </p:spTree>
    <p:extLst>
      <p:ext uri="{BB962C8B-B14F-4D97-AF65-F5344CB8AC3E}">
        <p14:creationId xmlns:p14="http://schemas.microsoft.com/office/powerpoint/2010/main" val="31935102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 Splitting the Data</a:t>
            </a:r>
            <a:endParaRPr lang="en-IN" dirty="0"/>
          </a:p>
        </p:txBody>
      </p:sp>
      <p:sp>
        <p:nvSpPr>
          <p:cNvPr id="3" name="Content Placeholder 2"/>
          <p:cNvSpPr>
            <a:spLocks noGrp="1"/>
          </p:cNvSpPr>
          <p:nvPr>
            <p:ph idx="1"/>
          </p:nvPr>
        </p:nvSpPr>
        <p:spPr/>
        <p:txBody>
          <a:bodyPr/>
          <a:lstStyle/>
          <a:p>
            <a:r>
              <a:rPr lang="en-US" dirty="0" smtClean="0"/>
              <a:t>We Used Train Test Split to Split the Data as training set and test Set</a:t>
            </a:r>
          </a:p>
          <a:p>
            <a:r>
              <a:rPr lang="en-US" dirty="0" smtClean="0"/>
              <a:t>The Threshold for Splitting the Data is 25%</a:t>
            </a:r>
          </a:p>
          <a:p>
            <a:endParaRPr lang="en-US" dirty="0" smtClean="0"/>
          </a:p>
          <a:p>
            <a:endParaRPr lang="en-US" dirty="0"/>
          </a:p>
          <a:p>
            <a:pPr marL="0" indent="0">
              <a:buNone/>
            </a:pPr>
            <a:r>
              <a:rPr lang="en-US" dirty="0" smtClean="0"/>
              <a:t>Therefore, The Total Training Set for </a:t>
            </a:r>
            <a:r>
              <a:rPr lang="en-US" b="1" dirty="0" err="1" smtClean="0"/>
              <a:t>X_train</a:t>
            </a:r>
            <a:r>
              <a:rPr lang="en-US" dirty="0" smtClean="0"/>
              <a:t> is </a:t>
            </a:r>
            <a:r>
              <a:rPr lang="en-IN" b="1" dirty="0" smtClean="0"/>
              <a:t>26287</a:t>
            </a:r>
            <a:r>
              <a:rPr lang="en-IN" dirty="0" smtClean="0"/>
              <a:t> </a:t>
            </a:r>
            <a:r>
              <a:rPr lang="en-IN" b="1" dirty="0" smtClean="0"/>
              <a:t>Rows, 20 Columns </a:t>
            </a:r>
            <a:r>
              <a:rPr lang="en-IN" dirty="0"/>
              <a:t>and </a:t>
            </a:r>
            <a:endParaRPr lang="en-IN" dirty="0" smtClean="0"/>
          </a:p>
          <a:p>
            <a:pPr marL="0" indent="0">
              <a:buNone/>
            </a:pPr>
            <a:r>
              <a:rPr lang="en-US" dirty="0"/>
              <a:t>Total Training Set for </a:t>
            </a:r>
            <a:r>
              <a:rPr lang="en-US" b="1" dirty="0" err="1" smtClean="0"/>
              <a:t>y_train</a:t>
            </a:r>
            <a:r>
              <a:rPr lang="en-US" dirty="0" smtClean="0"/>
              <a:t> is </a:t>
            </a:r>
            <a:r>
              <a:rPr lang="en-IN" b="1" dirty="0" smtClean="0"/>
              <a:t>26287</a:t>
            </a:r>
            <a:r>
              <a:rPr lang="en-IN" dirty="0" smtClean="0"/>
              <a:t> Rows and </a:t>
            </a:r>
            <a:r>
              <a:rPr lang="en-US" dirty="0"/>
              <a:t>Total </a:t>
            </a:r>
            <a:r>
              <a:rPr lang="en-US" dirty="0" smtClean="0"/>
              <a:t>Test </a:t>
            </a:r>
            <a:r>
              <a:rPr lang="en-US" dirty="0"/>
              <a:t>Set for </a:t>
            </a:r>
            <a:r>
              <a:rPr lang="en-US" b="1" dirty="0" err="1" smtClean="0"/>
              <a:t>X_test</a:t>
            </a:r>
            <a:r>
              <a:rPr lang="en-US" dirty="0" smtClean="0"/>
              <a:t> </a:t>
            </a:r>
            <a:r>
              <a:rPr lang="en-US" dirty="0"/>
              <a:t>is </a:t>
            </a:r>
            <a:r>
              <a:rPr lang="en-IN" b="1" dirty="0"/>
              <a:t>8763</a:t>
            </a:r>
            <a:r>
              <a:rPr lang="en-IN" dirty="0" smtClean="0"/>
              <a:t> </a:t>
            </a:r>
            <a:r>
              <a:rPr lang="en-IN" b="1" dirty="0"/>
              <a:t>Rows, 20 Columns </a:t>
            </a:r>
            <a:r>
              <a:rPr lang="en-IN" dirty="0" smtClean="0"/>
              <a:t>and </a:t>
            </a:r>
            <a:r>
              <a:rPr lang="en-US" dirty="0" smtClean="0"/>
              <a:t>Total Test </a:t>
            </a:r>
            <a:r>
              <a:rPr lang="en-US" dirty="0"/>
              <a:t>Set for </a:t>
            </a:r>
            <a:r>
              <a:rPr lang="en-US" b="1" dirty="0" err="1" smtClean="0"/>
              <a:t>y_test</a:t>
            </a:r>
            <a:r>
              <a:rPr lang="en-US" dirty="0" smtClean="0"/>
              <a:t> </a:t>
            </a:r>
            <a:r>
              <a:rPr lang="en-US" dirty="0"/>
              <a:t>is </a:t>
            </a:r>
            <a:r>
              <a:rPr lang="en-IN" b="1" dirty="0" smtClean="0"/>
              <a:t>8763</a:t>
            </a:r>
            <a:r>
              <a:rPr lang="en-IN" dirty="0" smtClean="0"/>
              <a:t> Rows.</a:t>
            </a:r>
            <a:endParaRPr lang="en-IN" dirty="0"/>
          </a:p>
          <a:p>
            <a:pPr marL="0" indent="0">
              <a:buNone/>
            </a:pPr>
            <a:endParaRPr lang="en-IN" dirty="0"/>
          </a:p>
        </p:txBody>
      </p:sp>
    </p:spTree>
    <p:extLst>
      <p:ext uri="{BB962C8B-B14F-4D97-AF65-F5344CB8AC3E}">
        <p14:creationId xmlns:p14="http://schemas.microsoft.com/office/powerpoint/2010/main" val="1393725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 1: SVC</a:t>
            </a:r>
            <a:endParaRPr lang="en-IN" dirty="0"/>
          </a:p>
        </p:txBody>
      </p:sp>
      <p:sp>
        <p:nvSpPr>
          <p:cNvPr id="3" name="Content Placeholder 2"/>
          <p:cNvSpPr>
            <a:spLocks noGrp="1"/>
          </p:cNvSpPr>
          <p:nvPr>
            <p:ph idx="1"/>
          </p:nvPr>
        </p:nvSpPr>
        <p:spPr/>
        <p:txBody>
          <a:bodyPr/>
          <a:lstStyle/>
          <a:p>
            <a:r>
              <a:rPr lang="en-US" dirty="0" smtClean="0"/>
              <a:t>We used Support Vector Classifier and Performed Scaling to Scale the Independent Variables.</a:t>
            </a:r>
          </a:p>
          <a:p>
            <a:r>
              <a:rPr lang="en-US" dirty="0" smtClean="0"/>
              <a:t>We got an Accuracy of 93%</a:t>
            </a:r>
          </a:p>
          <a:p>
            <a:r>
              <a:rPr lang="en-US" dirty="0" smtClean="0"/>
              <a:t>The Classification Report is Given Below</a:t>
            </a:r>
            <a:endParaRPr lang="en-US" dirty="0"/>
          </a:p>
        </p:txBody>
      </p:sp>
      <p:pic>
        <p:nvPicPr>
          <p:cNvPr id="4" name="Picture 3"/>
          <p:cNvPicPr>
            <a:picLocks noChangeAspect="1"/>
          </p:cNvPicPr>
          <p:nvPr/>
        </p:nvPicPr>
        <p:blipFill>
          <a:blip r:embed="rId2"/>
          <a:stretch>
            <a:fillRect/>
          </a:stretch>
        </p:blipFill>
        <p:spPr>
          <a:xfrm>
            <a:off x="3285718" y="4311650"/>
            <a:ext cx="4930819" cy="1836695"/>
          </a:xfrm>
          <a:prstGeom prst="rect">
            <a:avLst/>
          </a:prstGeom>
        </p:spPr>
      </p:pic>
    </p:spTree>
    <p:extLst>
      <p:ext uri="{BB962C8B-B14F-4D97-AF65-F5344CB8AC3E}">
        <p14:creationId xmlns:p14="http://schemas.microsoft.com/office/powerpoint/2010/main" val="21657879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 1: SVC</a:t>
            </a:r>
            <a:endParaRPr lang="en-IN" dirty="0"/>
          </a:p>
        </p:txBody>
      </p:sp>
      <p:sp>
        <p:nvSpPr>
          <p:cNvPr id="3" name="Content Placeholder 2"/>
          <p:cNvSpPr>
            <a:spLocks noGrp="1"/>
          </p:cNvSpPr>
          <p:nvPr>
            <p:ph idx="1"/>
          </p:nvPr>
        </p:nvSpPr>
        <p:spPr/>
        <p:txBody>
          <a:bodyPr/>
          <a:lstStyle/>
          <a:p>
            <a:r>
              <a:rPr lang="en-US" dirty="0" smtClean="0"/>
              <a:t>We now performed Hyper parameter Tuning with Grid Search CV and fixed parameters (parameter grid, kernel </a:t>
            </a:r>
            <a:r>
              <a:rPr lang="en-US" dirty="0" err="1" smtClean="0"/>
              <a:t>etc</a:t>
            </a:r>
            <a:r>
              <a:rPr lang="en-US" dirty="0" smtClean="0"/>
              <a:t>) so that the model adapts itself and fits the best suited Hyper parameter.</a:t>
            </a:r>
          </a:p>
          <a:p>
            <a:r>
              <a:rPr lang="en-US" dirty="0" smtClean="0"/>
              <a:t>The Model performed well and there was a great improvement in Our Precision, Recall and F1 Score</a:t>
            </a:r>
            <a:endParaRPr lang="en-IN" dirty="0"/>
          </a:p>
        </p:txBody>
      </p:sp>
      <p:pic>
        <p:nvPicPr>
          <p:cNvPr id="4" name="Picture 3"/>
          <p:cNvPicPr>
            <a:picLocks noChangeAspect="1"/>
          </p:cNvPicPr>
          <p:nvPr/>
        </p:nvPicPr>
        <p:blipFill>
          <a:blip r:embed="rId2"/>
          <a:stretch>
            <a:fillRect/>
          </a:stretch>
        </p:blipFill>
        <p:spPr>
          <a:xfrm>
            <a:off x="3249940" y="4415245"/>
            <a:ext cx="5150015" cy="1787027"/>
          </a:xfrm>
          <a:prstGeom prst="rect">
            <a:avLst/>
          </a:prstGeom>
        </p:spPr>
      </p:pic>
    </p:spTree>
    <p:extLst>
      <p:ext uri="{BB962C8B-B14F-4D97-AF65-F5344CB8AC3E}">
        <p14:creationId xmlns:p14="http://schemas.microsoft.com/office/powerpoint/2010/main" val="37266448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 </a:t>
            </a:r>
            <a:r>
              <a:rPr lang="en-US" dirty="0" smtClean="0"/>
              <a:t>2: KNN</a:t>
            </a:r>
            <a:endParaRPr lang="en-IN" dirty="0"/>
          </a:p>
        </p:txBody>
      </p:sp>
      <p:sp>
        <p:nvSpPr>
          <p:cNvPr id="3" name="Content Placeholder 2"/>
          <p:cNvSpPr>
            <a:spLocks noGrp="1"/>
          </p:cNvSpPr>
          <p:nvPr>
            <p:ph idx="1"/>
          </p:nvPr>
        </p:nvSpPr>
        <p:spPr>
          <a:xfrm>
            <a:off x="1090707" y="2512060"/>
            <a:ext cx="8825659" cy="3416300"/>
          </a:xfrm>
        </p:spPr>
        <p:txBody>
          <a:bodyPr/>
          <a:lstStyle/>
          <a:p>
            <a:r>
              <a:rPr lang="en-US" dirty="0" smtClean="0"/>
              <a:t>We used K Nearest Neighbor Algorithm with K fold Cross Validation with k as 25, and we got optimum neighbors as 22.</a:t>
            </a:r>
          </a:p>
          <a:p>
            <a:r>
              <a:rPr lang="en-US" dirty="0" smtClean="0"/>
              <a:t>The Model provided 92% Accuracy</a:t>
            </a:r>
            <a:endParaRPr lang="en-IN" dirty="0"/>
          </a:p>
        </p:txBody>
      </p:sp>
      <p:pic>
        <p:nvPicPr>
          <p:cNvPr id="4" name="Picture 3"/>
          <p:cNvPicPr>
            <a:picLocks noChangeAspect="1"/>
          </p:cNvPicPr>
          <p:nvPr/>
        </p:nvPicPr>
        <p:blipFill>
          <a:blip r:embed="rId2"/>
          <a:stretch>
            <a:fillRect/>
          </a:stretch>
        </p:blipFill>
        <p:spPr>
          <a:xfrm>
            <a:off x="9916366" y="2359643"/>
            <a:ext cx="1631199" cy="4178676"/>
          </a:xfrm>
          <a:prstGeom prst="rect">
            <a:avLst/>
          </a:prstGeom>
        </p:spPr>
      </p:pic>
      <p:pic>
        <p:nvPicPr>
          <p:cNvPr id="5" name="Picture 4"/>
          <p:cNvPicPr>
            <a:picLocks noChangeAspect="1"/>
          </p:cNvPicPr>
          <p:nvPr/>
        </p:nvPicPr>
        <p:blipFill>
          <a:blip r:embed="rId3"/>
          <a:stretch>
            <a:fillRect/>
          </a:stretch>
        </p:blipFill>
        <p:spPr>
          <a:xfrm>
            <a:off x="3407842" y="3969235"/>
            <a:ext cx="4614204" cy="2790553"/>
          </a:xfrm>
          <a:prstGeom prst="rect">
            <a:avLst/>
          </a:prstGeom>
        </p:spPr>
      </p:pic>
    </p:spTree>
    <p:extLst>
      <p:ext uri="{BB962C8B-B14F-4D97-AF65-F5344CB8AC3E}">
        <p14:creationId xmlns:p14="http://schemas.microsoft.com/office/powerpoint/2010/main" val="5091004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 </a:t>
            </a:r>
            <a:r>
              <a:rPr lang="en-US" dirty="0" smtClean="0"/>
              <a:t>3: Decision Tree</a:t>
            </a:r>
            <a:endParaRPr lang="en-IN" dirty="0"/>
          </a:p>
        </p:txBody>
      </p:sp>
      <p:sp>
        <p:nvSpPr>
          <p:cNvPr id="3" name="Content Placeholder 2"/>
          <p:cNvSpPr>
            <a:spLocks noGrp="1"/>
          </p:cNvSpPr>
          <p:nvPr>
            <p:ph idx="1"/>
          </p:nvPr>
        </p:nvSpPr>
        <p:spPr/>
        <p:txBody>
          <a:bodyPr/>
          <a:lstStyle/>
          <a:p>
            <a:r>
              <a:rPr lang="en-US" dirty="0" smtClean="0"/>
              <a:t>Here We, tried with Decision Tree Classifier and got good Results. We didn’t Tune Hyper Parameters, and Trained/Tested the Model with 90% Accuracy</a:t>
            </a:r>
          </a:p>
          <a:p>
            <a:r>
              <a:rPr lang="en-US" dirty="0" smtClean="0"/>
              <a:t>We then exported the model to </a:t>
            </a:r>
            <a:r>
              <a:rPr lang="en-US" dirty="0" err="1" smtClean="0"/>
              <a:t>graphviz</a:t>
            </a:r>
            <a:r>
              <a:rPr lang="en-US" dirty="0" smtClean="0"/>
              <a:t> for visualization</a:t>
            </a:r>
          </a:p>
          <a:p>
            <a:r>
              <a:rPr lang="en-US" dirty="0" smtClean="0"/>
              <a:t>This Model had a Recall Score of 88% and  ROC/AUC Score of 85%</a:t>
            </a:r>
          </a:p>
          <a:p>
            <a:r>
              <a:rPr lang="en-US" dirty="0" smtClean="0"/>
              <a:t>We used Decision tree to check the Feature Importance of the Model by identifying their Relative </a:t>
            </a:r>
            <a:r>
              <a:rPr lang="en-US" dirty="0" err="1" smtClean="0"/>
              <a:t>Importances</a:t>
            </a:r>
            <a:endParaRPr lang="en-IN" dirty="0"/>
          </a:p>
        </p:txBody>
      </p:sp>
    </p:spTree>
    <p:extLst>
      <p:ext uri="{BB962C8B-B14F-4D97-AF65-F5344CB8AC3E}">
        <p14:creationId xmlns:p14="http://schemas.microsoft.com/office/powerpoint/2010/main" val="42662774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16815" y="1253672"/>
            <a:ext cx="4316442" cy="4624614"/>
          </a:xfrm>
        </p:spPr>
        <p:txBody>
          <a:bodyPr/>
          <a:lstStyle/>
          <a:p>
            <a:r>
              <a:rPr lang="en-US" dirty="0" smtClean="0">
                <a:solidFill>
                  <a:schemeClr val="bg1">
                    <a:lumMod val="95000"/>
                  </a:schemeClr>
                </a:solidFill>
              </a:rPr>
              <a:t>The Importance Score given helps us in Identifying which Features are of Much importance to the Model and it is Sorted in Ascending Order (High Importance to Low Importance)</a:t>
            </a:r>
            <a:endParaRPr lang="en-IN" dirty="0">
              <a:solidFill>
                <a:schemeClr val="bg1">
                  <a:lumMod val="95000"/>
                </a:schemeClr>
              </a:solidFill>
            </a:endParaRPr>
          </a:p>
        </p:txBody>
      </p:sp>
      <p:pic>
        <p:nvPicPr>
          <p:cNvPr id="7" name="Picture 6"/>
          <p:cNvPicPr>
            <a:picLocks noChangeAspect="1"/>
          </p:cNvPicPr>
          <p:nvPr/>
        </p:nvPicPr>
        <p:blipFill>
          <a:blip r:embed="rId2"/>
          <a:stretch>
            <a:fillRect/>
          </a:stretch>
        </p:blipFill>
        <p:spPr>
          <a:xfrm>
            <a:off x="7093133" y="104504"/>
            <a:ext cx="2473778" cy="6596743"/>
          </a:xfrm>
          <a:prstGeom prst="rect">
            <a:avLst/>
          </a:prstGeom>
        </p:spPr>
      </p:pic>
      <p:sp>
        <p:nvSpPr>
          <p:cNvPr id="8" name="Rectangle 7"/>
          <p:cNvSpPr/>
          <p:nvPr/>
        </p:nvSpPr>
        <p:spPr>
          <a:xfrm>
            <a:off x="376396" y="681335"/>
            <a:ext cx="6449201" cy="923330"/>
          </a:xfrm>
          <a:prstGeom prst="rect">
            <a:avLst/>
          </a:prstGeom>
          <a:noFill/>
        </p:spPr>
        <p:txBody>
          <a:bodyPr wrap="none" lIns="91440" tIns="45720" rIns="91440" bIns="45720">
            <a:spAutoFit/>
          </a:bodyPr>
          <a:lstStyle/>
          <a:p>
            <a:pPr algn="ctr"/>
            <a:r>
              <a:rPr lang="en-US"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Model Importance</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1588508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3. Dataset Selection and proceeding</a:t>
            </a:r>
            <a:endParaRPr lang="en-IN" dirty="0"/>
          </a:p>
        </p:txBody>
      </p:sp>
      <p:sp>
        <p:nvSpPr>
          <p:cNvPr id="6" name="Content Placeholder 5"/>
          <p:cNvSpPr>
            <a:spLocks noGrp="1"/>
          </p:cNvSpPr>
          <p:nvPr>
            <p:ph idx="1"/>
          </p:nvPr>
        </p:nvSpPr>
        <p:spPr>
          <a:xfrm>
            <a:off x="1154954" y="2420620"/>
            <a:ext cx="8825659" cy="3416300"/>
          </a:xfrm>
        </p:spPr>
        <p:txBody>
          <a:bodyPr/>
          <a:lstStyle/>
          <a:p>
            <a:r>
              <a:rPr lang="en-US" dirty="0" smtClean="0"/>
              <a:t>We Take only the Top Important Feature and train the Model to give better Output.</a:t>
            </a:r>
          </a:p>
          <a:p>
            <a:r>
              <a:rPr lang="en-US" dirty="0" smtClean="0"/>
              <a:t>This Model Consists of “Education, Month, Duration, </a:t>
            </a:r>
            <a:r>
              <a:rPr lang="en-US" dirty="0" err="1" smtClean="0"/>
              <a:t>Poutcome</a:t>
            </a:r>
            <a:r>
              <a:rPr lang="en-US" dirty="0" smtClean="0"/>
              <a:t>, </a:t>
            </a:r>
            <a:r>
              <a:rPr lang="en-US" dirty="0" err="1" smtClean="0"/>
              <a:t>Emp.var.rate</a:t>
            </a:r>
            <a:r>
              <a:rPr lang="en-US" dirty="0" smtClean="0"/>
              <a:t>, </a:t>
            </a:r>
            <a:r>
              <a:rPr lang="en-US" dirty="0" err="1" smtClean="0"/>
              <a:t>Cons.price.index</a:t>
            </a:r>
            <a:r>
              <a:rPr lang="en-US" dirty="0"/>
              <a:t> </a:t>
            </a:r>
            <a:r>
              <a:rPr lang="en-US" dirty="0" smtClean="0"/>
              <a:t>and </a:t>
            </a:r>
            <a:r>
              <a:rPr lang="en-US" dirty="0" err="1" smtClean="0"/>
              <a:t>nr.Employed</a:t>
            </a:r>
            <a:endParaRPr lang="en-IN" dirty="0"/>
          </a:p>
        </p:txBody>
      </p:sp>
      <p:pic>
        <p:nvPicPr>
          <p:cNvPr id="7" name="Picture 6"/>
          <p:cNvPicPr>
            <a:picLocks noChangeAspect="1"/>
          </p:cNvPicPr>
          <p:nvPr/>
        </p:nvPicPr>
        <p:blipFill>
          <a:blip r:embed="rId2"/>
          <a:stretch>
            <a:fillRect/>
          </a:stretch>
        </p:blipFill>
        <p:spPr>
          <a:xfrm>
            <a:off x="1828800" y="4229869"/>
            <a:ext cx="9300754" cy="2628131"/>
          </a:xfrm>
          <a:prstGeom prst="rect">
            <a:avLst/>
          </a:prstGeom>
        </p:spPr>
      </p:pic>
    </p:spTree>
    <p:extLst>
      <p:ext uri="{BB962C8B-B14F-4D97-AF65-F5344CB8AC3E}">
        <p14:creationId xmlns:p14="http://schemas.microsoft.com/office/powerpoint/2010/main" val="18977039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and Testing new model</a:t>
            </a:r>
            <a:endParaRPr lang="en-IN" dirty="0"/>
          </a:p>
        </p:txBody>
      </p:sp>
      <p:sp>
        <p:nvSpPr>
          <p:cNvPr id="3" name="Content Placeholder 2"/>
          <p:cNvSpPr>
            <a:spLocks noGrp="1"/>
          </p:cNvSpPr>
          <p:nvPr>
            <p:ph idx="1"/>
          </p:nvPr>
        </p:nvSpPr>
        <p:spPr/>
        <p:txBody>
          <a:bodyPr/>
          <a:lstStyle/>
          <a:p>
            <a:r>
              <a:rPr lang="en-US" dirty="0" smtClean="0"/>
              <a:t>We Use Decision Tree Classifier to Train and Test the Machine Learning Model and We got the Metrics Results as:</a:t>
            </a:r>
          </a:p>
          <a:p>
            <a:endParaRPr lang="en-US" dirty="0"/>
          </a:p>
          <a:p>
            <a:r>
              <a:rPr lang="en-US" dirty="0"/>
              <a:t>The Accuracy is 81.54741526874358 </a:t>
            </a:r>
            <a:endParaRPr lang="en-US" dirty="0" smtClean="0"/>
          </a:p>
          <a:p>
            <a:r>
              <a:rPr lang="en-US" dirty="0" smtClean="0"/>
              <a:t>The </a:t>
            </a:r>
            <a:r>
              <a:rPr lang="en-US" dirty="0"/>
              <a:t>Recall Score is 88.66930171277997 </a:t>
            </a:r>
            <a:endParaRPr lang="en-US" dirty="0" smtClean="0"/>
          </a:p>
          <a:p>
            <a:r>
              <a:rPr lang="en-US" dirty="0" smtClean="0"/>
              <a:t>The </a:t>
            </a:r>
            <a:r>
              <a:rPr lang="en-US" dirty="0"/>
              <a:t>ROC/AUC Score is 84.77068284039798</a:t>
            </a:r>
            <a:endParaRPr lang="en-IN" dirty="0"/>
          </a:p>
        </p:txBody>
      </p:sp>
    </p:spTree>
    <p:extLst>
      <p:ext uri="{BB962C8B-B14F-4D97-AF65-F5344CB8AC3E}">
        <p14:creationId xmlns:p14="http://schemas.microsoft.com/office/powerpoint/2010/main" val="3599317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Ensemble ML Algorithms</a:t>
            </a:r>
            <a:endParaRPr lang="en-IN" dirty="0"/>
          </a:p>
        </p:txBody>
      </p:sp>
      <p:sp>
        <p:nvSpPr>
          <p:cNvPr id="3" name="Content Placeholder 2"/>
          <p:cNvSpPr>
            <a:spLocks noGrp="1"/>
          </p:cNvSpPr>
          <p:nvPr>
            <p:ph idx="1"/>
          </p:nvPr>
        </p:nvSpPr>
        <p:spPr>
          <a:xfrm>
            <a:off x="1154954" y="2603500"/>
            <a:ext cx="8825659" cy="3771174"/>
          </a:xfrm>
        </p:spPr>
        <p:txBody>
          <a:bodyPr>
            <a:normAutofit fontScale="92500" lnSpcReduction="10000"/>
          </a:bodyPr>
          <a:lstStyle/>
          <a:p>
            <a:r>
              <a:rPr lang="en-US" dirty="0" smtClean="0"/>
              <a:t>Here, We tried building the Model with Multiple Algorithms such as,</a:t>
            </a:r>
          </a:p>
          <a:p>
            <a:endParaRPr lang="en-US" dirty="0"/>
          </a:p>
          <a:p>
            <a:r>
              <a:rPr lang="en-US" dirty="0" err="1" smtClean="0"/>
              <a:t>Stochaistic</a:t>
            </a:r>
            <a:r>
              <a:rPr lang="en-US" dirty="0" smtClean="0"/>
              <a:t> Gradient Descent</a:t>
            </a:r>
          </a:p>
          <a:p>
            <a:r>
              <a:rPr lang="en-US" dirty="0" smtClean="0"/>
              <a:t>Random Forest with </a:t>
            </a:r>
            <a:r>
              <a:rPr lang="en-US" dirty="0" err="1" smtClean="0"/>
              <a:t>Gridsearch</a:t>
            </a:r>
            <a:r>
              <a:rPr lang="en-US" dirty="0" smtClean="0"/>
              <a:t> CV</a:t>
            </a:r>
          </a:p>
          <a:p>
            <a:r>
              <a:rPr lang="en-US" dirty="0" smtClean="0"/>
              <a:t>Logistic Regression</a:t>
            </a:r>
          </a:p>
          <a:p>
            <a:r>
              <a:rPr lang="en-US" dirty="0" smtClean="0"/>
              <a:t>K Nearest Neighbors</a:t>
            </a:r>
          </a:p>
          <a:p>
            <a:r>
              <a:rPr lang="en-US" dirty="0" smtClean="0"/>
              <a:t>Gaussian Naïve Bayes</a:t>
            </a:r>
          </a:p>
          <a:p>
            <a:r>
              <a:rPr lang="en-US" dirty="0" smtClean="0"/>
              <a:t>Perceptron</a:t>
            </a:r>
          </a:p>
          <a:p>
            <a:r>
              <a:rPr lang="en-US" dirty="0" smtClean="0"/>
              <a:t>Linear Support Vector Classifier</a:t>
            </a:r>
          </a:p>
          <a:p>
            <a:r>
              <a:rPr lang="en-US" dirty="0" smtClean="0"/>
              <a:t>Decision Tree Classifier</a:t>
            </a:r>
            <a:endParaRPr lang="en-IN" dirty="0"/>
          </a:p>
        </p:txBody>
      </p:sp>
    </p:spTree>
    <p:extLst>
      <p:ext uri="{BB962C8B-B14F-4D97-AF65-F5344CB8AC3E}">
        <p14:creationId xmlns:p14="http://schemas.microsoft.com/office/powerpoint/2010/main" val="33387027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Model Results</a:t>
            </a:r>
            <a:endParaRPr lang="en-IN" dirty="0"/>
          </a:p>
        </p:txBody>
      </p:sp>
      <p:sp>
        <p:nvSpPr>
          <p:cNvPr id="6" name="Text Placeholder 5"/>
          <p:cNvSpPr>
            <a:spLocks noGrp="1"/>
          </p:cNvSpPr>
          <p:nvPr>
            <p:ph type="body" sz="half" idx="2"/>
          </p:nvPr>
        </p:nvSpPr>
        <p:spPr/>
        <p:txBody>
          <a:bodyPr/>
          <a:lstStyle/>
          <a:p>
            <a:r>
              <a:rPr lang="en-US" dirty="0" smtClean="0"/>
              <a:t>The Models Performed Extensively well with Random Forest (Ensemble Model) and Decision Tree Classifier. It Performed Poorly on Gaussian Naïve Bayes</a:t>
            </a:r>
            <a:endParaRPr lang="en-IN" dirty="0"/>
          </a:p>
        </p:txBody>
      </p:sp>
      <p:pic>
        <p:nvPicPr>
          <p:cNvPr id="8" name="Picture 7"/>
          <p:cNvPicPr>
            <a:picLocks noChangeAspect="1"/>
          </p:cNvPicPr>
          <p:nvPr/>
        </p:nvPicPr>
        <p:blipFill>
          <a:blip r:embed="rId2"/>
          <a:stretch>
            <a:fillRect/>
          </a:stretch>
        </p:blipFill>
        <p:spPr>
          <a:xfrm>
            <a:off x="6514691" y="1293223"/>
            <a:ext cx="4185013" cy="4454434"/>
          </a:xfrm>
          <a:prstGeom prst="rect">
            <a:avLst/>
          </a:prstGeom>
        </p:spPr>
      </p:pic>
    </p:spTree>
    <p:extLst>
      <p:ext uri="{BB962C8B-B14F-4D97-AF65-F5344CB8AC3E}">
        <p14:creationId xmlns:p14="http://schemas.microsoft.com/office/powerpoint/2010/main" val="13790033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Feature Importance</a:t>
            </a:r>
            <a:endParaRPr lang="en-IN" dirty="0"/>
          </a:p>
        </p:txBody>
      </p:sp>
      <p:sp>
        <p:nvSpPr>
          <p:cNvPr id="6" name="Content Placeholder 5"/>
          <p:cNvSpPr>
            <a:spLocks noGrp="1"/>
          </p:cNvSpPr>
          <p:nvPr>
            <p:ph idx="1"/>
          </p:nvPr>
        </p:nvSpPr>
        <p:spPr>
          <a:xfrm>
            <a:off x="1090708" y="2407557"/>
            <a:ext cx="8825659" cy="3416300"/>
          </a:xfrm>
        </p:spPr>
        <p:txBody>
          <a:bodyPr/>
          <a:lstStyle/>
          <a:p>
            <a:r>
              <a:rPr lang="en-US" dirty="0" smtClean="0"/>
              <a:t>The Feature Importance from the Random Forest Model is Plotted Here</a:t>
            </a:r>
          </a:p>
          <a:p>
            <a:endParaRPr lang="en-US" dirty="0"/>
          </a:p>
          <a:p>
            <a:r>
              <a:rPr lang="en-US" dirty="0" smtClean="0"/>
              <a:t>The Statistical Results from the Model are</a:t>
            </a:r>
          </a:p>
          <a:p>
            <a:r>
              <a:rPr lang="en-US" dirty="0" smtClean="0"/>
              <a:t>Mean Score – 92% Accuracy</a:t>
            </a:r>
          </a:p>
          <a:p>
            <a:r>
              <a:rPr lang="en-US" dirty="0" smtClean="0"/>
              <a:t>Standard Deviation – 3% Deviation</a:t>
            </a:r>
          </a:p>
          <a:p>
            <a:r>
              <a:rPr lang="en-US" dirty="0" smtClean="0"/>
              <a:t>Scores :</a:t>
            </a:r>
          </a:p>
          <a:p>
            <a:pPr marL="0" indent="0">
              <a:buNone/>
            </a:pPr>
            <a:r>
              <a:rPr lang="en-IN" dirty="0"/>
              <a:t>[0.92544694 0.92925067 0.92468619 0.93647775 0.93001141 0.93077216 0.92582731 0.92998478 0.93150685 0.93226788]</a:t>
            </a:r>
            <a:r>
              <a:rPr lang="en-US" dirty="0" smtClean="0"/>
              <a:t> </a:t>
            </a:r>
          </a:p>
          <a:p>
            <a:endParaRPr lang="en-IN" dirty="0"/>
          </a:p>
        </p:txBody>
      </p:sp>
      <p:pic>
        <p:nvPicPr>
          <p:cNvPr id="7" name="Picture 6"/>
          <p:cNvPicPr>
            <a:picLocks noChangeAspect="1"/>
          </p:cNvPicPr>
          <p:nvPr/>
        </p:nvPicPr>
        <p:blipFill>
          <a:blip r:embed="rId2"/>
          <a:stretch>
            <a:fillRect/>
          </a:stretch>
        </p:blipFill>
        <p:spPr>
          <a:xfrm>
            <a:off x="7205390" y="2795451"/>
            <a:ext cx="4986610" cy="4062549"/>
          </a:xfrm>
          <a:prstGeom prst="rect">
            <a:avLst/>
          </a:prstGeom>
        </p:spPr>
      </p:pic>
    </p:spTree>
    <p:extLst>
      <p:ext uri="{BB962C8B-B14F-4D97-AF65-F5344CB8AC3E}">
        <p14:creationId xmlns:p14="http://schemas.microsoft.com/office/powerpoint/2010/main" val="18374550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9491275" cy="706964"/>
          </a:xfrm>
        </p:spPr>
        <p:txBody>
          <a:bodyPr/>
          <a:lstStyle/>
          <a:p>
            <a:r>
              <a:rPr lang="en-US" dirty="0" smtClean="0"/>
              <a:t>Precision and Recall Curve for the Model</a:t>
            </a:r>
            <a:endParaRPr lang="en-IN" dirty="0"/>
          </a:p>
        </p:txBody>
      </p:sp>
      <p:pic>
        <p:nvPicPr>
          <p:cNvPr id="4" name="Content Placeholder 3"/>
          <p:cNvPicPr>
            <a:picLocks noGrp="1" noChangeAspect="1"/>
          </p:cNvPicPr>
          <p:nvPr>
            <p:ph idx="1"/>
          </p:nvPr>
        </p:nvPicPr>
        <p:blipFill>
          <a:blip r:embed="rId2"/>
          <a:stretch>
            <a:fillRect/>
          </a:stretch>
        </p:blipFill>
        <p:spPr>
          <a:xfrm>
            <a:off x="457199" y="2557143"/>
            <a:ext cx="7968343" cy="4091852"/>
          </a:xfrm>
          <a:prstGeom prst="rect">
            <a:avLst/>
          </a:prstGeom>
        </p:spPr>
      </p:pic>
      <p:pic>
        <p:nvPicPr>
          <p:cNvPr id="2052"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7639" y="3281513"/>
            <a:ext cx="2631733" cy="2187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64661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Remarks</a:t>
            </a:r>
            <a:endParaRPr lang="en-IN" dirty="0"/>
          </a:p>
        </p:txBody>
      </p:sp>
      <p:sp>
        <p:nvSpPr>
          <p:cNvPr id="3" name="Content Placeholder 2"/>
          <p:cNvSpPr>
            <a:spLocks noGrp="1"/>
          </p:cNvSpPr>
          <p:nvPr>
            <p:ph idx="1"/>
          </p:nvPr>
        </p:nvSpPr>
        <p:spPr/>
        <p:txBody>
          <a:bodyPr/>
          <a:lstStyle/>
          <a:p>
            <a:r>
              <a:rPr lang="en-US" dirty="0" smtClean="0"/>
              <a:t>We would advise the Marketing team to Target on Age Groups with 25 – 55 years as it comprises of Larger Set of Audience</a:t>
            </a:r>
          </a:p>
          <a:p>
            <a:r>
              <a:rPr lang="en-US" dirty="0" smtClean="0"/>
              <a:t>The Important Features to Identify in Subscribing to Term Deposits are stated below:</a:t>
            </a:r>
          </a:p>
          <a:p>
            <a:pPr lvl="1"/>
            <a:r>
              <a:rPr lang="en-US" dirty="0" smtClean="0"/>
              <a:t>Duration, Job Type, Day of week, </a:t>
            </a:r>
            <a:r>
              <a:rPr lang="en-US" dirty="0" err="1" smtClean="0"/>
              <a:t>Nr.Employed</a:t>
            </a:r>
            <a:r>
              <a:rPr lang="en-US" dirty="0" smtClean="0"/>
              <a:t>, education, </a:t>
            </a:r>
            <a:r>
              <a:rPr lang="en-US" dirty="0" err="1" smtClean="0"/>
              <a:t>Poutcome</a:t>
            </a:r>
            <a:r>
              <a:rPr lang="en-US" dirty="0" smtClean="0"/>
              <a:t>, Campaign, age, euribor3m etc.</a:t>
            </a:r>
          </a:p>
          <a:p>
            <a:pPr lvl="1"/>
            <a:r>
              <a:rPr lang="en-US" dirty="0" smtClean="0"/>
              <a:t>These Influences the Model to a greater extent, So the Data Capturing and overlooking on these attributes are a Must.</a:t>
            </a:r>
            <a:endParaRPr lang="en-IN" dirty="0"/>
          </a:p>
        </p:txBody>
      </p:sp>
    </p:spTree>
    <p:extLst>
      <p:ext uri="{BB962C8B-B14F-4D97-AF65-F5344CB8AC3E}">
        <p14:creationId xmlns:p14="http://schemas.microsoft.com/office/powerpoint/2010/main" val="31142674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63515" y="888274"/>
            <a:ext cx="8825658" cy="1158970"/>
          </a:xfrm>
        </p:spPr>
        <p:txBody>
          <a:bodyPr/>
          <a:lstStyle/>
          <a:p>
            <a:r>
              <a:rPr lang="en-US" dirty="0" smtClean="0"/>
              <a:t>Thank You</a:t>
            </a:r>
            <a:endParaRPr lang="en-IN" dirty="0"/>
          </a:p>
        </p:txBody>
      </p:sp>
      <p:sp>
        <p:nvSpPr>
          <p:cNvPr id="5" name="Subtitle 4"/>
          <p:cNvSpPr>
            <a:spLocks noGrp="1"/>
          </p:cNvSpPr>
          <p:nvPr>
            <p:ph type="subTitle" idx="1"/>
          </p:nvPr>
        </p:nvSpPr>
        <p:spPr>
          <a:xfrm>
            <a:off x="8369471" y="5430522"/>
            <a:ext cx="3273354" cy="861420"/>
          </a:xfrm>
        </p:spPr>
        <p:txBody>
          <a:bodyPr>
            <a:normAutofit fontScale="70000" lnSpcReduction="20000"/>
          </a:bodyPr>
          <a:lstStyle/>
          <a:p>
            <a:r>
              <a:rPr lang="en-US" dirty="0" err="1" smtClean="0">
                <a:solidFill>
                  <a:schemeClr val="bg1">
                    <a:lumMod val="95000"/>
                  </a:schemeClr>
                </a:solidFill>
              </a:rPr>
              <a:t>Ravishankar</a:t>
            </a:r>
            <a:r>
              <a:rPr lang="en-US" dirty="0" smtClean="0">
                <a:solidFill>
                  <a:schemeClr val="bg1">
                    <a:lumMod val="95000"/>
                  </a:schemeClr>
                </a:solidFill>
              </a:rPr>
              <a:t> </a:t>
            </a:r>
            <a:r>
              <a:rPr lang="en-US" dirty="0" err="1" smtClean="0">
                <a:solidFill>
                  <a:schemeClr val="bg1">
                    <a:lumMod val="95000"/>
                  </a:schemeClr>
                </a:solidFill>
              </a:rPr>
              <a:t>ramakrishnan</a:t>
            </a:r>
            <a:endParaRPr lang="en-US" dirty="0" smtClean="0">
              <a:solidFill>
                <a:schemeClr val="bg1">
                  <a:lumMod val="95000"/>
                </a:schemeClr>
              </a:solidFill>
            </a:endParaRPr>
          </a:p>
          <a:p>
            <a:r>
              <a:rPr lang="en-US" dirty="0" smtClean="0">
                <a:hlinkClick r:id="rId2"/>
              </a:rPr>
              <a:t>Email: mailtoravi7895@gmail.com</a:t>
            </a:r>
            <a:endParaRPr lang="en-US" dirty="0" smtClean="0"/>
          </a:p>
          <a:p>
            <a:r>
              <a:rPr lang="en-US" dirty="0" smtClean="0">
                <a:solidFill>
                  <a:schemeClr val="bg1">
                    <a:lumMod val="95000"/>
                  </a:schemeClr>
                </a:solidFill>
              </a:rPr>
              <a:t>Phone: 7010974018</a:t>
            </a:r>
            <a:endParaRPr lang="en-IN" dirty="0">
              <a:solidFill>
                <a:schemeClr val="bg1">
                  <a:lumMod val="95000"/>
                </a:schemeClr>
              </a:solidFill>
            </a:endParaRPr>
          </a:p>
        </p:txBody>
      </p:sp>
      <p:sp>
        <p:nvSpPr>
          <p:cNvPr id="6" name="Subtitle 4"/>
          <p:cNvSpPr txBox="1">
            <a:spLocks/>
          </p:cNvSpPr>
          <p:nvPr/>
        </p:nvSpPr>
        <p:spPr bwMode="gray">
          <a:xfrm>
            <a:off x="1154954" y="2351313"/>
            <a:ext cx="8537685" cy="1580607"/>
          </a:xfrm>
          <a:prstGeom prst="rect">
            <a:avLst/>
          </a:prstGeom>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dirty="0" smtClean="0"/>
              <a:t>Web URLS:</a:t>
            </a:r>
          </a:p>
          <a:p>
            <a:r>
              <a:rPr lang="en-IN" dirty="0">
                <a:solidFill>
                  <a:schemeClr val="bg1">
                    <a:lumMod val="95000"/>
                  </a:schemeClr>
                </a:solidFill>
                <a:hlinkClick r:id="rId3"/>
              </a:rPr>
              <a:t>https://www.linkedin.com/in/ravishankar-ramakrishnan-155848126</a:t>
            </a:r>
            <a:r>
              <a:rPr lang="en-IN" dirty="0" smtClean="0">
                <a:solidFill>
                  <a:schemeClr val="bg1">
                    <a:lumMod val="95000"/>
                  </a:schemeClr>
                </a:solidFill>
                <a:hlinkClick r:id="rId3"/>
              </a:rPr>
              <a:t>/</a:t>
            </a:r>
            <a:endParaRPr lang="en-IN" dirty="0" smtClean="0">
              <a:solidFill>
                <a:schemeClr val="bg1">
                  <a:lumMod val="95000"/>
                </a:schemeClr>
              </a:solidFill>
            </a:endParaRPr>
          </a:p>
          <a:p>
            <a:r>
              <a:rPr lang="en-IN" dirty="0">
                <a:solidFill>
                  <a:schemeClr val="bg1">
                    <a:lumMod val="95000"/>
                  </a:schemeClr>
                </a:solidFill>
                <a:hlinkClick r:id="rId4"/>
              </a:rPr>
              <a:t>https://github.com/ravishankarramakrishnan</a:t>
            </a:r>
            <a:r>
              <a:rPr lang="en-IN" dirty="0" smtClean="0">
                <a:solidFill>
                  <a:schemeClr val="bg1">
                    <a:lumMod val="95000"/>
                  </a:schemeClr>
                </a:solidFill>
                <a:hlinkClick r:id="rId4"/>
              </a:rPr>
              <a:t>/</a:t>
            </a:r>
            <a:endParaRPr lang="en-IN" dirty="0" smtClean="0">
              <a:solidFill>
                <a:schemeClr val="bg1">
                  <a:lumMod val="95000"/>
                </a:schemeClr>
              </a:solidFill>
            </a:endParaRPr>
          </a:p>
          <a:p>
            <a:r>
              <a:rPr lang="en-IN" dirty="0">
                <a:solidFill>
                  <a:schemeClr val="bg1">
                    <a:lumMod val="95000"/>
                  </a:schemeClr>
                </a:solidFill>
                <a:hlinkClick r:id="rId5"/>
              </a:rPr>
              <a:t>https://myportfolioravi.wordpress.com/2018/05/07/my-resume/</a:t>
            </a:r>
            <a:endParaRPr lang="en-IN" dirty="0" smtClean="0">
              <a:solidFill>
                <a:schemeClr val="bg1">
                  <a:lumMod val="95000"/>
                </a:schemeClr>
              </a:solidFill>
            </a:endParaRPr>
          </a:p>
        </p:txBody>
      </p:sp>
    </p:spTree>
    <p:extLst>
      <p:ext uri="{BB962C8B-B14F-4D97-AF65-F5344CB8AC3E}">
        <p14:creationId xmlns:p14="http://schemas.microsoft.com/office/powerpoint/2010/main" val="164247607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113</TotalTime>
  <Words>1382</Words>
  <Application>Microsoft Office PowerPoint</Application>
  <PresentationFormat>Widescreen</PresentationFormat>
  <Paragraphs>157</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Century Gothic</vt:lpstr>
      <vt:lpstr>Wingdings</vt:lpstr>
      <vt:lpstr>Wingdings 3</vt:lpstr>
      <vt:lpstr>Ion Boardroom</vt:lpstr>
      <vt:lpstr>Direct Marketing campaigns of a Portuguese banking institution</vt:lpstr>
      <vt:lpstr>Project Scope</vt:lpstr>
      <vt:lpstr>Attribute Information:</vt:lpstr>
      <vt:lpstr>Attribute Information:</vt:lpstr>
      <vt:lpstr>Problem Python Notebooks</vt:lpstr>
      <vt:lpstr>Goal of Classification</vt:lpstr>
      <vt:lpstr>1. Introduction</vt:lpstr>
      <vt:lpstr>Data Types</vt:lpstr>
      <vt:lpstr>PowerPoint Presentation</vt:lpstr>
      <vt:lpstr>Descriptive Statistics</vt:lpstr>
      <vt:lpstr>Outlier Detection</vt:lpstr>
      <vt:lpstr>Outlier Detection</vt:lpstr>
      <vt:lpstr>PowerPoint Presentation</vt:lpstr>
      <vt:lpstr>PowerPoint Presentation</vt:lpstr>
      <vt:lpstr>Pearson’s Correlation Coefficient of the Dataset</vt:lpstr>
      <vt:lpstr>Job Distribution of Dataset</vt:lpstr>
      <vt:lpstr>Crosstab Between Job vs Education</vt:lpstr>
      <vt:lpstr>Age Distribution</vt:lpstr>
      <vt:lpstr>Plots of Marital Status and Highest Education</vt:lpstr>
      <vt:lpstr>PowerPoint Presentation</vt:lpstr>
      <vt:lpstr>PowerPoint Presentation</vt:lpstr>
      <vt:lpstr>Distribution of Call Duration</vt:lpstr>
      <vt:lpstr>Campaign Data</vt:lpstr>
      <vt:lpstr>What Processing Did We Perform</vt:lpstr>
      <vt:lpstr>2. Model Training</vt:lpstr>
      <vt:lpstr>2.1) Splitting the Data</vt:lpstr>
      <vt:lpstr>Algorithm – 1: SVC</vt:lpstr>
      <vt:lpstr>Algorithm – 1: SVC</vt:lpstr>
      <vt:lpstr>Algorithm – 2: KNN</vt:lpstr>
      <vt:lpstr>Algorithm – 3: Decision Tree</vt:lpstr>
      <vt:lpstr>PowerPoint Presentation</vt:lpstr>
      <vt:lpstr>3. Dataset Selection and proceeding</vt:lpstr>
      <vt:lpstr>Training and Testing new model</vt:lpstr>
      <vt:lpstr>Large Ensemble ML Algorithms</vt:lpstr>
      <vt:lpstr>Model Results</vt:lpstr>
      <vt:lpstr>Feature Importance</vt:lpstr>
      <vt:lpstr>Precision and Recall Curve for the Model</vt:lpstr>
      <vt:lpstr>Remarks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 Marketing campaigns of a Portuguese banking institution</dc:title>
  <dc:creator>Ravi Shankar</dc:creator>
  <cp:lastModifiedBy>Ravi Shankar</cp:lastModifiedBy>
  <cp:revision>59</cp:revision>
  <dcterms:created xsi:type="dcterms:W3CDTF">2020-03-27T16:05:02Z</dcterms:created>
  <dcterms:modified xsi:type="dcterms:W3CDTF">2020-03-28T11:39:59Z</dcterms:modified>
</cp:coreProperties>
</file>